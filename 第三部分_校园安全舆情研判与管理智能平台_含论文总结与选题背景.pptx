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9" r:id="rId6"/>
    <p:sldId id="260" r:id="rId7"/>
    <p:sldId id="273" r:id="rId8"/>
    <p:sldId id="261" r:id="rId9"/>
    <p:sldId id="274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我负责第三部分：把已有数据与分析结果真正落成校园安全舆情管理平台。以下重点展示平台如何支持发现、研判、处置与留痕。</a:t>
            </a:r>
          </a:p>
          <a:p/>
          <a:p>
            <a:r>
              <a:t>[Sources]</a:t>
            </a:r>
          </a:p>
          <a:p>
            <a:r>
              <a:t>- 项目 README、前后端源码与当前运行界面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本页为答辩备用页。若老师追问论文依据、模型选择或人工复核原则，可展开说明。</a:t>
            </a:r>
          </a:p>
          <a:p/>
          <a:p>
            <a:r>
              <a:t>[Sources]</a:t>
            </a:r>
          </a:p>
          <a:p>
            <a:r>
              <a:t>- 参考文献[1]—[7]：见本页 DOI 信息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第一部分：文献总结。重点说明本项目并非照搬某一模型，而是综合吸收校园舆情、事件识别、预警和人类在环治理研究的思想。</a:t>
            </a:r>
          </a:p>
          <a:p/>
          <a:p>
            <a:r>
              <a:t>[Sources]</a:t>
            </a:r>
          </a:p>
          <a:p>
            <a:r>
              <a:t>- 第13页参考文献[1]—[7]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第二部分：选题背景与意义。用于说明为什么项目不能止步于分析，而必须建设面向管理人员的应用平台。</a:t>
            </a:r>
          </a:p>
          <a:p/>
          <a:p>
            <a:r>
              <a:t>[Sources]</a:t>
            </a:r>
          </a:p>
          <a:p>
            <a:r>
              <a:t>- 当前项目 README 的功能定位与使用流程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这一页明确我的工作边界：不是重复训练上游模型，而是把数据和分析结果组织成管理人员可操作的闭环。</a:t>
            </a:r>
          </a:p>
          <a:p/>
          <a:p>
            <a:r>
              <a:t>[Sources]</a:t>
            </a:r>
          </a:p>
          <a:p>
            <a:r>
              <a:t>- README.md</a:t>
            </a:r>
          </a:p>
          <a:p>
            <a:r>
              <a:t>- backend/src/main 与 frontend/src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这四个页面对应日常工作的四个入口。截图不是装饰：每一块都说明管理人员在这里完成什么动作。</a:t>
            </a:r>
          </a:p>
          <a:p/>
          <a:p>
            <a:r>
              <a:t>[Sources]</a:t>
            </a:r>
          </a:p>
          <a:p>
            <a:r>
              <a:t>- 2026-08-04 当前版本真实运行页面截图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平台业务从接入数据开始，经过清洗、主题识别、事件聚合和风险分析，再由人工研判并输出报告。重点是人始终保留确认与处置权。</a:t>
            </a:r>
          </a:p>
          <a:p/>
          <a:p>
            <a:r>
              <a:t>[Sources]</a:t>
            </a:r>
          </a:p>
          <a:p>
            <a:r>
              <a:t>- README 使用流程</a:t>
            </a:r>
          </a:p>
          <a:p>
            <a:r>
              <a:t>- 事件、报告、审核相关源码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这页不是罗列文献，而是说明设计转化。论文提供校园舆情、事件识别和人类在环的研究思路；项目将其落实为分类、事件、复核、审计和报告模块。</a:t>
            </a:r>
          </a:p>
          <a:p/>
          <a:p>
            <a:r>
              <a:t>[Sources]</a:t>
            </a:r>
          </a:p>
          <a:p>
            <a:r>
              <a:t>- 参考文献[1][3][4][6][7]：见第10页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项目成果是完整业务闭环和工程化实现。实际运行中后端43项测试通过，前端生产构建通过。</a:t>
            </a:r>
          </a:p>
          <a:p/>
          <a:p>
            <a:r>
              <a:t>[Sources]</a:t>
            </a:r>
          </a:p>
          <a:p>
            <a:r>
              <a:t>- 2026-08-04 mvn test：43项通过</a:t>
            </a:r>
          </a:p>
          <a:p>
            <a:r>
              <a:t>- 2026-08-04 npm run build：通过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这页从产品结构解释平台的六个目录如何覆盖感知、研判与治理，避免把页面简单理解为功能堆叠。</a:t>
            </a:r>
          </a:p>
          <a:p/>
          <a:p>
            <a:r>
              <a:t>[Sources]</a:t>
            </a:r>
          </a:p>
          <a:p>
            <a:r>
              <a:t>- README 功能清单</a:t>
            </a:r>
          </a:p>
          <a:p>
            <a:r>
              <a:t>- 当前前端路由与页面实现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这里给出平台目录和使用路径。右侧为后续录屏预留区；现场可用动态演示补充 PPT 静态截图。</a:t>
            </a:r>
          </a:p>
          <a:p/>
          <a:p>
            <a:r>
              <a:t>[Sources]</a:t>
            </a:r>
          </a:p>
          <a:p>
            <a:r>
              <a:t>- README 功能清单</a:t>
            </a:r>
          </a:p>
          <a:p>
            <a:r>
              <a:t>- 当前前端路由与页面实现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真正可用的平台需要处理工程问题：接口口径、事件状态、AI不确定性和展示稳定性。这四项是我在设计与实现中重点解决的部分。</a:t>
            </a:r>
          </a:p>
          <a:p/>
          <a:p>
            <a:r>
              <a:t>[Sources]</a:t>
            </a:r>
          </a:p>
          <a:p>
            <a:r>
              <a:t>- 沟通记录.md</a:t>
            </a:r>
          </a:p>
          <a:p>
            <a:r>
              <a:t>- 当前前后端源码与项目使用文档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最后总结我的工作：让风险可看见、让研判有依据、让处置能追溯。后续再提升模型评估、实时接入和跨部门协同能力。</a:t>
            </a:r>
          </a:p>
          <a:p/>
          <a:p>
            <a:r>
              <a:t>[Sources]</a:t>
            </a:r>
          </a:p>
          <a:p>
            <a:r>
              <a:t>- 项目能力边界与 README 部署说明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图片占位符 6"/>
          <p:cNvSpPr>
            <a:spLocks noGrp="1"/>
          </p:cNvSpPr>
          <p:nvPr>
            <p:ph type="pic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0" name="任意多边形: 形状 39"/>
          <p:cNvSpPr>
            <a:spLocks noGrp="1"/>
          </p:cNvSpPr>
          <p:nvPr/>
        </p:nvSpPr>
        <p:spPr>
          <a:xfrm>
            <a:off x="2743198" y="1"/>
            <a:ext cx="1889762" cy="718457"/>
          </a:xfrm>
          <a:custGeom>
            <a:avLst/>
            <a:gdLst>
              <a:gd name="connsiteX0" fmla="*/ 0 w 1889762"/>
              <a:gd name="connsiteY0" fmla="*/ 0 h 718457"/>
              <a:gd name="connsiteX1" fmla="*/ 1889762 w 1889762"/>
              <a:gd name="connsiteY1" fmla="*/ 0 h 718457"/>
              <a:gd name="connsiteX2" fmla="*/ 1889762 w 1889762"/>
              <a:gd name="connsiteY2" fmla="*/ 718457 h 718457"/>
              <a:gd name="connsiteX3" fmla="*/ 0 w 1889762"/>
              <a:gd name="connsiteY3" fmla="*/ 718457 h 718457"/>
            </a:gdLst>
            <a:ahLst/>
            <a:cxnLst/>
            <a:rect l="l" t="t" r="r" b="b"/>
            <a:pathLst>
              <a:path w="1889762" h="718457">
                <a:moveTo>
                  <a:pt x="0" y="0"/>
                </a:moveTo>
                <a:lnTo>
                  <a:pt x="1889762" y="0"/>
                </a:lnTo>
                <a:lnTo>
                  <a:pt x="1889762" y="718457"/>
                </a:lnTo>
                <a:lnTo>
                  <a:pt x="0" y="718457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j-ea"/>
              </a:rPr>
              <a:t>论文摘要</a:t>
            </a:r>
            <a:endParaRPr sz="2400" b="1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  <a:ea typeface="+mj-ea"/>
              <a:cs typeface="+mj-ea"/>
            </a:endParaRPr>
          </a:p>
        </p:txBody>
      </p:sp>
      <p:sp>
        <p:nvSpPr>
          <p:cNvPr id="42" name="任意多边形: 形状 41"/>
          <p:cNvSpPr>
            <a:spLocks noGrp="1"/>
          </p:cNvSpPr>
          <p:nvPr/>
        </p:nvSpPr>
        <p:spPr>
          <a:xfrm>
            <a:off x="4632958" y="1"/>
            <a:ext cx="1889762" cy="718457"/>
          </a:xfrm>
          <a:custGeom>
            <a:avLst/>
            <a:gdLst>
              <a:gd name="connsiteX0" fmla="*/ 0 w 1889762"/>
              <a:gd name="connsiteY0" fmla="*/ 0 h 718457"/>
              <a:gd name="connsiteX1" fmla="*/ 1889762 w 1889762"/>
              <a:gd name="connsiteY1" fmla="*/ 0 h 718457"/>
              <a:gd name="connsiteX2" fmla="*/ 1889762 w 1889762"/>
              <a:gd name="connsiteY2" fmla="*/ 718457 h 718457"/>
              <a:gd name="connsiteX3" fmla="*/ 0 w 1889762"/>
              <a:gd name="connsiteY3" fmla="*/ 718457 h 718457"/>
            </a:gdLst>
            <a:ahLst/>
            <a:cxnLst/>
            <a:rect l="l" t="t" r="r" b="b"/>
            <a:pathLst>
              <a:path w="1889762" h="718457">
                <a:moveTo>
                  <a:pt x="0" y="0"/>
                </a:moveTo>
                <a:lnTo>
                  <a:pt x="1889762" y="0"/>
                </a:lnTo>
                <a:lnTo>
                  <a:pt x="1889762" y="718457"/>
                </a:lnTo>
                <a:lnTo>
                  <a:pt x="0" y="718457"/>
                </a:lnTo>
                <a:close/>
              </a:path>
            </a:pathLst>
          </a:custGeom>
          <a:noFill/>
          <a:ln w="12700" cmpd="sng">
            <a:noFill/>
            <a:prstDash val="solid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j-ea"/>
              </a:rPr>
              <a:t>选题背景</a:t>
            </a:r>
            <a:endParaRPr sz="2400" b="1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  <a:ea typeface="+mj-ea"/>
              <a:cs typeface="+mj-ea"/>
            </a:endParaRPr>
          </a:p>
        </p:txBody>
      </p:sp>
      <p:sp>
        <p:nvSpPr>
          <p:cNvPr id="43" name="任意多边形: 形状 42"/>
          <p:cNvSpPr>
            <a:spLocks noGrp="1"/>
          </p:cNvSpPr>
          <p:nvPr/>
        </p:nvSpPr>
        <p:spPr>
          <a:xfrm>
            <a:off x="6522718" y="0"/>
            <a:ext cx="1889762" cy="718457"/>
          </a:xfrm>
          <a:custGeom>
            <a:avLst/>
            <a:gdLst>
              <a:gd name="connsiteX0" fmla="*/ 0 w 1889762"/>
              <a:gd name="connsiteY0" fmla="*/ 0 h 718457"/>
              <a:gd name="connsiteX1" fmla="*/ 1889762 w 1889762"/>
              <a:gd name="connsiteY1" fmla="*/ 0 h 718457"/>
              <a:gd name="connsiteX2" fmla="*/ 1889762 w 1889762"/>
              <a:gd name="connsiteY2" fmla="*/ 718457 h 718457"/>
              <a:gd name="connsiteX3" fmla="*/ 0 w 1889762"/>
              <a:gd name="connsiteY3" fmla="*/ 718457 h 718457"/>
            </a:gdLst>
            <a:ahLst/>
            <a:cxnLst/>
            <a:rect l="l" t="t" r="r" b="b"/>
            <a:pathLst>
              <a:path w="1889762" h="718457">
                <a:moveTo>
                  <a:pt x="0" y="0"/>
                </a:moveTo>
                <a:lnTo>
                  <a:pt x="1889762" y="0"/>
                </a:lnTo>
                <a:lnTo>
                  <a:pt x="1889762" y="718457"/>
                </a:lnTo>
                <a:lnTo>
                  <a:pt x="0" y="718457"/>
                </a:lnTo>
                <a:close/>
              </a:path>
            </a:pathLst>
          </a:custGeom>
          <a:noFill/>
          <a:ln w="12700" cmpd="sng">
            <a:noFill/>
            <a:prstDash val="solid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j-ea"/>
              </a:rPr>
              <a:t>关键技术</a:t>
            </a:r>
            <a:endParaRPr sz="2400" b="1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  <a:ea typeface="+mj-ea"/>
              <a:cs typeface="+mj-ea"/>
            </a:endParaRPr>
          </a:p>
        </p:txBody>
      </p:sp>
      <p:sp>
        <p:nvSpPr>
          <p:cNvPr id="44" name="任意多边形: 形状 43"/>
          <p:cNvSpPr>
            <a:spLocks noGrp="1"/>
          </p:cNvSpPr>
          <p:nvPr/>
        </p:nvSpPr>
        <p:spPr>
          <a:xfrm>
            <a:off x="8412478" y="0"/>
            <a:ext cx="1889762" cy="718457"/>
          </a:xfrm>
          <a:custGeom>
            <a:avLst/>
            <a:gdLst>
              <a:gd name="connsiteX0" fmla="*/ 0 w 1889762"/>
              <a:gd name="connsiteY0" fmla="*/ 0 h 718457"/>
              <a:gd name="connsiteX1" fmla="*/ 1889762 w 1889762"/>
              <a:gd name="connsiteY1" fmla="*/ 0 h 718457"/>
              <a:gd name="connsiteX2" fmla="*/ 1889762 w 1889762"/>
              <a:gd name="connsiteY2" fmla="*/ 718457 h 718457"/>
              <a:gd name="connsiteX3" fmla="*/ 0 w 1889762"/>
              <a:gd name="connsiteY3" fmla="*/ 718457 h 718457"/>
            </a:gdLst>
            <a:ahLst/>
            <a:cxnLst/>
            <a:rect l="l" t="t" r="r" b="b"/>
            <a:pathLst>
              <a:path w="1889762" h="718457">
                <a:moveTo>
                  <a:pt x="0" y="0"/>
                </a:moveTo>
                <a:lnTo>
                  <a:pt x="1889762" y="0"/>
                </a:lnTo>
                <a:lnTo>
                  <a:pt x="1889762" y="718457"/>
                </a:lnTo>
                <a:lnTo>
                  <a:pt x="0" y="718457"/>
                </a:lnTo>
                <a:close/>
              </a:path>
            </a:pathLst>
          </a:custGeom>
          <a:noFill/>
          <a:ln w="12700" cmpd="sng">
            <a:noFill/>
            <a:prstDash val="solid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j-ea"/>
              </a:rPr>
              <a:t>研究成果</a:t>
            </a:r>
            <a:endParaRPr sz="2400" b="1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  <a:ea typeface="+mj-ea"/>
              <a:cs typeface="+mj-ea"/>
            </a:endParaRPr>
          </a:p>
        </p:txBody>
      </p:sp>
      <p:sp>
        <p:nvSpPr>
          <p:cNvPr id="41" name="任意多边形: 形状 40"/>
          <p:cNvSpPr>
            <a:spLocks noGrp="1"/>
          </p:cNvSpPr>
          <p:nvPr/>
        </p:nvSpPr>
        <p:spPr>
          <a:xfrm>
            <a:off x="10302238" y="0"/>
            <a:ext cx="1889762" cy="718457"/>
          </a:xfrm>
          <a:custGeom>
            <a:avLst/>
            <a:gdLst>
              <a:gd name="connsiteX0" fmla="*/ 0 w 1889762"/>
              <a:gd name="connsiteY0" fmla="*/ 0 h 718457"/>
              <a:gd name="connsiteX1" fmla="*/ 1889762 w 1889762"/>
              <a:gd name="connsiteY1" fmla="*/ 0 h 718457"/>
              <a:gd name="connsiteX2" fmla="*/ 1889762 w 1889762"/>
              <a:gd name="connsiteY2" fmla="*/ 718457 h 718457"/>
              <a:gd name="connsiteX3" fmla="*/ 0 w 1889762"/>
              <a:gd name="connsiteY3" fmla="*/ 718457 h 718457"/>
            </a:gdLst>
            <a:ahLst/>
            <a:cxnLst/>
            <a:rect l="l" t="t" r="r" b="b"/>
            <a:pathLst>
              <a:path w="1889762" h="718457">
                <a:moveTo>
                  <a:pt x="0" y="0"/>
                </a:moveTo>
                <a:lnTo>
                  <a:pt x="1889762" y="0"/>
                </a:lnTo>
                <a:lnTo>
                  <a:pt x="1889762" y="718457"/>
                </a:lnTo>
                <a:lnTo>
                  <a:pt x="0" y="718457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j-ea"/>
              </a:rPr>
              <a:t>论文总结</a:t>
            </a:r>
            <a:endParaRPr sz="2400" b="1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  <a:ea typeface="+mj-ea"/>
              <a:cs typeface="+mj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jpeg"/><Relationship Id="rId1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jpeg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jpeg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jpeg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9" name="图片占位符 22"/>
          <p:cNvPicPr>
            <a:picLocks noChangeAspect="1"/>
          </p:cNvPicPr>
          <p:nvPr>
            <p:ph type="pic" idx="13"/>
          </p:nvPr>
        </p:nvPicPr>
        <p:blipFill>
          <a:blip r:embed="rId1"/>
          <a:srcRect l="11333" r="11333"/>
          <a:stretch>
            <a:fillRect/>
          </a:stretch>
        </p:blipFill>
        <p:spPr>
          <a:xfrm>
            <a:off x="0" y="0"/>
            <a:ext cx="914400" cy="914400"/>
          </a:xfr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49000"/>
                </a:schemeClr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914400" y="1388110"/>
            <a:ext cx="9906000" cy="208153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 i="0" u="none" cap="none">
                <a:ln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校园安全舆情研判与管理智能平台</a:t>
            </a:r>
            <a:endParaRPr sz="3000" b="1" i="0" u="none" cap="none">
              <a:ln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: 圆角 4"/>
          <p:cNvSpPr>
            <a:spLocks noGrp="1"/>
          </p:cNvSpPr>
          <p:nvPr/>
        </p:nvSpPr>
        <p:spPr>
          <a:xfrm flipV="1">
            <a:off x="1008380" y="2988945"/>
            <a:ext cx="6960870" cy="76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927735" y="3469640"/>
            <a:ext cx="8763000" cy="20853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 u="none" cap="none">
                <a:ln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第三部分｜管理应用层的设计与实现</a:t>
            </a:r>
            <a:r>
              <a:rPr sz="1725" b="1" i="0" u="none" cap="none">
                <a:ln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1725" b="1" i="0" u="none" cap="none">
              <a:ln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 u="none" cap="none">
                <a:ln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校园数据 → 智能分析 → 风险研判 → 管理决策</a:t>
            </a:r>
            <a:endParaRPr sz="1725" b="1" i="0" u="none" cap="none">
              <a:ln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 u="none" cap="none">
                <a:ln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负责：平台架构设计、前后端实现、系统优化与集成</a:t>
            </a:r>
            <a:endParaRPr sz="1725" b="1" i="0" u="none" cap="none">
              <a:ln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n>
                  <a:noFill/>
                </a:ln>
              </a:rPr>
              <a:t>汇报人：张泽祯</a:t>
            </a:r>
            <a:endParaRPr>
              <a:ln>
                <a:noFill/>
              </a:ln>
            </a:endParaRPr>
          </a:p>
          <a:p>
            <a:pPr marL="0" marR="0"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pic>
        <p:nvPicPr>
          <p:cNvPr id="44" name="图片 6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6F1A5B"/>
              </a:clrFrom>
              <a:clrTo>
                <a:srgbClr val="6F1A5B">
                  <a:alpha val="0"/>
                </a:srgbClr>
              </a:clrTo>
            </a:clrChange>
          </a:blip>
          <a:srcRect l="27693" t="50695" r="23620" b="23753"/>
          <a:stretch>
            <a:fillRect/>
          </a:stretch>
        </p:blipFill>
        <p:spPr>
          <a:xfrm>
            <a:off x="358313" y="0"/>
            <a:ext cx="2298038" cy="896421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0" y="-800444"/>
            <a:ext cx="6904036" cy="685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 flipH="1">
            <a:off x="0" y="-800444"/>
            <a:ext cx="52388" cy="685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221028" y="-608600"/>
            <a:ext cx="236342" cy="236342"/>
          </a:xfrm>
          <a:prstGeom prst="ellipse">
            <a:avLst/>
          </a:prstGeom>
          <a:solidFill>
            <a:srgbClr val="FED1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" name="Oval 7"/>
          <p:cNvSpPr>
            <a:spLocks noGrp="1"/>
          </p:cNvSpPr>
          <p:nvPr/>
        </p:nvSpPr>
        <p:spPr>
          <a:xfrm>
            <a:off x="156880" y="-672311"/>
            <a:ext cx="364639" cy="429532"/>
          </a:xfrm>
          <a:custGeom>
            <a:avLst/>
            <a:gdLst>
              <a:gd name="connsiteX0" fmla="*/ 204373 w 514281"/>
              <a:gd name="connsiteY0" fmla="*/ 530626 h 605804"/>
              <a:gd name="connsiteX1" fmla="*/ 204373 w 514281"/>
              <a:gd name="connsiteY1" fmla="*/ 556952 h 605804"/>
              <a:gd name="connsiteX2" fmla="*/ 311229 w 514281"/>
              <a:gd name="connsiteY2" fmla="*/ 556952 h 605804"/>
              <a:gd name="connsiteX3" fmla="*/ 311229 w 514281"/>
              <a:gd name="connsiteY3" fmla="*/ 530626 h 605804"/>
              <a:gd name="connsiteX4" fmla="*/ 204373 w 514281"/>
              <a:gd name="connsiteY4" fmla="*/ 479178 h 605804"/>
              <a:gd name="connsiteX5" fmla="*/ 204373 w 514281"/>
              <a:gd name="connsiteY5" fmla="*/ 504299 h 605804"/>
              <a:gd name="connsiteX6" fmla="*/ 311229 w 514281"/>
              <a:gd name="connsiteY6" fmla="*/ 504299 h 605804"/>
              <a:gd name="connsiteX7" fmla="*/ 311229 w 514281"/>
              <a:gd name="connsiteY7" fmla="*/ 479178 h 605804"/>
              <a:gd name="connsiteX8" fmla="*/ 458958 w 514281"/>
              <a:gd name="connsiteY8" fmla="*/ 243592 h 605804"/>
              <a:gd name="connsiteX9" fmla="*/ 514281 w 514281"/>
              <a:gd name="connsiteY9" fmla="*/ 243592 h 605804"/>
              <a:gd name="connsiteX10" fmla="*/ 514281 w 514281"/>
              <a:gd name="connsiteY10" fmla="*/ 269913 h 605804"/>
              <a:gd name="connsiteX11" fmla="*/ 458958 w 514281"/>
              <a:gd name="connsiteY11" fmla="*/ 269913 h 605804"/>
              <a:gd name="connsiteX12" fmla="*/ 0 w 514281"/>
              <a:gd name="connsiteY12" fmla="*/ 243592 h 605804"/>
              <a:gd name="connsiteX13" fmla="*/ 55323 w 514281"/>
              <a:gd name="connsiteY13" fmla="*/ 243592 h 605804"/>
              <a:gd name="connsiteX14" fmla="*/ 55323 w 514281"/>
              <a:gd name="connsiteY14" fmla="*/ 269913 h 605804"/>
              <a:gd name="connsiteX15" fmla="*/ 0 w 514281"/>
              <a:gd name="connsiteY15" fmla="*/ 269913 h 605804"/>
              <a:gd name="connsiteX16" fmla="*/ 263695 w 514281"/>
              <a:gd name="connsiteY16" fmla="*/ 202846 h 605804"/>
              <a:gd name="connsiteX17" fmla="*/ 192467 w 514281"/>
              <a:gd name="connsiteY17" fmla="*/ 273946 h 605804"/>
              <a:gd name="connsiteX18" fmla="*/ 237321 w 514281"/>
              <a:gd name="connsiteY18" fmla="*/ 273946 h 605804"/>
              <a:gd name="connsiteX19" fmla="*/ 250601 w 514281"/>
              <a:gd name="connsiteY19" fmla="*/ 288407 h 605804"/>
              <a:gd name="connsiteX20" fmla="*/ 246608 w 514281"/>
              <a:gd name="connsiteY20" fmla="*/ 326599 h 605804"/>
              <a:gd name="connsiteX21" fmla="*/ 320436 w 514281"/>
              <a:gd name="connsiteY21" fmla="*/ 252904 h 605804"/>
              <a:gd name="connsiteX22" fmla="*/ 275582 w 514281"/>
              <a:gd name="connsiteY22" fmla="*/ 252904 h 605804"/>
              <a:gd name="connsiteX23" fmla="*/ 262302 w 514281"/>
              <a:gd name="connsiteY23" fmla="*/ 239648 h 605804"/>
              <a:gd name="connsiteX24" fmla="*/ 283673 w 514281"/>
              <a:gd name="connsiteY24" fmla="*/ 156984 h 605804"/>
              <a:gd name="connsiteX25" fmla="*/ 291462 w 514281"/>
              <a:gd name="connsiteY25" fmla="*/ 168641 h 605804"/>
              <a:gd name="connsiteX26" fmla="*/ 290071 w 514281"/>
              <a:gd name="connsiteY26" fmla="*/ 225094 h 605804"/>
              <a:gd name="connsiteX27" fmla="*/ 290069 w 514281"/>
              <a:gd name="connsiteY27" fmla="*/ 225094 h 605804"/>
              <a:gd name="connsiteX28" fmla="*/ 290069 w 514281"/>
              <a:gd name="connsiteY28" fmla="*/ 225187 h 605804"/>
              <a:gd name="connsiteX29" fmla="*/ 290071 w 514281"/>
              <a:gd name="connsiteY29" fmla="*/ 225094 h 605804"/>
              <a:gd name="connsiteX30" fmla="*/ 353496 w 514281"/>
              <a:gd name="connsiteY30" fmla="*/ 225094 h 605804"/>
              <a:gd name="connsiteX31" fmla="*/ 362783 w 514281"/>
              <a:gd name="connsiteY31" fmla="*/ 247435 h 605804"/>
              <a:gd name="connsiteX32" fmla="*/ 240014 w 514281"/>
              <a:gd name="connsiteY32" fmla="*/ 369982 h 605804"/>
              <a:gd name="connsiteX33" fmla="*/ 217634 w 514281"/>
              <a:gd name="connsiteY33" fmla="*/ 359414 h 605804"/>
              <a:gd name="connsiteX34" fmla="*/ 222927 w 514281"/>
              <a:gd name="connsiteY34" fmla="*/ 298882 h 605804"/>
              <a:gd name="connsiteX35" fmla="*/ 160893 w 514281"/>
              <a:gd name="connsiteY35" fmla="*/ 298882 h 605804"/>
              <a:gd name="connsiteX36" fmla="*/ 151606 w 514281"/>
              <a:gd name="connsiteY36" fmla="*/ 276542 h 605804"/>
              <a:gd name="connsiteX37" fmla="*/ 268988 w 514281"/>
              <a:gd name="connsiteY37" fmla="*/ 159371 h 605804"/>
              <a:gd name="connsiteX38" fmla="*/ 283673 w 514281"/>
              <a:gd name="connsiteY38" fmla="*/ 156984 h 605804"/>
              <a:gd name="connsiteX39" fmla="*/ 250606 w 514281"/>
              <a:gd name="connsiteY39" fmla="*/ 114503 h 605804"/>
              <a:gd name="connsiteX40" fmla="*/ 114784 w 514281"/>
              <a:gd name="connsiteY40" fmla="*/ 244837 h 605804"/>
              <a:gd name="connsiteX41" fmla="*/ 159624 w 514281"/>
              <a:gd name="connsiteY41" fmla="*/ 362007 h 605804"/>
              <a:gd name="connsiteX42" fmla="*/ 204001 w 514281"/>
              <a:gd name="connsiteY42" fmla="*/ 452852 h 605804"/>
              <a:gd name="connsiteX43" fmla="*/ 311322 w 514281"/>
              <a:gd name="connsiteY43" fmla="*/ 452852 h 605804"/>
              <a:gd name="connsiteX44" fmla="*/ 354678 w 514281"/>
              <a:gd name="connsiteY44" fmla="*/ 362007 h 605804"/>
              <a:gd name="connsiteX45" fmla="*/ 400819 w 514281"/>
              <a:gd name="connsiteY45" fmla="*/ 258000 h 605804"/>
              <a:gd name="connsiteX46" fmla="*/ 250606 w 514281"/>
              <a:gd name="connsiteY46" fmla="*/ 114503 h 605804"/>
              <a:gd name="connsiteX47" fmla="*/ 249213 w 514281"/>
              <a:gd name="connsiteY47" fmla="*/ 88269 h 605804"/>
              <a:gd name="connsiteX48" fmla="*/ 427556 w 514281"/>
              <a:gd name="connsiteY48" fmla="*/ 258092 h 605804"/>
              <a:gd name="connsiteX49" fmla="*/ 373524 w 514281"/>
              <a:gd name="connsiteY49" fmla="*/ 381845 h 605804"/>
              <a:gd name="connsiteX50" fmla="*/ 337874 w 514281"/>
              <a:gd name="connsiteY50" fmla="*/ 460824 h 605804"/>
              <a:gd name="connsiteX51" fmla="*/ 337874 w 514281"/>
              <a:gd name="connsiteY51" fmla="*/ 571413 h 605804"/>
              <a:gd name="connsiteX52" fmla="*/ 324598 w 514281"/>
              <a:gd name="connsiteY52" fmla="*/ 583278 h 605804"/>
              <a:gd name="connsiteX53" fmla="*/ 270473 w 514281"/>
              <a:gd name="connsiteY53" fmla="*/ 583278 h 605804"/>
              <a:gd name="connsiteX54" fmla="*/ 270473 w 514281"/>
              <a:gd name="connsiteY54" fmla="*/ 592548 h 605804"/>
              <a:gd name="connsiteX55" fmla="*/ 257290 w 514281"/>
              <a:gd name="connsiteY55" fmla="*/ 605804 h 605804"/>
              <a:gd name="connsiteX56" fmla="*/ 244014 w 514281"/>
              <a:gd name="connsiteY56" fmla="*/ 592548 h 605804"/>
              <a:gd name="connsiteX57" fmla="*/ 244014 w 514281"/>
              <a:gd name="connsiteY57" fmla="*/ 583278 h 605804"/>
              <a:gd name="connsiteX58" fmla="*/ 189890 w 514281"/>
              <a:gd name="connsiteY58" fmla="*/ 583278 h 605804"/>
              <a:gd name="connsiteX59" fmla="*/ 176707 w 514281"/>
              <a:gd name="connsiteY59" fmla="*/ 570023 h 605804"/>
              <a:gd name="connsiteX60" fmla="*/ 176707 w 514281"/>
              <a:gd name="connsiteY60" fmla="*/ 460824 h 605804"/>
              <a:gd name="connsiteX61" fmla="*/ 139757 w 514281"/>
              <a:gd name="connsiteY61" fmla="*/ 380454 h 605804"/>
              <a:gd name="connsiteX62" fmla="*/ 87025 w 514281"/>
              <a:gd name="connsiteY62" fmla="*/ 242241 h 605804"/>
              <a:gd name="connsiteX63" fmla="*/ 249213 w 514281"/>
              <a:gd name="connsiteY63" fmla="*/ 88269 h 605804"/>
              <a:gd name="connsiteX64" fmla="*/ 429815 w 514281"/>
              <a:gd name="connsiteY64" fmla="*/ 66120 h 605804"/>
              <a:gd name="connsiteX65" fmla="*/ 448444 w 514281"/>
              <a:gd name="connsiteY65" fmla="*/ 84608 h 605804"/>
              <a:gd name="connsiteX66" fmla="*/ 409280 w 514281"/>
              <a:gd name="connsiteY66" fmla="*/ 123772 h 605804"/>
              <a:gd name="connsiteX67" fmla="*/ 390721 w 514281"/>
              <a:gd name="connsiteY67" fmla="*/ 105143 h 605804"/>
              <a:gd name="connsiteX68" fmla="*/ 84820 w 514281"/>
              <a:gd name="connsiteY68" fmla="*/ 66120 h 605804"/>
              <a:gd name="connsiteX69" fmla="*/ 123843 w 514281"/>
              <a:gd name="connsiteY69" fmla="*/ 105143 h 605804"/>
              <a:gd name="connsiteX70" fmla="*/ 105284 w 514281"/>
              <a:gd name="connsiteY70" fmla="*/ 123772 h 605804"/>
              <a:gd name="connsiteX71" fmla="*/ 66120 w 514281"/>
              <a:gd name="connsiteY71" fmla="*/ 84749 h 605804"/>
              <a:gd name="connsiteX72" fmla="*/ 243945 w 514281"/>
              <a:gd name="connsiteY72" fmla="*/ 0 h 605804"/>
              <a:gd name="connsiteX73" fmla="*/ 270266 w 514281"/>
              <a:gd name="connsiteY73" fmla="*/ 0 h 605804"/>
              <a:gd name="connsiteX74" fmla="*/ 270266 w 514281"/>
              <a:gd name="connsiteY74" fmla="*/ 55253 h 605804"/>
              <a:gd name="connsiteX75" fmla="*/ 243945 w 514281"/>
              <a:gd name="connsiteY75" fmla="*/ 55253 h 605804"/>
            </a:gdLst>
            <a:ahLst/>
            <a:cxnLst/>
            <a:rect l="l" t="t" r="r" b="b"/>
            <a:pathLst>
              <a:path w="514281" h="605804">
                <a:moveTo>
                  <a:pt x="204373" y="530626"/>
                </a:moveTo>
                <a:lnTo>
                  <a:pt x="204373" y="556952"/>
                </a:lnTo>
                <a:lnTo>
                  <a:pt x="311229" y="556952"/>
                </a:lnTo>
                <a:lnTo>
                  <a:pt x="311229" y="530626"/>
                </a:lnTo>
                <a:close/>
                <a:moveTo>
                  <a:pt x="204373" y="479178"/>
                </a:moveTo>
                <a:lnTo>
                  <a:pt x="204373" y="504299"/>
                </a:lnTo>
                <a:lnTo>
                  <a:pt x="311229" y="504299"/>
                </a:lnTo>
                <a:lnTo>
                  <a:pt x="311229" y="479178"/>
                </a:lnTo>
                <a:close/>
                <a:moveTo>
                  <a:pt x="458958" y="243592"/>
                </a:moveTo>
                <a:lnTo>
                  <a:pt x="514281" y="243592"/>
                </a:lnTo>
                <a:lnTo>
                  <a:pt x="514281" y="269913"/>
                </a:lnTo>
                <a:lnTo>
                  <a:pt x="458958" y="269913"/>
                </a:lnTo>
                <a:close/>
                <a:moveTo>
                  <a:pt x="0" y="243592"/>
                </a:moveTo>
                <a:lnTo>
                  <a:pt x="55323" y="243592"/>
                </a:lnTo>
                <a:lnTo>
                  <a:pt x="55323" y="269913"/>
                </a:lnTo>
                <a:lnTo>
                  <a:pt x="0" y="269913"/>
                </a:lnTo>
                <a:close/>
                <a:moveTo>
                  <a:pt x="263695" y="202846"/>
                </a:moveTo>
                <a:lnTo>
                  <a:pt x="192467" y="273946"/>
                </a:lnTo>
                <a:lnTo>
                  <a:pt x="237321" y="273946"/>
                </a:lnTo>
                <a:cubicBezTo>
                  <a:pt x="248001" y="273946"/>
                  <a:pt x="251530" y="280991"/>
                  <a:pt x="250601" y="288407"/>
                </a:cubicBezTo>
                <a:lnTo>
                  <a:pt x="246608" y="326599"/>
                </a:lnTo>
                <a:lnTo>
                  <a:pt x="320436" y="252904"/>
                </a:lnTo>
                <a:lnTo>
                  <a:pt x="275582" y="252904"/>
                </a:lnTo>
                <a:cubicBezTo>
                  <a:pt x="270010" y="252904"/>
                  <a:pt x="262302" y="250586"/>
                  <a:pt x="262302" y="239648"/>
                </a:cubicBezTo>
                <a:close/>
                <a:moveTo>
                  <a:pt x="283673" y="156984"/>
                </a:moveTo>
                <a:cubicBezTo>
                  <a:pt x="288142" y="159139"/>
                  <a:pt x="291462" y="163635"/>
                  <a:pt x="291462" y="168641"/>
                </a:cubicBezTo>
                <a:lnTo>
                  <a:pt x="290071" y="225094"/>
                </a:lnTo>
                <a:lnTo>
                  <a:pt x="290069" y="225094"/>
                </a:lnTo>
                <a:lnTo>
                  <a:pt x="290069" y="225187"/>
                </a:lnTo>
                <a:lnTo>
                  <a:pt x="290071" y="225094"/>
                </a:lnTo>
                <a:lnTo>
                  <a:pt x="353496" y="225094"/>
                </a:lnTo>
                <a:cubicBezTo>
                  <a:pt x="367798" y="225094"/>
                  <a:pt x="370398" y="240946"/>
                  <a:pt x="362783" y="247435"/>
                </a:cubicBezTo>
                <a:lnTo>
                  <a:pt x="240014" y="369982"/>
                </a:lnTo>
                <a:cubicBezTo>
                  <a:pt x="231378" y="376749"/>
                  <a:pt x="217634" y="373041"/>
                  <a:pt x="217634" y="359414"/>
                </a:cubicBezTo>
                <a:lnTo>
                  <a:pt x="222927" y="298882"/>
                </a:lnTo>
                <a:lnTo>
                  <a:pt x="160893" y="298882"/>
                </a:lnTo>
                <a:cubicBezTo>
                  <a:pt x="148077" y="298882"/>
                  <a:pt x="141484" y="286646"/>
                  <a:pt x="151606" y="276542"/>
                </a:cubicBezTo>
                <a:lnTo>
                  <a:pt x="268988" y="159371"/>
                </a:lnTo>
                <a:cubicBezTo>
                  <a:pt x="273585" y="155014"/>
                  <a:pt x="279204" y="154829"/>
                  <a:pt x="283673" y="156984"/>
                </a:cubicBezTo>
                <a:close/>
                <a:moveTo>
                  <a:pt x="250606" y="114503"/>
                </a:moveTo>
                <a:cubicBezTo>
                  <a:pt x="179399" y="118396"/>
                  <a:pt x="121375" y="173830"/>
                  <a:pt x="114784" y="244837"/>
                </a:cubicBezTo>
                <a:cubicBezTo>
                  <a:pt x="110792" y="289610"/>
                  <a:pt x="126667" y="331788"/>
                  <a:pt x="159624" y="362007"/>
                </a:cubicBezTo>
                <a:cubicBezTo>
                  <a:pt x="186083" y="387407"/>
                  <a:pt x="201680" y="419388"/>
                  <a:pt x="204001" y="452852"/>
                </a:cubicBezTo>
                <a:lnTo>
                  <a:pt x="311322" y="452852"/>
                </a:lnTo>
                <a:cubicBezTo>
                  <a:pt x="313086" y="418553"/>
                  <a:pt x="328683" y="386758"/>
                  <a:pt x="354678" y="362007"/>
                </a:cubicBezTo>
                <a:cubicBezTo>
                  <a:pt x="383736" y="334476"/>
                  <a:pt x="400819" y="297489"/>
                  <a:pt x="400819" y="258000"/>
                </a:cubicBezTo>
                <a:cubicBezTo>
                  <a:pt x="400819" y="176425"/>
                  <a:pt x="332304" y="110517"/>
                  <a:pt x="250606" y="114503"/>
                </a:cubicBezTo>
                <a:close/>
                <a:moveTo>
                  <a:pt x="249213" y="88269"/>
                </a:moveTo>
                <a:cubicBezTo>
                  <a:pt x="346786" y="82985"/>
                  <a:pt x="427185" y="161964"/>
                  <a:pt x="427556" y="258092"/>
                </a:cubicBezTo>
                <a:cubicBezTo>
                  <a:pt x="427556" y="304164"/>
                  <a:pt x="407782" y="350142"/>
                  <a:pt x="373524" y="381845"/>
                </a:cubicBezTo>
                <a:cubicBezTo>
                  <a:pt x="351057" y="402795"/>
                  <a:pt x="337874" y="430511"/>
                  <a:pt x="337874" y="460824"/>
                </a:cubicBezTo>
                <a:lnTo>
                  <a:pt x="337874" y="571413"/>
                </a:lnTo>
                <a:cubicBezTo>
                  <a:pt x="337874" y="577995"/>
                  <a:pt x="331190" y="583278"/>
                  <a:pt x="324598" y="583278"/>
                </a:cubicBezTo>
                <a:lnTo>
                  <a:pt x="270473" y="583278"/>
                </a:lnTo>
                <a:lnTo>
                  <a:pt x="270473" y="592548"/>
                </a:lnTo>
                <a:cubicBezTo>
                  <a:pt x="270473" y="600428"/>
                  <a:pt x="265182" y="605804"/>
                  <a:pt x="257290" y="605804"/>
                </a:cubicBezTo>
                <a:cubicBezTo>
                  <a:pt x="249306" y="605804"/>
                  <a:pt x="244014" y="600428"/>
                  <a:pt x="244014" y="592548"/>
                </a:cubicBezTo>
                <a:lnTo>
                  <a:pt x="244014" y="583278"/>
                </a:lnTo>
                <a:lnTo>
                  <a:pt x="189890" y="583278"/>
                </a:lnTo>
                <a:cubicBezTo>
                  <a:pt x="181999" y="583278"/>
                  <a:pt x="176707" y="577995"/>
                  <a:pt x="176707" y="570023"/>
                </a:cubicBezTo>
                <a:lnTo>
                  <a:pt x="176707" y="460824"/>
                </a:lnTo>
                <a:cubicBezTo>
                  <a:pt x="176707" y="430511"/>
                  <a:pt x="163524" y="402795"/>
                  <a:pt x="139757" y="380454"/>
                </a:cubicBezTo>
                <a:cubicBezTo>
                  <a:pt x="101508" y="344951"/>
                  <a:pt x="83126" y="293596"/>
                  <a:pt x="87025" y="242241"/>
                </a:cubicBezTo>
                <a:cubicBezTo>
                  <a:pt x="95009" y="158071"/>
                  <a:pt x="164823" y="92255"/>
                  <a:pt x="249213" y="88269"/>
                </a:cubicBezTo>
                <a:close/>
                <a:moveTo>
                  <a:pt x="429815" y="66120"/>
                </a:moveTo>
                <a:lnTo>
                  <a:pt x="448444" y="84608"/>
                </a:lnTo>
                <a:lnTo>
                  <a:pt x="409280" y="123772"/>
                </a:lnTo>
                <a:lnTo>
                  <a:pt x="390721" y="105143"/>
                </a:lnTo>
                <a:close/>
                <a:moveTo>
                  <a:pt x="84820" y="66120"/>
                </a:moveTo>
                <a:lnTo>
                  <a:pt x="123843" y="105143"/>
                </a:lnTo>
                <a:lnTo>
                  <a:pt x="105284" y="123772"/>
                </a:lnTo>
                <a:lnTo>
                  <a:pt x="66120" y="84749"/>
                </a:lnTo>
                <a:close/>
                <a:moveTo>
                  <a:pt x="243945" y="0"/>
                </a:moveTo>
                <a:lnTo>
                  <a:pt x="270266" y="0"/>
                </a:lnTo>
                <a:lnTo>
                  <a:pt x="270266" y="55253"/>
                </a:lnTo>
                <a:lnTo>
                  <a:pt x="243945" y="552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660400" y="-672311"/>
            <a:ext cx="0" cy="42953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等腰三角形 32"/>
          <p:cNvSpPr>
            <a:spLocks noGrp="1"/>
          </p:cNvSpPr>
          <p:nvPr/>
        </p:nvSpPr>
        <p:spPr>
          <a:xfrm rot="5400000">
            <a:off x="656742" y="-480405"/>
            <a:ext cx="53036" cy="4572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" name="文本框 27"/>
          <p:cNvSpPr>
            <a:spLocks noGrp="1"/>
          </p:cNvSpPr>
          <p:nvPr/>
        </p:nvSpPr>
        <p:spPr>
          <a:xfrm>
            <a:off x="6582625" y="-672311"/>
            <a:ext cx="188305" cy="425834"/>
          </a:xfrm>
          <a:custGeom>
            <a:avLst/>
            <a:gdLst/>
            <a:ahLst/>
            <a:cxnLst/>
            <a:rect l="l" t="t" r="r" b="b"/>
            <a:pathLst>
              <a:path w="188305" h="425834">
                <a:moveTo>
                  <a:pt x="137517" y="318455"/>
                </a:moveTo>
                <a:cubicBezTo>
                  <a:pt x="151358" y="318455"/>
                  <a:pt x="161479" y="320222"/>
                  <a:pt x="167878" y="323757"/>
                </a:cubicBezTo>
                <a:cubicBezTo>
                  <a:pt x="174278" y="327291"/>
                  <a:pt x="179282" y="333003"/>
                  <a:pt x="182891" y="340890"/>
                </a:cubicBezTo>
                <a:cubicBezTo>
                  <a:pt x="186500" y="348778"/>
                  <a:pt x="188305" y="358303"/>
                  <a:pt x="188305" y="369465"/>
                </a:cubicBezTo>
                <a:cubicBezTo>
                  <a:pt x="188305" y="381669"/>
                  <a:pt x="186333" y="392069"/>
                  <a:pt x="182389" y="400664"/>
                </a:cubicBezTo>
                <a:cubicBezTo>
                  <a:pt x="178445" y="409258"/>
                  <a:pt x="173478" y="414951"/>
                  <a:pt x="167488" y="417742"/>
                </a:cubicBezTo>
                <a:cubicBezTo>
                  <a:pt x="161497" y="420532"/>
                  <a:pt x="151321" y="421927"/>
                  <a:pt x="136959" y="421927"/>
                </a:cubicBezTo>
                <a:lnTo>
                  <a:pt x="129815" y="421927"/>
                </a:lnTo>
                <a:lnTo>
                  <a:pt x="129815" y="378283"/>
                </a:lnTo>
                <a:lnTo>
                  <a:pt x="143210" y="378283"/>
                </a:lnTo>
                <a:cubicBezTo>
                  <a:pt x="149461" y="378283"/>
                  <a:pt x="153442" y="377725"/>
                  <a:pt x="155153" y="376609"/>
                </a:cubicBezTo>
                <a:cubicBezTo>
                  <a:pt x="156865" y="375493"/>
                  <a:pt x="157721" y="373633"/>
                  <a:pt x="157721" y="371028"/>
                </a:cubicBezTo>
                <a:cubicBezTo>
                  <a:pt x="157721" y="368200"/>
                  <a:pt x="156566" y="366061"/>
                  <a:pt x="154258" y="364610"/>
                </a:cubicBezTo>
                <a:cubicBezTo>
                  <a:pt x="151949" y="363159"/>
                  <a:pt x="148449" y="362433"/>
                  <a:pt x="143758" y="362433"/>
                </a:cubicBezTo>
                <a:cubicBezTo>
                  <a:pt x="137727" y="362433"/>
                  <a:pt x="133184" y="363249"/>
                  <a:pt x="130131" y="364880"/>
                </a:cubicBezTo>
                <a:cubicBezTo>
                  <a:pt x="127078" y="366438"/>
                  <a:pt x="123395" y="370865"/>
                  <a:pt x="119082" y="378160"/>
                </a:cubicBezTo>
                <a:cubicBezTo>
                  <a:pt x="106667" y="399078"/>
                  <a:pt x="96478" y="412254"/>
                  <a:pt x="88516" y="417686"/>
                </a:cubicBezTo>
                <a:cubicBezTo>
                  <a:pt x="80553" y="423118"/>
                  <a:pt x="67717" y="425834"/>
                  <a:pt x="50006" y="425834"/>
                </a:cubicBezTo>
                <a:cubicBezTo>
                  <a:pt x="37133" y="425834"/>
                  <a:pt x="27645" y="424327"/>
                  <a:pt x="21543" y="421313"/>
                </a:cubicBezTo>
                <a:cubicBezTo>
                  <a:pt x="15441" y="418300"/>
                  <a:pt x="10325" y="412477"/>
                  <a:pt x="6195" y="403845"/>
                </a:cubicBezTo>
                <a:cubicBezTo>
                  <a:pt x="2065" y="395213"/>
                  <a:pt x="0" y="385167"/>
                  <a:pt x="0" y="373707"/>
                </a:cubicBezTo>
                <a:cubicBezTo>
                  <a:pt x="0" y="361131"/>
                  <a:pt x="2381" y="350397"/>
                  <a:pt x="7144" y="341504"/>
                </a:cubicBezTo>
                <a:cubicBezTo>
                  <a:pt x="11906" y="332612"/>
                  <a:pt x="17971" y="326789"/>
                  <a:pt x="25338" y="324036"/>
                </a:cubicBezTo>
                <a:cubicBezTo>
                  <a:pt x="32705" y="321282"/>
                  <a:pt x="43160" y="319906"/>
                  <a:pt x="56704" y="319906"/>
                </a:cubicBezTo>
                <a:lnTo>
                  <a:pt x="68535" y="319906"/>
                </a:lnTo>
                <a:lnTo>
                  <a:pt x="68535" y="363549"/>
                </a:lnTo>
                <a:lnTo>
                  <a:pt x="46546" y="363549"/>
                </a:lnTo>
                <a:cubicBezTo>
                  <a:pt x="39774" y="363549"/>
                  <a:pt x="35421" y="364163"/>
                  <a:pt x="33486" y="365391"/>
                </a:cubicBezTo>
                <a:cubicBezTo>
                  <a:pt x="31552" y="366619"/>
                  <a:pt x="30584" y="368796"/>
                  <a:pt x="30584" y="371921"/>
                </a:cubicBezTo>
                <a:cubicBezTo>
                  <a:pt x="30584" y="375046"/>
                  <a:pt x="31812" y="377372"/>
                  <a:pt x="34268" y="378897"/>
                </a:cubicBezTo>
                <a:cubicBezTo>
                  <a:pt x="36723" y="380423"/>
                  <a:pt x="40370" y="381186"/>
                  <a:pt x="45207" y="381186"/>
                </a:cubicBezTo>
                <a:cubicBezTo>
                  <a:pt x="55848" y="381186"/>
                  <a:pt x="62806" y="379735"/>
                  <a:pt x="66080" y="376832"/>
                </a:cubicBezTo>
                <a:cubicBezTo>
                  <a:pt x="69354" y="373856"/>
                  <a:pt x="74823" y="366526"/>
                  <a:pt x="82488" y="354843"/>
                </a:cubicBezTo>
                <a:cubicBezTo>
                  <a:pt x="90227" y="343160"/>
                  <a:pt x="95845" y="335421"/>
                  <a:pt x="99343" y="331626"/>
                </a:cubicBezTo>
                <a:cubicBezTo>
                  <a:pt x="102840" y="327831"/>
                  <a:pt x="107677" y="324687"/>
                  <a:pt x="113854" y="322194"/>
                </a:cubicBezTo>
                <a:cubicBezTo>
                  <a:pt x="120030" y="319701"/>
                  <a:pt x="127918" y="318455"/>
                  <a:pt x="137517" y="318455"/>
                </a:cubicBezTo>
                <a:close/>
                <a:moveTo>
                  <a:pt x="107603" y="245529"/>
                </a:moveTo>
                <a:cubicBezTo>
                  <a:pt x="107528" y="246868"/>
                  <a:pt x="107491" y="248022"/>
                  <a:pt x="107491" y="248989"/>
                </a:cubicBezTo>
                <a:cubicBezTo>
                  <a:pt x="107491" y="253305"/>
                  <a:pt x="108552" y="256300"/>
                  <a:pt x="110672" y="257975"/>
                </a:cubicBezTo>
                <a:cubicBezTo>
                  <a:pt x="112793" y="259649"/>
                  <a:pt x="117202" y="260486"/>
                  <a:pt x="123900" y="260486"/>
                </a:cubicBezTo>
                <a:lnTo>
                  <a:pt x="138745" y="260486"/>
                </a:lnTo>
                <a:cubicBezTo>
                  <a:pt x="144922" y="260486"/>
                  <a:pt x="148940" y="259519"/>
                  <a:pt x="150800" y="257584"/>
                </a:cubicBezTo>
                <a:cubicBezTo>
                  <a:pt x="152661" y="255649"/>
                  <a:pt x="153591" y="251631"/>
                  <a:pt x="153591" y="245529"/>
                </a:cubicBezTo>
                <a:close/>
                <a:moveTo>
                  <a:pt x="3795" y="198536"/>
                </a:moveTo>
                <a:lnTo>
                  <a:pt x="184510" y="198536"/>
                </a:lnTo>
                <a:lnTo>
                  <a:pt x="184510" y="245864"/>
                </a:lnTo>
                <a:cubicBezTo>
                  <a:pt x="184510" y="258663"/>
                  <a:pt x="183505" y="268504"/>
                  <a:pt x="181496" y="275387"/>
                </a:cubicBezTo>
                <a:cubicBezTo>
                  <a:pt x="179487" y="282271"/>
                  <a:pt x="176585" y="287443"/>
                  <a:pt x="172790" y="290903"/>
                </a:cubicBezTo>
                <a:cubicBezTo>
                  <a:pt x="168994" y="294363"/>
                  <a:pt x="164399" y="296707"/>
                  <a:pt x="159004" y="297935"/>
                </a:cubicBezTo>
                <a:cubicBezTo>
                  <a:pt x="153609" y="299163"/>
                  <a:pt x="145256" y="299777"/>
                  <a:pt x="133945" y="299777"/>
                </a:cubicBezTo>
                <a:lnTo>
                  <a:pt x="118207" y="299777"/>
                </a:lnTo>
                <a:cubicBezTo>
                  <a:pt x="106673" y="299777"/>
                  <a:pt x="98264" y="298586"/>
                  <a:pt x="92981" y="296205"/>
                </a:cubicBezTo>
                <a:cubicBezTo>
                  <a:pt x="87697" y="293824"/>
                  <a:pt x="83642" y="289452"/>
                  <a:pt x="80814" y="283089"/>
                </a:cubicBezTo>
                <a:cubicBezTo>
                  <a:pt x="77986" y="276727"/>
                  <a:pt x="76572" y="268411"/>
                  <a:pt x="76572" y="258142"/>
                </a:cubicBezTo>
                <a:lnTo>
                  <a:pt x="76572" y="245529"/>
                </a:lnTo>
                <a:lnTo>
                  <a:pt x="3795" y="245529"/>
                </a:lnTo>
                <a:close/>
                <a:moveTo>
                  <a:pt x="3795" y="122336"/>
                </a:moveTo>
                <a:lnTo>
                  <a:pt x="184510" y="122336"/>
                </a:lnTo>
                <a:lnTo>
                  <a:pt x="184510" y="169329"/>
                </a:lnTo>
                <a:lnTo>
                  <a:pt x="3795" y="169329"/>
                </a:lnTo>
                <a:close/>
                <a:moveTo>
                  <a:pt x="148345" y="0"/>
                </a:moveTo>
                <a:lnTo>
                  <a:pt x="184510" y="0"/>
                </a:lnTo>
                <a:lnTo>
                  <a:pt x="184510" y="102691"/>
                </a:lnTo>
                <a:lnTo>
                  <a:pt x="148345" y="102691"/>
                </a:lnTo>
                <a:lnTo>
                  <a:pt x="148345" y="74786"/>
                </a:lnTo>
                <a:lnTo>
                  <a:pt x="3795" y="74786"/>
                </a:lnTo>
                <a:lnTo>
                  <a:pt x="3795" y="27793"/>
                </a:lnTo>
                <a:lnTo>
                  <a:pt x="148345" y="277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" name="图片占位符 6"/>
          <p:cNvPicPr>
            <a:picLocks noChangeAspect="1"/>
          </p:cNvPicPr>
          <p:nvPr>
            <p:ph type="pic" idx="13"/>
          </p:nvPr>
        </p:nvPicPr>
        <p:blipFill>
          <a:blip r:embed="rId1"/>
          <a:srcRect l="10404" r="10404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4488237" y="3693452"/>
            <a:ext cx="32155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400" b="1" i="0" u="none" cap="none">
                <a:ln>
                  <a:noFill/>
                </a:ln>
                <a:solidFill>
                  <a:prstClr val="white"/>
                </a:solidFill>
              </a:rPr>
              <a:t>论文摘要</a:t>
            </a:r>
            <a:endParaRPr sz="5400" b="1" i="0" u="none" cap="none">
              <a:ln>
                <a:noFill/>
              </a:ln>
              <a:solidFill>
                <a:prstClr val="white"/>
              </a:solidFill>
            </a:endParaRPr>
          </a:p>
        </p:txBody>
      </p:sp>
      <p:sp>
        <p:nvSpPr>
          <p:cNvPr id="5" name="椭圆 4"/>
          <p:cNvSpPr>
            <a:spLocks noGrp="1"/>
          </p:cNvSpPr>
          <p:nvPr/>
        </p:nvSpPr>
        <p:spPr>
          <a:xfrm>
            <a:off x="5223446" y="1419440"/>
            <a:ext cx="1745108" cy="174510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400" b="1" i="0" u="none" cap="none">
                <a:ln>
                  <a:noFill/>
                </a:ln>
                <a:solidFill>
                  <a:srgbClr val="7E0C6E"/>
                </a:solidFill>
              </a:rPr>
              <a:t>01</a:t>
            </a:r>
            <a:endParaRPr sz="5400" b="1" i="0" u="none" cap="none">
              <a:ln>
                <a:noFill/>
              </a:ln>
              <a:solidFill>
                <a:srgbClr val="7E0C6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0" y="-800444"/>
            <a:ext cx="6904036" cy="685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 flipH="1">
            <a:off x="0" y="-800444"/>
            <a:ext cx="52388" cy="685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221028" y="-608600"/>
            <a:ext cx="236342" cy="236342"/>
          </a:xfrm>
          <a:prstGeom prst="ellipse">
            <a:avLst/>
          </a:prstGeom>
          <a:solidFill>
            <a:srgbClr val="FED1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" name="Oval 7"/>
          <p:cNvSpPr>
            <a:spLocks noGrp="1"/>
          </p:cNvSpPr>
          <p:nvPr/>
        </p:nvSpPr>
        <p:spPr>
          <a:xfrm>
            <a:off x="156880" y="-672311"/>
            <a:ext cx="364639" cy="429532"/>
          </a:xfrm>
          <a:custGeom>
            <a:avLst/>
            <a:gdLst>
              <a:gd name="connsiteX0" fmla="*/ 204373 w 514281"/>
              <a:gd name="connsiteY0" fmla="*/ 530626 h 605804"/>
              <a:gd name="connsiteX1" fmla="*/ 204373 w 514281"/>
              <a:gd name="connsiteY1" fmla="*/ 556952 h 605804"/>
              <a:gd name="connsiteX2" fmla="*/ 311229 w 514281"/>
              <a:gd name="connsiteY2" fmla="*/ 556952 h 605804"/>
              <a:gd name="connsiteX3" fmla="*/ 311229 w 514281"/>
              <a:gd name="connsiteY3" fmla="*/ 530626 h 605804"/>
              <a:gd name="connsiteX4" fmla="*/ 204373 w 514281"/>
              <a:gd name="connsiteY4" fmla="*/ 479178 h 605804"/>
              <a:gd name="connsiteX5" fmla="*/ 204373 w 514281"/>
              <a:gd name="connsiteY5" fmla="*/ 504299 h 605804"/>
              <a:gd name="connsiteX6" fmla="*/ 311229 w 514281"/>
              <a:gd name="connsiteY6" fmla="*/ 504299 h 605804"/>
              <a:gd name="connsiteX7" fmla="*/ 311229 w 514281"/>
              <a:gd name="connsiteY7" fmla="*/ 479178 h 605804"/>
              <a:gd name="connsiteX8" fmla="*/ 458958 w 514281"/>
              <a:gd name="connsiteY8" fmla="*/ 243592 h 605804"/>
              <a:gd name="connsiteX9" fmla="*/ 514281 w 514281"/>
              <a:gd name="connsiteY9" fmla="*/ 243592 h 605804"/>
              <a:gd name="connsiteX10" fmla="*/ 514281 w 514281"/>
              <a:gd name="connsiteY10" fmla="*/ 269913 h 605804"/>
              <a:gd name="connsiteX11" fmla="*/ 458958 w 514281"/>
              <a:gd name="connsiteY11" fmla="*/ 269913 h 605804"/>
              <a:gd name="connsiteX12" fmla="*/ 0 w 514281"/>
              <a:gd name="connsiteY12" fmla="*/ 243592 h 605804"/>
              <a:gd name="connsiteX13" fmla="*/ 55323 w 514281"/>
              <a:gd name="connsiteY13" fmla="*/ 243592 h 605804"/>
              <a:gd name="connsiteX14" fmla="*/ 55323 w 514281"/>
              <a:gd name="connsiteY14" fmla="*/ 269913 h 605804"/>
              <a:gd name="connsiteX15" fmla="*/ 0 w 514281"/>
              <a:gd name="connsiteY15" fmla="*/ 269913 h 605804"/>
              <a:gd name="connsiteX16" fmla="*/ 263695 w 514281"/>
              <a:gd name="connsiteY16" fmla="*/ 202846 h 605804"/>
              <a:gd name="connsiteX17" fmla="*/ 192467 w 514281"/>
              <a:gd name="connsiteY17" fmla="*/ 273946 h 605804"/>
              <a:gd name="connsiteX18" fmla="*/ 237321 w 514281"/>
              <a:gd name="connsiteY18" fmla="*/ 273946 h 605804"/>
              <a:gd name="connsiteX19" fmla="*/ 250601 w 514281"/>
              <a:gd name="connsiteY19" fmla="*/ 288407 h 605804"/>
              <a:gd name="connsiteX20" fmla="*/ 246608 w 514281"/>
              <a:gd name="connsiteY20" fmla="*/ 326599 h 605804"/>
              <a:gd name="connsiteX21" fmla="*/ 320436 w 514281"/>
              <a:gd name="connsiteY21" fmla="*/ 252904 h 605804"/>
              <a:gd name="connsiteX22" fmla="*/ 275582 w 514281"/>
              <a:gd name="connsiteY22" fmla="*/ 252904 h 605804"/>
              <a:gd name="connsiteX23" fmla="*/ 262302 w 514281"/>
              <a:gd name="connsiteY23" fmla="*/ 239648 h 605804"/>
              <a:gd name="connsiteX24" fmla="*/ 283673 w 514281"/>
              <a:gd name="connsiteY24" fmla="*/ 156984 h 605804"/>
              <a:gd name="connsiteX25" fmla="*/ 291462 w 514281"/>
              <a:gd name="connsiteY25" fmla="*/ 168641 h 605804"/>
              <a:gd name="connsiteX26" fmla="*/ 290071 w 514281"/>
              <a:gd name="connsiteY26" fmla="*/ 225094 h 605804"/>
              <a:gd name="connsiteX27" fmla="*/ 290069 w 514281"/>
              <a:gd name="connsiteY27" fmla="*/ 225094 h 605804"/>
              <a:gd name="connsiteX28" fmla="*/ 290069 w 514281"/>
              <a:gd name="connsiteY28" fmla="*/ 225187 h 605804"/>
              <a:gd name="connsiteX29" fmla="*/ 290071 w 514281"/>
              <a:gd name="connsiteY29" fmla="*/ 225094 h 605804"/>
              <a:gd name="connsiteX30" fmla="*/ 353496 w 514281"/>
              <a:gd name="connsiteY30" fmla="*/ 225094 h 605804"/>
              <a:gd name="connsiteX31" fmla="*/ 362783 w 514281"/>
              <a:gd name="connsiteY31" fmla="*/ 247435 h 605804"/>
              <a:gd name="connsiteX32" fmla="*/ 240014 w 514281"/>
              <a:gd name="connsiteY32" fmla="*/ 369982 h 605804"/>
              <a:gd name="connsiteX33" fmla="*/ 217634 w 514281"/>
              <a:gd name="connsiteY33" fmla="*/ 359414 h 605804"/>
              <a:gd name="connsiteX34" fmla="*/ 222927 w 514281"/>
              <a:gd name="connsiteY34" fmla="*/ 298882 h 605804"/>
              <a:gd name="connsiteX35" fmla="*/ 160893 w 514281"/>
              <a:gd name="connsiteY35" fmla="*/ 298882 h 605804"/>
              <a:gd name="connsiteX36" fmla="*/ 151606 w 514281"/>
              <a:gd name="connsiteY36" fmla="*/ 276542 h 605804"/>
              <a:gd name="connsiteX37" fmla="*/ 268988 w 514281"/>
              <a:gd name="connsiteY37" fmla="*/ 159371 h 605804"/>
              <a:gd name="connsiteX38" fmla="*/ 283673 w 514281"/>
              <a:gd name="connsiteY38" fmla="*/ 156984 h 605804"/>
              <a:gd name="connsiteX39" fmla="*/ 250606 w 514281"/>
              <a:gd name="connsiteY39" fmla="*/ 114503 h 605804"/>
              <a:gd name="connsiteX40" fmla="*/ 114784 w 514281"/>
              <a:gd name="connsiteY40" fmla="*/ 244837 h 605804"/>
              <a:gd name="connsiteX41" fmla="*/ 159624 w 514281"/>
              <a:gd name="connsiteY41" fmla="*/ 362007 h 605804"/>
              <a:gd name="connsiteX42" fmla="*/ 204001 w 514281"/>
              <a:gd name="connsiteY42" fmla="*/ 452852 h 605804"/>
              <a:gd name="connsiteX43" fmla="*/ 311322 w 514281"/>
              <a:gd name="connsiteY43" fmla="*/ 452852 h 605804"/>
              <a:gd name="connsiteX44" fmla="*/ 354678 w 514281"/>
              <a:gd name="connsiteY44" fmla="*/ 362007 h 605804"/>
              <a:gd name="connsiteX45" fmla="*/ 400819 w 514281"/>
              <a:gd name="connsiteY45" fmla="*/ 258000 h 605804"/>
              <a:gd name="connsiteX46" fmla="*/ 250606 w 514281"/>
              <a:gd name="connsiteY46" fmla="*/ 114503 h 605804"/>
              <a:gd name="connsiteX47" fmla="*/ 249213 w 514281"/>
              <a:gd name="connsiteY47" fmla="*/ 88269 h 605804"/>
              <a:gd name="connsiteX48" fmla="*/ 427556 w 514281"/>
              <a:gd name="connsiteY48" fmla="*/ 258092 h 605804"/>
              <a:gd name="connsiteX49" fmla="*/ 373524 w 514281"/>
              <a:gd name="connsiteY49" fmla="*/ 381845 h 605804"/>
              <a:gd name="connsiteX50" fmla="*/ 337874 w 514281"/>
              <a:gd name="connsiteY50" fmla="*/ 460824 h 605804"/>
              <a:gd name="connsiteX51" fmla="*/ 337874 w 514281"/>
              <a:gd name="connsiteY51" fmla="*/ 571413 h 605804"/>
              <a:gd name="connsiteX52" fmla="*/ 324598 w 514281"/>
              <a:gd name="connsiteY52" fmla="*/ 583278 h 605804"/>
              <a:gd name="connsiteX53" fmla="*/ 270473 w 514281"/>
              <a:gd name="connsiteY53" fmla="*/ 583278 h 605804"/>
              <a:gd name="connsiteX54" fmla="*/ 270473 w 514281"/>
              <a:gd name="connsiteY54" fmla="*/ 592548 h 605804"/>
              <a:gd name="connsiteX55" fmla="*/ 257290 w 514281"/>
              <a:gd name="connsiteY55" fmla="*/ 605804 h 605804"/>
              <a:gd name="connsiteX56" fmla="*/ 244014 w 514281"/>
              <a:gd name="connsiteY56" fmla="*/ 592548 h 605804"/>
              <a:gd name="connsiteX57" fmla="*/ 244014 w 514281"/>
              <a:gd name="connsiteY57" fmla="*/ 583278 h 605804"/>
              <a:gd name="connsiteX58" fmla="*/ 189890 w 514281"/>
              <a:gd name="connsiteY58" fmla="*/ 583278 h 605804"/>
              <a:gd name="connsiteX59" fmla="*/ 176707 w 514281"/>
              <a:gd name="connsiteY59" fmla="*/ 570023 h 605804"/>
              <a:gd name="connsiteX60" fmla="*/ 176707 w 514281"/>
              <a:gd name="connsiteY60" fmla="*/ 460824 h 605804"/>
              <a:gd name="connsiteX61" fmla="*/ 139757 w 514281"/>
              <a:gd name="connsiteY61" fmla="*/ 380454 h 605804"/>
              <a:gd name="connsiteX62" fmla="*/ 87025 w 514281"/>
              <a:gd name="connsiteY62" fmla="*/ 242241 h 605804"/>
              <a:gd name="connsiteX63" fmla="*/ 249213 w 514281"/>
              <a:gd name="connsiteY63" fmla="*/ 88269 h 605804"/>
              <a:gd name="connsiteX64" fmla="*/ 429815 w 514281"/>
              <a:gd name="connsiteY64" fmla="*/ 66120 h 605804"/>
              <a:gd name="connsiteX65" fmla="*/ 448444 w 514281"/>
              <a:gd name="connsiteY65" fmla="*/ 84608 h 605804"/>
              <a:gd name="connsiteX66" fmla="*/ 409280 w 514281"/>
              <a:gd name="connsiteY66" fmla="*/ 123772 h 605804"/>
              <a:gd name="connsiteX67" fmla="*/ 390721 w 514281"/>
              <a:gd name="connsiteY67" fmla="*/ 105143 h 605804"/>
              <a:gd name="connsiteX68" fmla="*/ 84820 w 514281"/>
              <a:gd name="connsiteY68" fmla="*/ 66120 h 605804"/>
              <a:gd name="connsiteX69" fmla="*/ 123843 w 514281"/>
              <a:gd name="connsiteY69" fmla="*/ 105143 h 605804"/>
              <a:gd name="connsiteX70" fmla="*/ 105284 w 514281"/>
              <a:gd name="connsiteY70" fmla="*/ 123772 h 605804"/>
              <a:gd name="connsiteX71" fmla="*/ 66120 w 514281"/>
              <a:gd name="connsiteY71" fmla="*/ 84749 h 605804"/>
              <a:gd name="connsiteX72" fmla="*/ 243945 w 514281"/>
              <a:gd name="connsiteY72" fmla="*/ 0 h 605804"/>
              <a:gd name="connsiteX73" fmla="*/ 270266 w 514281"/>
              <a:gd name="connsiteY73" fmla="*/ 0 h 605804"/>
              <a:gd name="connsiteX74" fmla="*/ 270266 w 514281"/>
              <a:gd name="connsiteY74" fmla="*/ 55253 h 605804"/>
              <a:gd name="connsiteX75" fmla="*/ 243945 w 514281"/>
              <a:gd name="connsiteY75" fmla="*/ 55253 h 605804"/>
            </a:gdLst>
            <a:ahLst/>
            <a:cxnLst/>
            <a:rect l="l" t="t" r="r" b="b"/>
            <a:pathLst>
              <a:path w="514281" h="605804">
                <a:moveTo>
                  <a:pt x="204373" y="530626"/>
                </a:moveTo>
                <a:lnTo>
                  <a:pt x="204373" y="556952"/>
                </a:lnTo>
                <a:lnTo>
                  <a:pt x="311229" y="556952"/>
                </a:lnTo>
                <a:lnTo>
                  <a:pt x="311229" y="530626"/>
                </a:lnTo>
                <a:close/>
                <a:moveTo>
                  <a:pt x="204373" y="479178"/>
                </a:moveTo>
                <a:lnTo>
                  <a:pt x="204373" y="504299"/>
                </a:lnTo>
                <a:lnTo>
                  <a:pt x="311229" y="504299"/>
                </a:lnTo>
                <a:lnTo>
                  <a:pt x="311229" y="479178"/>
                </a:lnTo>
                <a:close/>
                <a:moveTo>
                  <a:pt x="458958" y="243592"/>
                </a:moveTo>
                <a:lnTo>
                  <a:pt x="514281" y="243592"/>
                </a:lnTo>
                <a:lnTo>
                  <a:pt x="514281" y="269913"/>
                </a:lnTo>
                <a:lnTo>
                  <a:pt x="458958" y="269913"/>
                </a:lnTo>
                <a:close/>
                <a:moveTo>
                  <a:pt x="0" y="243592"/>
                </a:moveTo>
                <a:lnTo>
                  <a:pt x="55323" y="243592"/>
                </a:lnTo>
                <a:lnTo>
                  <a:pt x="55323" y="269913"/>
                </a:lnTo>
                <a:lnTo>
                  <a:pt x="0" y="269913"/>
                </a:lnTo>
                <a:close/>
                <a:moveTo>
                  <a:pt x="263695" y="202846"/>
                </a:moveTo>
                <a:lnTo>
                  <a:pt x="192467" y="273946"/>
                </a:lnTo>
                <a:lnTo>
                  <a:pt x="237321" y="273946"/>
                </a:lnTo>
                <a:cubicBezTo>
                  <a:pt x="248001" y="273946"/>
                  <a:pt x="251530" y="280991"/>
                  <a:pt x="250601" y="288407"/>
                </a:cubicBezTo>
                <a:lnTo>
                  <a:pt x="246608" y="326599"/>
                </a:lnTo>
                <a:lnTo>
                  <a:pt x="320436" y="252904"/>
                </a:lnTo>
                <a:lnTo>
                  <a:pt x="275582" y="252904"/>
                </a:lnTo>
                <a:cubicBezTo>
                  <a:pt x="270010" y="252904"/>
                  <a:pt x="262302" y="250586"/>
                  <a:pt x="262302" y="239648"/>
                </a:cubicBezTo>
                <a:close/>
                <a:moveTo>
                  <a:pt x="283673" y="156984"/>
                </a:moveTo>
                <a:cubicBezTo>
                  <a:pt x="288142" y="159139"/>
                  <a:pt x="291462" y="163635"/>
                  <a:pt x="291462" y="168641"/>
                </a:cubicBezTo>
                <a:lnTo>
                  <a:pt x="290071" y="225094"/>
                </a:lnTo>
                <a:lnTo>
                  <a:pt x="290069" y="225094"/>
                </a:lnTo>
                <a:lnTo>
                  <a:pt x="290069" y="225187"/>
                </a:lnTo>
                <a:lnTo>
                  <a:pt x="290071" y="225094"/>
                </a:lnTo>
                <a:lnTo>
                  <a:pt x="353496" y="225094"/>
                </a:lnTo>
                <a:cubicBezTo>
                  <a:pt x="367798" y="225094"/>
                  <a:pt x="370398" y="240946"/>
                  <a:pt x="362783" y="247435"/>
                </a:cubicBezTo>
                <a:lnTo>
                  <a:pt x="240014" y="369982"/>
                </a:lnTo>
                <a:cubicBezTo>
                  <a:pt x="231378" y="376749"/>
                  <a:pt x="217634" y="373041"/>
                  <a:pt x="217634" y="359414"/>
                </a:cubicBezTo>
                <a:lnTo>
                  <a:pt x="222927" y="298882"/>
                </a:lnTo>
                <a:lnTo>
                  <a:pt x="160893" y="298882"/>
                </a:lnTo>
                <a:cubicBezTo>
                  <a:pt x="148077" y="298882"/>
                  <a:pt x="141484" y="286646"/>
                  <a:pt x="151606" y="276542"/>
                </a:cubicBezTo>
                <a:lnTo>
                  <a:pt x="268988" y="159371"/>
                </a:lnTo>
                <a:cubicBezTo>
                  <a:pt x="273585" y="155014"/>
                  <a:pt x="279204" y="154829"/>
                  <a:pt x="283673" y="156984"/>
                </a:cubicBezTo>
                <a:close/>
                <a:moveTo>
                  <a:pt x="250606" y="114503"/>
                </a:moveTo>
                <a:cubicBezTo>
                  <a:pt x="179399" y="118396"/>
                  <a:pt x="121375" y="173830"/>
                  <a:pt x="114784" y="244837"/>
                </a:cubicBezTo>
                <a:cubicBezTo>
                  <a:pt x="110792" y="289610"/>
                  <a:pt x="126667" y="331788"/>
                  <a:pt x="159624" y="362007"/>
                </a:cubicBezTo>
                <a:cubicBezTo>
                  <a:pt x="186083" y="387407"/>
                  <a:pt x="201680" y="419388"/>
                  <a:pt x="204001" y="452852"/>
                </a:cubicBezTo>
                <a:lnTo>
                  <a:pt x="311322" y="452852"/>
                </a:lnTo>
                <a:cubicBezTo>
                  <a:pt x="313086" y="418553"/>
                  <a:pt x="328683" y="386758"/>
                  <a:pt x="354678" y="362007"/>
                </a:cubicBezTo>
                <a:cubicBezTo>
                  <a:pt x="383736" y="334476"/>
                  <a:pt x="400819" y="297489"/>
                  <a:pt x="400819" y="258000"/>
                </a:cubicBezTo>
                <a:cubicBezTo>
                  <a:pt x="400819" y="176425"/>
                  <a:pt x="332304" y="110517"/>
                  <a:pt x="250606" y="114503"/>
                </a:cubicBezTo>
                <a:close/>
                <a:moveTo>
                  <a:pt x="249213" y="88269"/>
                </a:moveTo>
                <a:cubicBezTo>
                  <a:pt x="346786" y="82985"/>
                  <a:pt x="427185" y="161964"/>
                  <a:pt x="427556" y="258092"/>
                </a:cubicBezTo>
                <a:cubicBezTo>
                  <a:pt x="427556" y="304164"/>
                  <a:pt x="407782" y="350142"/>
                  <a:pt x="373524" y="381845"/>
                </a:cubicBezTo>
                <a:cubicBezTo>
                  <a:pt x="351057" y="402795"/>
                  <a:pt x="337874" y="430511"/>
                  <a:pt x="337874" y="460824"/>
                </a:cubicBezTo>
                <a:lnTo>
                  <a:pt x="337874" y="571413"/>
                </a:lnTo>
                <a:cubicBezTo>
                  <a:pt x="337874" y="577995"/>
                  <a:pt x="331190" y="583278"/>
                  <a:pt x="324598" y="583278"/>
                </a:cubicBezTo>
                <a:lnTo>
                  <a:pt x="270473" y="583278"/>
                </a:lnTo>
                <a:lnTo>
                  <a:pt x="270473" y="592548"/>
                </a:lnTo>
                <a:cubicBezTo>
                  <a:pt x="270473" y="600428"/>
                  <a:pt x="265182" y="605804"/>
                  <a:pt x="257290" y="605804"/>
                </a:cubicBezTo>
                <a:cubicBezTo>
                  <a:pt x="249306" y="605804"/>
                  <a:pt x="244014" y="600428"/>
                  <a:pt x="244014" y="592548"/>
                </a:cubicBezTo>
                <a:lnTo>
                  <a:pt x="244014" y="583278"/>
                </a:lnTo>
                <a:lnTo>
                  <a:pt x="189890" y="583278"/>
                </a:lnTo>
                <a:cubicBezTo>
                  <a:pt x="181999" y="583278"/>
                  <a:pt x="176707" y="577995"/>
                  <a:pt x="176707" y="570023"/>
                </a:cubicBezTo>
                <a:lnTo>
                  <a:pt x="176707" y="460824"/>
                </a:lnTo>
                <a:cubicBezTo>
                  <a:pt x="176707" y="430511"/>
                  <a:pt x="163524" y="402795"/>
                  <a:pt x="139757" y="380454"/>
                </a:cubicBezTo>
                <a:cubicBezTo>
                  <a:pt x="101508" y="344951"/>
                  <a:pt x="83126" y="293596"/>
                  <a:pt x="87025" y="242241"/>
                </a:cubicBezTo>
                <a:cubicBezTo>
                  <a:pt x="95009" y="158071"/>
                  <a:pt x="164823" y="92255"/>
                  <a:pt x="249213" y="88269"/>
                </a:cubicBezTo>
                <a:close/>
                <a:moveTo>
                  <a:pt x="429815" y="66120"/>
                </a:moveTo>
                <a:lnTo>
                  <a:pt x="448444" y="84608"/>
                </a:lnTo>
                <a:lnTo>
                  <a:pt x="409280" y="123772"/>
                </a:lnTo>
                <a:lnTo>
                  <a:pt x="390721" y="105143"/>
                </a:lnTo>
                <a:close/>
                <a:moveTo>
                  <a:pt x="84820" y="66120"/>
                </a:moveTo>
                <a:lnTo>
                  <a:pt x="123843" y="105143"/>
                </a:lnTo>
                <a:lnTo>
                  <a:pt x="105284" y="123772"/>
                </a:lnTo>
                <a:lnTo>
                  <a:pt x="66120" y="84749"/>
                </a:lnTo>
                <a:close/>
                <a:moveTo>
                  <a:pt x="243945" y="0"/>
                </a:moveTo>
                <a:lnTo>
                  <a:pt x="270266" y="0"/>
                </a:lnTo>
                <a:lnTo>
                  <a:pt x="270266" y="55253"/>
                </a:lnTo>
                <a:lnTo>
                  <a:pt x="243945" y="552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60400" y="-672311"/>
            <a:ext cx="0" cy="42953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等腰三角形 15"/>
          <p:cNvSpPr>
            <a:spLocks noGrp="1"/>
          </p:cNvSpPr>
          <p:nvPr/>
        </p:nvSpPr>
        <p:spPr>
          <a:xfrm rot="5400000">
            <a:off x="656742" y="-480405"/>
            <a:ext cx="53036" cy="4572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706120" y="-642211"/>
            <a:ext cx="5803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选中背景图片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Delete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，点击中间图标即可插入新图片</a:t>
            </a:r>
            <a:endParaRPr sz="1800" b="0" i="0" u="none" cap="none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6582625" y="-672311"/>
            <a:ext cx="188305" cy="425834"/>
          </a:xfrm>
          <a:custGeom>
            <a:avLst/>
            <a:gdLst/>
            <a:ahLst/>
            <a:cxnLst/>
            <a:rect l="l" t="t" r="r" b="b"/>
            <a:pathLst>
              <a:path w="188305" h="425834">
                <a:moveTo>
                  <a:pt x="137517" y="318455"/>
                </a:moveTo>
                <a:cubicBezTo>
                  <a:pt x="151358" y="318455"/>
                  <a:pt x="161479" y="320222"/>
                  <a:pt x="167878" y="323757"/>
                </a:cubicBezTo>
                <a:cubicBezTo>
                  <a:pt x="174278" y="327291"/>
                  <a:pt x="179282" y="333003"/>
                  <a:pt x="182891" y="340890"/>
                </a:cubicBezTo>
                <a:cubicBezTo>
                  <a:pt x="186500" y="348778"/>
                  <a:pt x="188305" y="358303"/>
                  <a:pt x="188305" y="369465"/>
                </a:cubicBezTo>
                <a:cubicBezTo>
                  <a:pt x="188305" y="381669"/>
                  <a:pt x="186333" y="392069"/>
                  <a:pt x="182389" y="400664"/>
                </a:cubicBezTo>
                <a:cubicBezTo>
                  <a:pt x="178445" y="409258"/>
                  <a:pt x="173478" y="414951"/>
                  <a:pt x="167488" y="417742"/>
                </a:cubicBezTo>
                <a:cubicBezTo>
                  <a:pt x="161497" y="420532"/>
                  <a:pt x="151321" y="421927"/>
                  <a:pt x="136959" y="421927"/>
                </a:cubicBezTo>
                <a:lnTo>
                  <a:pt x="129815" y="421927"/>
                </a:lnTo>
                <a:lnTo>
                  <a:pt x="129815" y="378283"/>
                </a:lnTo>
                <a:lnTo>
                  <a:pt x="143210" y="378283"/>
                </a:lnTo>
                <a:cubicBezTo>
                  <a:pt x="149461" y="378283"/>
                  <a:pt x="153442" y="377725"/>
                  <a:pt x="155153" y="376609"/>
                </a:cubicBezTo>
                <a:cubicBezTo>
                  <a:pt x="156865" y="375493"/>
                  <a:pt x="157721" y="373633"/>
                  <a:pt x="157721" y="371028"/>
                </a:cubicBezTo>
                <a:cubicBezTo>
                  <a:pt x="157721" y="368200"/>
                  <a:pt x="156566" y="366061"/>
                  <a:pt x="154258" y="364610"/>
                </a:cubicBezTo>
                <a:cubicBezTo>
                  <a:pt x="151949" y="363159"/>
                  <a:pt x="148449" y="362433"/>
                  <a:pt x="143758" y="362433"/>
                </a:cubicBezTo>
                <a:cubicBezTo>
                  <a:pt x="137727" y="362433"/>
                  <a:pt x="133184" y="363249"/>
                  <a:pt x="130131" y="364880"/>
                </a:cubicBezTo>
                <a:cubicBezTo>
                  <a:pt x="127078" y="366438"/>
                  <a:pt x="123395" y="370865"/>
                  <a:pt x="119082" y="378160"/>
                </a:cubicBezTo>
                <a:cubicBezTo>
                  <a:pt x="106667" y="399078"/>
                  <a:pt x="96478" y="412254"/>
                  <a:pt x="88516" y="417686"/>
                </a:cubicBezTo>
                <a:cubicBezTo>
                  <a:pt x="80553" y="423118"/>
                  <a:pt x="67717" y="425834"/>
                  <a:pt x="50006" y="425834"/>
                </a:cubicBezTo>
                <a:cubicBezTo>
                  <a:pt x="37133" y="425834"/>
                  <a:pt x="27645" y="424327"/>
                  <a:pt x="21543" y="421313"/>
                </a:cubicBezTo>
                <a:cubicBezTo>
                  <a:pt x="15441" y="418300"/>
                  <a:pt x="10325" y="412477"/>
                  <a:pt x="6195" y="403845"/>
                </a:cubicBezTo>
                <a:cubicBezTo>
                  <a:pt x="2065" y="395213"/>
                  <a:pt x="0" y="385167"/>
                  <a:pt x="0" y="373707"/>
                </a:cubicBezTo>
                <a:cubicBezTo>
                  <a:pt x="0" y="361131"/>
                  <a:pt x="2381" y="350397"/>
                  <a:pt x="7144" y="341504"/>
                </a:cubicBezTo>
                <a:cubicBezTo>
                  <a:pt x="11906" y="332612"/>
                  <a:pt x="17971" y="326789"/>
                  <a:pt x="25338" y="324036"/>
                </a:cubicBezTo>
                <a:cubicBezTo>
                  <a:pt x="32705" y="321282"/>
                  <a:pt x="43160" y="319906"/>
                  <a:pt x="56704" y="319906"/>
                </a:cubicBezTo>
                <a:lnTo>
                  <a:pt x="68535" y="319906"/>
                </a:lnTo>
                <a:lnTo>
                  <a:pt x="68535" y="363549"/>
                </a:lnTo>
                <a:lnTo>
                  <a:pt x="46546" y="363549"/>
                </a:lnTo>
                <a:cubicBezTo>
                  <a:pt x="39774" y="363549"/>
                  <a:pt x="35421" y="364163"/>
                  <a:pt x="33486" y="365391"/>
                </a:cubicBezTo>
                <a:cubicBezTo>
                  <a:pt x="31552" y="366619"/>
                  <a:pt x="30584" y="368796"/>
                  <a:pt x="30584" y="371921"/>
                </a:cubicBezTo>
                <a:cubicBezTo>
                  <a:pt x="30584" y="375046"/>
                  <a:pt x="31812" y="377372"/>
                  <a:pt x="34268" y="378897"/>
                </a:cubicBezTo>
                <a:cubicBezTo>
                  <a:pt x="36723" y="380423"/>
                  <a:pt x="40370" y="381186"/>
                  <a:pt x="45207" y="381186"/>
                </a:cubicBezTo>
                <a:cubicBezTo>
                  <a:pt x="55848" y="381186"/>
                  <a:pt x="62806" y="379735"/>
                  <a:pt x="66080" y="376832"/>
                </a:cubicBezTo>
                <a:cubicBezTo>
                  <a:pt x="69354" y="373856"/>
                  <a:pt x="74823" y="366526"/>
                  <a:pt x="82488" y="354843"/>
                </a:cubicBezTo>
                <a:cubicBezTo>
                  <a:pt x="90227" y="343160"/>
                  <a:pt x="95845" y="335421"/>
                  <a:pt x="99343" y="331626"/>
                </a:cubicBezTo>
                <a:cubicBezTo>
                  <a:pt x="102840" y="327831"/>
                  <a:pt x="107677" y="324687"/>
                  <a:pt x="113854" y="322194"/>
                </a:cubicBezTo>
                <a:cubicBezTo>
                  <a:pt x="120030" y="319701"/>
                  <a:pt x="127918" y="318455"/>
                  <a:pt x="137517" y="318455"/>
                </a:cubicBezTo>
                <a:close/>
                <a:moveTo>
                  <a:pt x="107603" y="245529"/>
                </a:moveTo>
                <a:cubicBezTo>
                  <a:pt x="107528" y="246868"/>
                  <a:pt x="107491" y="248022"/>
                  <a:pt x="107491" y="248989"/>
                </a:cubicBezTo>
                <a:cubicBezTo>
                  <a:pt x="107491" y="253305"/>
                  <a:pt x="108552" y="256300"/>
                  <a:pt x="110672" y="257975"/>
                </a:cubicBezTo>
                <a:cubicBezTo>
                  <a:pt x="112793" y="259649"/>
                  <a:pt x="117202" y="260486"/>
                  <a:pt x="123900" y="260486"/>
                </a:cubicBezTo>
                <a:lnTo>
                  <a:pt x="138745" y="260486"/>
                </a:lnTo>
                <a:cubicBezTo>
                  <a:pt x="144922" y="260486"/>
                  <a:pt x="148940" y="259519"/>
                  <a:pt x="150800" y="257584"/>
                </a:cubicBezTo>
                <a:cubicBezTo>
                  <a:pt x="152661" y="255649"/>
                  <a:pt x="153591" y="251631"/>
                  <a:pt x="153591" y="245529"/>
                </a:cubicBezTo>
                <a:close/>
                <a:moveTo>
                  <a:pt x="3795" y="198536"/>
                </a:moveTo>
                <a:lnTo>
                  <a:pt x="184510" y="198536"/>
                </a:lnTo>
                <a:lnTo>
                  <a:pt x="184510" y="245864"/>
                </a:lnTo>
                <a:cubicBezTo>
                  <a:pt x="184510" y="258663"/>
                  <a:pt x="183505" y="268504"/>
                  <a:pt x="181496" y="275387"/>
                </a:cubicBezTo>
                <a:cubicBezTo>
                  <a:pt x="179487" y="282271"/>
                  <a:pt x="176585" y="287443"/>
                  <a:pt x="172790" y="290903"/>
                </a:cubicBezTo>
                <a:cubicBezTo>
                  <a:pt x="168994" y="294363"/>
                  <a:pt x="164399" y="296707"/>
                  <a:pt x="159004" y="297935"/>
                </a:cubicBezTo>
                <a:cubicBezTo>
                  <a:pt x="153609" y="299163"/>
                  <a:pt x="145256" y="299777"/>
                  <a:pt x="133945" y="299777"/>
                </a:cubicBezTo>
                <a:lnTo>
                  <a:pt x="118207" y="299777"/>
                </a:lnTo>
                <a:cubicBezTo>
                  <a:pt x="106673" y="299777"/>
                  <a:pt x="98264" y="298586"/>
                  <a:pt x="92981" y="296205"/>
                </a:cubicBezTo>
                <a:cubicBezTo>
                  <a:pt x="87697" y="293824"/>
                  <a:pt x="83642" y="289452"/>
                  <a:pt x="80814" y="283089"/>
                </a:cubicBezTo>
                <a:cubicBezTo>
                  <a:pt x="77986" y="276727"/>
                  <a:pt x="76572" y="268411"/>
                  <a:pt x="76572" y="258142"/>
                </a:cubicBezTo>
                <a:lnTo>
                  <a:pt x="76572" y="245529"/>
                </a:lnTo>
                <a:lnTo>
                  <a:pt x="3795" y="245529"/>
                </a:lnTo>
                <a:close/>
                <a:moveTo>
                  <a:pt x="3795" y="122336"/>
                </a:moveTo>
                <a:lnTo>
                  <a:pt x="184510" y="122336"/>
                </a:lnTo>
                <a:lnTo>
                  <a:pt x="184510" y="169329"/>
                </a:lnTo>
                <a:lnTo>
                  <a:pt x="3795" y="169329"/>
                </a:lnTo>
                <a:close/>
                <a:moveTo>
                  <a:pt x="148345" y="0"/>
                </a:moveTo>
                <a:lnTo>
                  <a:pt x="184510" y="0"/>
                </a:lnTo>
                <a:lnTo>
                  <a:pt x="184510" y="102691"/>
                </a:lnTo>
                <a:lnTo>
                  <a:pt x="148345" y="102691"/>
                </a:lnTo>
                <a:lnTo>
                  <a:pt x="148345" y="74786"/>
                </a:lnTo>
                <a:lnTo>
                  <a:pt x="3795" y="74786"/>
                </a:lnTo>
                <a:lnTo>
                  <a:pt x="3795" y="27793"/>
                </a:lnTo>
                <a:lnTo>
                  <a:pt x="148345" y="277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34" name="图片 19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6F1A5B"/>
              </a:clrFrom>
              <a:clrTo>
                <a:srgbClr val="6F1A5B">
                  <a:alpha val="0"/>
                </a:srgbClr>
              </a:clrTo>
            </a:clrChange>
          </a:blip>
          <a:srcRect l="27693" t="50695" r="23620" b="23753"/>
          <a:stretch>
            <a:fillRect/>
          </a:stretch>
        </p:blipFill>
        <p:spPr>
          <a:xfrm>
            <a:off x="358313" y="0"/>
            <a:ext cx="2298038" cy="8964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ferences-title-band"/>
          <p:cNvSpPr>
            <a:spLocks noGrp="1"/>
          </p:cNvSpPr>
          <p:nvPr/>
        </p:nvSpPr>
        <p:spPr>
          <a:xfrm>
            <a:off x="685800" y="878840"/>
            <a:ext cx="10820400" cy="628650"/>
          </a:xfrm>
          <a:prstGeom prst="rect">
            <a:avLst/>
          </a:prstGeom>
          <a:solidFill>
            <a:srgbClr val="F3E8F7"/>
          </a:solidFill>
          <a:ln w="9525">
            <a:solidFill>
              <a:srgbClr val="D8A7D0"/>
            </a:solidFill>
            <a:prstDash val="solid"/>
          </a:ln>
        </p:spPr>
      </p:sp>
      <p:sp>
        <p:nvSpPr>
          <p:cNvPr id="3" name="references-title"/>
          <p:cNvSpPr>
            <a:spLocks noGrp="1"/>
          </p:cNvSpPr>
          <p:nvPr/>
        </p:nvSpPr>
        <p:spPr>
          <a:xfrm>
            <a:off x="818515" y="1002665"/>
            <a:ext cx="666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参考文献与理论依据</a:t>
            </a:r>
            <a:endParaRPr sz="2250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ferences-note"/>
          <p:cNvSpPr>
            <a:spLocks noGrp="1"/>
          </p:cNvSpPr>
          <p:nvPr/>
        </p:nvSpPr>
        <p:spPr>
          <a:xfrm>
            <a:off x="7698105" y="10477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校园舆情研判 · 社交媒体事件识别 · 情感分析 · 人工复核与AI风险治理</a:t>
            </a:r>
            <a:endParaRPr sz="105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ferences-divider"/>
          <p:cNvSpPr>
            <a:spLocks noGrp="1"/>
          </p:cNvSpPr>
          <p:nvPr/>
        </p:nvSpPr>
        <p:spPr>
          <a:xfrm>
            <a:off x="6096000" y="1619250"/>
            <a:ext cx="19050" cy="4095750"/>
          </a:xfrm>
          <a:prstGeom prst="rect">
            <a:avLst/>
          </a:prstGeom>
          <a:solidFill>
            <a:srgbClr val="C78ABD"/>
          </a:solidFill>
          <a:ln w="0">
            <a:noFill/>
            <a:prstDash val="solid"/>
          </a:ln>
        </p:spPr>
      </p:sp>
      <p:sp>
        <p:nvSpPr>
          <p:cNvPr id="6" name="references-left"/>
          <p:cNvSpPr>
            <a:spLocks noGrp="1"/>
          </p:cNvSpPr>
          <p:nvPr/>
        </p:nvSpPr>
        <p:spPr>
          <a:xfrm>
            <a:off x="914400" y="1666875"/>
            <a:ext cx="485775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Xu Z, Ye Z, Ye H, et al. Public Opinion Evolution Law and Sentiment Analysis of Campus Online Public Opinion Events. JACIII, 2024, 28(4): 990–1004. DOI: 10.20965/jaciii.2024.p0990</a:t>
            </a:r>
            <a:endParaRPr sz="1125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125"/>
          </a:p>
          <a:p>
            <a:pPr algn="l">
              <a:buNone/>
              <a:defRPr sz="1125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[2] Jones N M, Thompson R R, Dunkel Schetter C, Silver R C. Distress and rumor exposure on social media during a campus lockdown. PNAS, 2017, 114(44): 11663–11668. DOI: 10.1073/pnas.1708518114</a:t>
            </a:r>
            <a:endParaRPr sz="1125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125"/>
          </a:p>
          <a:p>
            <a:pPr algn="l">
              <a:buNone/>
              <a:defRPr sz="1125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[3] Li P, Yu X, Peng H, et al. Relational Prompt-Based Pre-Trained Language Models for Social Event Detection. ACM TOIS, 2025, 43(1): 1–43. DOI: 10.1145/3695869</a:t>
            </a:r>
            <a:endParaRPr sz="1125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125"/>
          </a:p>
          <a:p>
            <a:pPr algn="l">
              <a:buNone/>
              <a:defRPr sz="1125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[4] Xu W, Liu L, Shang W. Leveraging cross-media analytics to detect events and mine opinions for emergency management. Online Information Review, 2017, 41(4): 487–506. DOI: 10.1108/OIR-08-2015-0286</a:t>
            </a:r>
            <a:endParaRPr sz="1125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ferences-right"/>
          <p:cNvSpPr>
            <a:spLocks noGrp="1"/>
          </p:cNvSpPr>
          <p:nvPr/>
        </p:nvSpPr>
        <p:spPr>
          <a:xfrm>
            <a:off x="6438900" y="1666875"/>
            <a:ext cx="485775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[5] Tian H, Gao C, Xiao X, et al. SKEP: Sentiment Knowledge Enhanced Pre-training for Sentiment Analysis. ACL, 2020: 4067–4076. DOI: 10.18653/v1/2020.acl-main.374</a:t>
            </a:r>
            <a:endParaRPr sz="1125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125"/>
          </a:p>
          <a:p>
            <a:pPr algn="l">
              <a:buNone/>
              <a:defRPr sz="1125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[6] Lazaros K, Vrahatis A G, Kotsiantis S. Human-in-the-Loop Artificial Intelligence: A Systematic Review of Concepts, Methods, and Applications. Entropy, 2026, 28(4): 377. DOI: 10.3390/e28040377</a:t>
            </a:r>
            <a:endParaRPr sz="1125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125"/>
          </a:p>
          <a:p>
            <a:pPr algn="l">
              <a:buNone/>
              <a:defRPr sz="1125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[7] National Institute of Standards and Technology. Artificial Intelligence Risk Management Framework (AI RMF 1.0). NIST AI 100-1, 2023. DOI: 10.6028/NIST.AI.100-1</a:t>
            </a:r>
            <a:endParaRPr sz="1125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125"/>
          </a:p>
          <a:p>
            <a:pPr algn="l">
              <a:buNone/>
              <a:defRPr sz="1125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说明：本页为答辩备用页；正文讲解时可不展示。</a:t>
            </a:r>
            <a:endParaRPr sz="1125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ferences-footer"/>
          <p:cNvSpPr>
            <a:spLocks noGrp="1"/>
          </p:cNvSpPr>
          <p:nvPr/>
        </p:nvSpPr>
        <p:spPr>
          <a:xfrm>
            <a:off x="914400" y="6115050"/>
            <a:ext cx="1036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项目参考文献均可通过 DOI 检索；平台实现以项目当前代码、接口与真实运行界面为准。</a:t>
            </a:r>
            <a:endParaRPr sz="1050">
              <a:solidFill>
                <a:srgbClr val="7E0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" y="142875"/>
            <a:ext cx="2002790" cy="577215"/>
          </a:xfrm>
          <a:prstGeom prst="rect">
            <a:avLst/>
          </a:prstGeom>
        </p:spPr>
      </p:pic>
      <p:sp>
        <p:nvSpPr>
          <p:cNvPr id="20" name="top-bar"/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7E0C6E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top-bar"/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7E0C6E"/>
          </a:solidFill>
          <a:ln w="0">
            <a:noFill/>
            <a:prstDash val="solid"/>
          </a:ln>
        </p:spPr>
      </p:sp>
      <p:sp>
        <p:nvSpPr>
          <p:cNvPr id="2" name="page-title"/>
          <p:cNvSpPr>
            <a:spLocks noGrp="1"/>
          </p:cNvSpPr>
          <p:nvPr/>
        </p:nvSpPr>
        <p:spPr>
          <a:xfrm>
            <a:off x="781050" y="675005"/>
            <a:ext cx="1038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第一部分｜论文总结与研究启示</a:t>
            </a:r>
            <a:endParaRPr sz="2475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-subtitle"/>
          <p:cNvSpPr>
            <a:spLocks noGrp="1"/>
          </p:cNvSpPr>
          <p:nvPr/>
        </p:nvSpPr>
        <p:spPr>
          <a:xfrm>
            <a:off x="723265" y="1209675"/>
            <a:ext cx="1000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75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75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相关研究为风险识别提供方法依据，课题重点在于把研究思路转化为可落地的平台能力</a:t>
            </a:r>
            <a:endParaRPr sz="1275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method-number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962150" y="1952625"/>
            <a:ext cx="1619250" cy="666750"/>
          </a:xfrm>
          <a:prstGeom prst="rect">
            <a:avLst/>
          </a:prstGeom>
          <a:solidFill>
            <a:srgbClr val="F3E8F7"/>
          </a:solidFill>
          <a:ln w="9525">
            <a:solidFill>
              <a:srgbClr val="B26DA8"/>
            </a:solidFill>
            <a:prstDash val="solid"/>
          </a:ln>
        </p:spPr>
      </p:sp>
      <p:sp>
        <p:nvSpPr>
          <p:cNvPr id="5" name="method-no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962150" y="2057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100" b="1">
              <a:solidFill>
                <a:srgbClr val="7E0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method-head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200150" y="29051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校园舆情分析</a:t>
            </a:r>
            <a:endParaRPr sz="1725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method-body-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200150" y="3381375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主题、情感、趋势与风险线索的综合研判</a:t>
            </a:r>
            <a:endParaRPr sz="1275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method-number-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581650" y="1952625"/>
            <a:ext cx="1619250" cy="666750"/>
          </a:xfrm>
          <a:prstGeom prst="rect">
            <a:avLst/>
          </a:prstGeom>
          <a:solidFill>
            <a:srgbClr val="7E0C6E"/>
          </a:solidFill>
          <a:ln w="9525">
            <a:solidFill>
              <a:srgbClr val="B26DA8"/>
            </a:solidFill>
            <a:prstDash val="solid"/>
          </a:ln>
        </p:spPr>
      </p:sp>
      <p:sp>
        <p:nvSpPr>
          <p:cNvPr id="9" name="method-no-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581650" y="2057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ethod-head-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819650" y="29051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事件识别与预警</a:t>
            </a:r>
            <a:endParaRPr sz="1725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method-body-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819650" y="3381375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将关联信息聚合为事件，并支撑及时响应</a:t>
            </a:r>
            <a:endParaRPr sz="1275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method-number-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201150" y="1952625"/>
            <a:ext cx="1619250" cy="666750"/>
          </a:xfrm>
          <a:prstGeom prst="rect">
            <a:avLst/>
          </a:prstGeom>
          <a:solidFill>
            <a:srgbClr val="F3E8F7"/>
          </a:solidFill>
          <a:ln w="9525">
            <a:solidFill>
              <a:srgbClr val="B26DA8"/>
            </a:solidFill>
            <a:prstDash val="solid"/>
          </a:ln>
        </p:spPr>
      </p:sp>
      <p:sp>
        <p:nvSpPr>
          <p:cNvPr id="13" name="method-no-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201150" y="2057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100" b="1">
              <a:solidFill>
                <a:srgbClr val="7E0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method-head-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439150" y="29051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人类在环治理</a:t>
            </a:r>
            <a:endParaRPr sz="1725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method-body-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8439150" y="3381375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辅助，人工复核与责任留痕</a:t>
            </a:r>
            <a:endParaRPr sz="1275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insight-band"/>
          <p:cNvSpPr>
            <a:spLocks noGrp="1"/>
          </p:cNvSpPr>
          <p:nvPr/>
        </p:nvSpPr>
        <p:spPr>
          <a:xfrm>
            <a:off x="642620" y="4286250"/>
            <a:ext cx="11144250" cy="1410335"/>
          </a:xfrm>
          <a:prstGeom prst="rect">
            <a:avLst/>
          </a:prstGeom>
          <a:solidFill>
            <a:srgbClr val="7E0C6E"/>
          </a:solidFill>
          <a:ln w="0">
            <a:noFill/>
            <a:prstDash val="solid"/>
          </a:ln>
        </p:spPr>
      </p:sp>
      <p:sp>
        <p:nvSpPr>
          <p:cNvPr id="17" name="insight-head"/>
          <p:cNvSpPr>
            <a:spLocks noGrp="1"/>
          </p:cNvSpPr>
          <p:nvPr/>
        </p:nvSpPr>
        <p:spPr>
          <a:xfrm>
            <a:off x="963930" y="48101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研究启示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insight-body"/>
          <p:cNvSpPr>
            <a:spLocks noGrp="1"/>
          </p:cNvSpPr>
          <p:nvPr/>
        </p:nvSpPr>
        <p:spPr>
          <a:xfrm>
            <a:off x="2477135" y="4667250"/>
            <a:ext cx="8731885" cy="7156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>
                <a:solidFill>
                  <a:srgbClr val="F3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F3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课题不简单复现单一算法，而是将“识别风险”的研究思路延伸为“发现—研判—处置—留痕”的治理闭环。</a:t>
            </a:r>
            <a:endParaRPr sz="1350">
              <a:solidFill>
                <a:srgbClr val="F3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citation-note"/>
          <p:cNvSpPr>
            <a:spLocks noGrp="1"/>
          </p:cNvSpPr>
          <p:nvPr/>
        </p:nvSpPr>
        <p:spPr>
          <a:xfrm>
            <a:off x="1047750" y="6000750"/>
            <a:ext cx="1009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文献依据：校园舆情分析、社交媒体事件识别、应急预警、人类在环 AI 与 AI 风险治理相关研究。</a:t>
            </a:r>
            <a:endParaRPr sz="1125">
              <a:solidFill>
                <a:srgbClr val="7E0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图片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705" y="142875"/>
            <a:ext cx="2002790" cy="5772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" name="图片占位符 4"/>
          <p:cNvPicPr>
            <a:picLocks noChangeAspect="1"/>
          </p:cNvPicPr>
          <p:nvPr>
            <p:ph type="pic" idx="13"/>
          </p:nvPr>
        </p:nvPicPr>
        <p:blipFill>
          <a:blip r:embed="rId1"/>
          <a:srcRect l="10404" r="10404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3098801" y="3693453"/>
            <a:ext cx="59943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400" b="1" i="0" u="none" cap="none">
                <a:ln>
                  <a:noFill/>
                </a:ln>
                <a:solidFill>
                  <a:prstClr val="white"/>
                </a:solidFill>
              </a:rPr>
              <a:t>选题背景及意义</a:t>
            </a:r>
            <a:endParaRPr sz="5400" b="1" i="0" u="none" cap="none">
              <a:ln>
                <a:noFill/>
              </a:ln>
              <a:solidFill>
                <a:prstClr val="white"/>
              </a:solidFill>
            </a:endParaRPr>
          </a:p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5223446" y="1419440"/>
            <a:ext cx="1745108" cy="174510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400" b="1" i="0" u="none" cap="none">
                <a:ln>
                  <a:noFill/>
                </a:ln>
                <a:solidFill>
                  <a:srgbClr val="7E0C6E"/>
                </a:solidFill>
              </a:rPr>
              <a:t>02</a:t>
            </a:r>
            <a:endParaRPr sz="5400" b="1" i="0" u="none" cap="none">
              <a:ln>
                <a:noFill/>
              </a:ln>
              <a:solidFill>
                <a:srgbClr val="7E0C6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0" y="-800444"/>
            <a:ext cx="6904036" cy="685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 flipH="1">
            <a:off x="0" y="-800444"/>
            <a:ext cx="52388" cy="685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221028" y="-608600"/>
            <a:ext cx="236342" cy="236342"/>
          </a:xfrm>
          <a:prstGeom prst="ellipse">
            <a:avLst/>
          </a:prstGeom>
          <a:solidFill>
            <a:srgbClr val="FED1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" name="Oval 7"/>
          <p:cNvSpPr>
            <a:spLocks noGrp="1"/>
          </p:cNvSpPr>
          <p:nvPr/>
        </p:nvSpPr>
        <p:spPr>
          <a:xfrm>
            <a:off x="156880" y="-672311"/>
            <a:ext cx="364639" cy="429532"/>
          </a:xfrm>
          <a:custGeom>
            <a:avLst/>
            <a:gdLst>
              <a:gd name="connsiteX0" fmla="*/ 204373 w 514281"/>
              <a:gd name="connsiteY0" fmla="*/ 530626 h 605804"/>
              <a:gd name="connsiteX1" fmla="*/ 204373 w 514281"/>
              <a:gd name="connsiteY1" fmla="*/ 556952 h 605804"/>
              <a:gd name="connsiteX2" fmla="*/ 311229 w 514281"/>
              <a:gd name="connsiteY2" fmla="*/ 556952 h 605804"/>
              <a:gd name="connsiteX3" fmla="*/ 311229 w 514281"/>
              <a:gd name="connsiteY3" fmla="*/ 530626 h 605804"/>
              <a:gd name="connsiteX4" fmla="*/ 204373 w 514281"/>
              <a:gd name="connsiteY4" fmla="*/ 479178 h 605804"/>
              <a:gd name="connsiteX5" fmla="*/ 204373 w 514281"/>
              <a:gd name="connsiteY5" fmla="*/ 504299 h 605804"/>
              <a:gd name="connsiteX6" fmla="*/ 311229 w 514281"/>
              <a:gd name="connsiteY6" fmla="*/ 504299 h 605804"/>
              <a:gd name="connsiteX7" fmla="*/ 311229 w 514281"/>
              <a:gd name="connsiteY7" fmla="*/ 479178 h 605804"/>
              <a:gd name="connsiteX8" fmla="*/ 458958 w 514281"/>
              <a:gd name="connsiteY8" fmla="*/ 243592 h 605804"/>
              <a:gd name="connsiteX9" fmla="*/ 514281 w 514281"/>
              <a:gd name="connsiteY9" fmla="*/ 243592 h 605804"/>
              <a:gd name="connsiteX10" fmla="*/ 514281 w 514281"/>
              <a:gd name="connsiteY10" fmla="*/ 269913 h 605804"/>
              <a:gd name="connsiteX11" fmla="*/ 458958 w 514281"/>
              <a:gd name="connsiteY11" fmla="*/ 269913 h 605804"/>
              <a:gd name="connsiteX12" fmla="*/ 0 w 514281"/>
              <a:gd name="connsiteY12" fmla="*/ 243592 h 605804"/>
              <a:gd name="connsiteX13" fmla="*/ 55323 w 514281"/>
              <a:gd name="connsiteY13" fmla="*/ 243592 h 605804"/>
              <a:gd name="connsiteX14" fmla="*/ 55323 w 514281"/>
              <a:gd name="connsiteY14" fmla="*/ 269913 h 605804"/>
              <a:gd name="connsiteX15" fmla="*/ 0 w 514281"/>
              <a:gd name="connsiteY15" fmla="*/ 269913 h 605804"/>
              <a:gd name="connsiteX16" fmla="*/ 263695 w 514281"/>
              <a:gd name="connsiteY16" fmla="*/ 202846 h 605804"/>
              <a:gd name="connsiteX17" fmla="*/ 192467 w 514281"/>
              <a:gd name="connsiteY17" fmla="*/ 273946 h 605804"/>
              <a:gd name="connsiteX18" fmla="*/ 237321 w 514281"/>
              <a:gd name="connsiteY18" fmla="*/ 273946 h 605804"/>
              <a:gd name="connsiteX19" fmla="*/ 250601 w 514281"/>
              <a:gd name="connsiteY19" fmla="*/ 288407 h 605804"/>
              <a:gd name="connsiteX20" fmla="*/ 246608 w 514281"/>
              <a:gd name="connsiteY20" fmla="*/ 326599 h 605804"/>
              <a:gd name="connsiteX21" fmla="*/ 320436 w 514281"/>
              <a:gd name="connsiteY21" fmla="*/ 252904 h 605804"/>
              <a:gd name="connsiteX22" fmla="*/ 275582 w 514281"/>
              <a:gd name="connsiteY22" fmla="*/ 252904 h 605804"/>
              <a:gd name="connsiteX23" fmla="*/ 262302 w 514281"/>
              <a:gd name="connsiteY23" fmla="*/ 239648 h 605804"/>
              <a:gd name="connsiteX24" fmla="*/ 283673 w 514281"/>
              <a:gd name="connsiteY24" fmla="*/ 156984 h 605804"/>
              <a:gd name="connsiteX25" fmla="*/ 291462 w 514281"/>
              <a:gd name="connsiteY25" fmla="*/ 168641 h 605804"/>
              <a:gd name="connsiteX26" fmla="*/ 290071 w 514281"/>
              <a:gd name="connsiteY26" fmla="*/ 225094 h 605804"/>
              <a:gd name="connsiteX27" fmla="*/ 290069 w 514281"/>
              <a:gd name="connsiteY27" fmla="*/ 225094 h 605804"/>
              <a:gd name="connsiteX28" fmla="*/ 290069 w 514281"/>
              <a:gd name="connsiteY28" fmla="*/ 225187 h 605804"/>
              <a:gd name="connsiteX29" fmla="*/ 290071 w 514281"/>
              <a:gd name="connsiteY29" fmla="*/ 225094 h 605804"/>
              <a:gd name="connsiteX30" fmla="*/ 353496 w 514281"/>
              <a:gd name="connsiteY30" fmla="*/ 225094 h 605804"/>
              <a:gd name="connsiteX31" fmla="*/ 362783 w 514281"/>
              <a:gd name="connsiteY31" fmla="*/ 247435 h 605804"/>
              <a:gd name="connsiteX32" fmla="*/ 240014 w 514281"/>
              <a:gd name="connsiteY32" fmla="*/ 369982 h 605804"/>
              <a:gd name="connsiteX33" fmla="*/ 217634 w 514281"/>
              <a:gd name="connsiteY33" fmla="*/ 359414 h 605804"/>
              <a:gd name="connsiteX34" fmla="*/ 222927 w 514281"/>
              <a:gd name="connsiteY34" fmla="*/ 298882 h 605804"/>
              <a:gd name="connsiteX35" fmla="*/ 160893 w 514281"/>
              <a:gd name="connsiteY35" fmla="*/ 298882 h 605804"/>
              <a:gd name="connsiteX36" fmla="*/ 151606 w 514281"/>
              <a:gd name="connsiteY36" fmla="*/ 276542 h 605804"/>
              <a:gd name="connsiteX37" fmla="*/ 268988 w 514281"/>
              <a:gd name="connsiteY37" fmla="*/ 159371 h 605804"/>
              <a:gd name="connsiteX38" fmla="*/ 283673 w 514281"/>
              <a:gd name="connsiteY38" fmla="*/ 156984 h 605804"/>
              <a:gd name="connsiteX39" fmla="*/ 250606 w 514281"/>
              <a:gd name="connsiteY39" fmla="*/ 114503 h 605804"/>
              <a:gd name="connsiteX40" fmla="*/ 114784 w 514281"/>
              <a:gd name="connsiteY40" fmla="*/ 244837 h 605804"/>
              <a:gd name="connsiteX41" fmla="*/ 159624 w 514281"/>
              <a:gd name="connsiteY41" fmla="*/ 362007 h 605804"/>
              <a:gd name="connsiteX42" fmla="*/ 204001 w 514281"/>
              <a:gd name="connsiteY42" fmla="*/ 452852 h 605804"/>
              <a:gd name="connsiteX43" fmla="*/ 311322 w 514281"/>
              <a:gd name="connsiteY43" fmla="*/ 452852 h 605804"/>
              <a:gd name="connsiteX44" fmla="*/ 354678 w 514281"/>
              <a:gd name="connsiteY44" fmla="*/ 362007 h 605804"/>
              <a:gd name="connsiteX45" fmla="*/ 400819 w 514281"/>
              <a:gd name="connsiteY45" fmla="*/ 258000 h 605804"/>
              <a:gd name="connsiteX46" fmla="*/ 250606 w 514281"/>
              <a:gd name="connsiteY46" fmla="*/ 114503 h 605804"/>
              <a:gd name="connsiteX47" fmla="*/ 249213 w 514281"/>
              <a:gd name="connsiteY47" fmla="*/ 88269 h 605804"/>
              <a:gd name="connsiteX48" fmla="*/ 427556 w 514281"/>
              <a:gd name="connsiteY48" fmla="*/ 258092 h 605804"/>
              <a:gd name="connsiteX49" fmla="*/ 373524 w 514281"/>
              <a:gd name="connsiteY49" fmla="*/ 381845 h 605804"/>
              <a:gd name="connsiteX50" fmla="*/ 337874 w 514281"/>
              <a:gd name="connsiteY50" fmla="*/ 460824 h 605804"/>
              <a:gd name="connsiteX51" fmla="*/ 337874 w 514281"/>
              <a:gd name="connsiteY51" fmla="*/ 571413 h 605804"/>
              <a:gd name="connsiteX52" fmla="*/ 324598 w 514281"/>
              <a:gd name="connsiteY52" fmla="*/ 583278 h 605804"/>
              <a:gd name="connsiteX53" fmla="*/ 270473 w 514281"/>
              <a:gd name="connsiteY53" fmla="*/ 583278 h 605804"/>
              <a:gd name="connsiteX54" fmla="*/ 270473 w 514281"/>
              <a:gd name="connsiteY54" fmla="*/ 592548 h 605804"/>
              <a:gd name="connsiteX55" fmla="*/ 257290 w 514281"/>
              <a:gd name="connsiteY55" fmla="*/ 605804 h 605804"/>
              <a:gd name="connsiteX56" fmla="*/ 244014 w 514281"/>
              <a:gd name="connsiteY56" fmla="*/ 592548 h 605804"/>
              <a:gd name="connsiteX57" fmla="*/ 244014 w 514281"/>
              <a:gd name="connsiteY57" fmla="*/ 583278 h 605804"/>
              <a:gd name="connsiteX58" fmla="*/ 189890 w 514281"/>
              <a:gd name="connsiteY58" fmla="*/ 583278 h 605804"/>
              <a:gd name="connsiteX59" fmla="*/ 176707 w 514281"/>
              <a:gd name="connsiteY59" fmla="*/ 570023 h 605804"/>
              <a:gd name="connsiteX60" fmla="*/ 176707 w 514281"/>
              <a:gd name="connsiteY60" fmla="*/ 460824 h 605804"/>
              <a:gd name="connsiteX61" fmla="*/ 139757 w 514281"/>
              <a:gd name="connsiteY61" fmla="*/ 380454 h 605804"/>
              <a:gd name="connsiteX62" fmla="*/ 87025 w 514281"/>
              <a:gd name="connsiteY62" fmla="*/ 242241 h 605804"/>
              <a:gd name="connsiteX63" fmla="*/ 249213 w 514281"/>
              <a:gd name="connsiteY63" fmla="*/ 88269 h 605804"/>
              <a:gd name="connsiteX64" fmla="*/ 429815 w 514281"/>
              <a:gd name="connsiteY64" fmla="*/ 66120 h 605804"/>
              <a:gd name="connsiteX65" fmla="*/ 448444 w 514281"/>
              <a:gd name="connsiteY65" fmla="*/ 84608 h 605804"/>
              <a:gd name="connsiteX66" fmla="*/ 409280 w 514281"/>
              <a:gd name="connsiteY66" fmla="*/ 123772 h 605804"/>
              <a:gd name="connsiteX67" fmla="*/ 390721 w 514281"/>
              <a:gd name="connsiteY67" fmla="*/ 105143 h 605804"/>
              <a:gd name="connsiteX68" fmla="*/ 84820 w 514281"/>
              <a:gd name="connsiteY68" fmla="*/ 66120 h 605804"/>
              <a:gd name="connsiteX69" fmla="*/ 123843 w 514281"/>
              <a:gd name="connsiteY69" fmla="*/ 105143 h 605804"/>
              <a:gd name="connsiteX70" fmla="*/ 105284 w 514281"/>
              <a:gd name="connsiteY70" fmla="*/ 123772 h 605804"/>
              <a:gd name="connsiteX71" fmla="*/ 66120 w 514281"/>
              <a:gd name="connsiteY71" fmla="*/ 84749 h 605804"/>
              <a:gd name="connsiteX72" fmla="*/ 243945 w 514281"/>
              <a:gd name="connsiteY72" fmla="*/ 0 h 605804"/>
              <a:gd name="connsiteX73" fmla="*/ 270266 w 514281"/>
              <a:gd name="connsiteY73" fmla="*/ 0 h 605804"/>
              <a:gd name="connsiteX74" fmla="*/ 270266 w 514281"/>
              <a:gd name="connsiteY74" fmla="*/ 55253 h 605804"/>
              <a:gd name="connsiteX75" fmla="*/ 243945 w 514281"/>
              <a:gd name="connsiteY75" fmla="*/ 55253 h 605804"/>
            </a:gdLst>
            <a:ahLst/>
            <a:cxnLst/>
            <a:rect l="l" t="t" r="r" b="b"/>
            <a:pathLst>
              <a:path w="514281" h="605804">
                <a:moveTo>
                  <a:pt x="204373" y="530626"/>
                </a:moveTo>
                <a:lnTo>
                  <a:pt x="204373" y="556952"/>
                </a:lnTo>
                <a:lnTo>
                  <a:pt x="311229" y="556952"/>
                </a:lnTo>
                <a:lnTo>
                  <a:pt x="311229" y="530626"/>
                </a:lnTo>
                <a:close/>
                <a:moveTo>
                  <a:pt x="204373" y="479178"/>
                </a:moveTo>
                <a:lnTo>
                  <a:pt x="204373" y="504299"/>
                </a:lnTo>
                <a:lnTo>
                  <a:pt x="311229" y="504299"/>
                </a:lnTo>
                <a:lnTo>
                  <a:pt x="311229" y="479178"/>
                </a:lnTo>
                <a:close/>
                <a:moveTo>
                  <a:pt x="458958" y="243592"/>
                </a:moveTo>
                <a:lnTo>
                  <a:pt x="514281" y="243592"/>
                </a:lnTo>
                <a:lnTo>
                  <a:pt x="514281" y="269913"/>
                </a:lnTo>
                <a:lnTo>
                  <a:pt x="458958" y="269913"/>
                </a:lnTo>
                <a:close/>
                <a:moveTo>
                  <a:pt x="0" y="243592"/>
                </a:moveTo>
                <a:lnTo>
                  <a:pt x="55323" y="243592"/>
                </a:lnTo>
                <a:lnTo>
                  <a:pt x="55323" y="269913"/>
                </a:lnTo>
                <a:lnTo>
                  <a:pt x="0" y="269913"/>
                </a:lnTo>
                <a:close/>
                <a:moveTo>
                  <a:pt x="263695" y="202846"/>
                </a:moveTo>
                <a:lnTo>
                  <a:pt x="192467" y="273946"/>
                </a:lnTo>
                <a:lnTo>
                  <a:pt x="237321" y="273946"/>
                </a:lnTo>
                <a:cubicBezTo>
                  <a:pt x="248001" y="273946"/>
                  <a:pt x="251530" y="280991"/>
                  <a:pt x="250601" y="288407"/>
                </a:cubicBezTo>
                <a:lnTo>
                  <a:pt x="246608" y="326599"/>
                </a:lnTo>
                <a:lnTo>
                  <a:pt x="320436" y="252904"/>
                </a:lnTo>
                <a:lnTo>
                  <a:pt x="275582" y="252904"/>
                </a:lnTo>
                <a:cubicBezTo>
                  <a:pt x="270010" y="252904"/>
                  <a:pt x="262302" y="250586"/>
                  <a:pt x="262302" y="239648"/>
                </a:cubicBezTo>
                <a:close/>
                <a:moveTo>
                  <a:pt x="283673" y="156984"/>
                </a:moveTo>
                <a:cubicBezTo>
                  <a:pt x="288142" y="159139"/>
                  <a:pt x="291462" y="163635"/>
                  <a:pt x="291462" y="168641"/>
                </a:cubicBezTo>
                <a:lnTo>
                  <a:pt x="290071" y="225094"/>
                </a:lnTo>
                <a:lnTo>
                  <a:pt x="290069" y="225094"/>
                </a:lnTo>
                <a:lnTo>
                  <a:pt x="290069" y="225187"/>
                </a:lnTo>
                <a:lnTo>
                  <a:pt x="290071" y="225094"/>
                </a:lnTo>
                <a:lnTo>
                  <a:pt x="353496" y="225094"/>
                </a:lnTo>
                <a:cubicBezTo>
                  <a:pt x="367798" y="225094"/>
                  <a:pt x="370398" y="240946"/>
                  <a:pt x="362783" y="247435"/>
                </a:cubicBezTo>
                <a:lnTo>
                  <a:pt x="240014" y="369982"/>
                </a:lnTo>
                <a:cubicBezTo>
                  <a:pt x="231378" y="376749"/>
                  <a:pt x="217634" y="373041"/>
                  <a:pt x="217634" y="359414"/>
                </a:cubicBezTo>
                <a:lnTo>
                  <a:pt x="222927" y="298882"/>
                </a:lnTo>
                <a:lnTo>
                  <a:pt x="160893" y="298882"/>
                </a:lnTo>
                <a:cubicBezTo>
                  <a:pt x="148077" y="298882"/>
                  <a:pt x="141484" y="286646"/>
                  <a:pt x="151606" y="276542"/>
                </a:cubicBezTo>
                <a:lnTo>
                  <a:pt x="268988" y="159371"/>
                </a:lnTo>
                <a:cubicBezTo>
                  <a:pt x="273585" y="155014"/>
                  <a:pt x="279204" y="154829"/>
                  <a:pt x="283673" y="156984"/>
                </a:cubicBezTo>
                <a:close/>
                <a:moveTo>
                  <a:pt x="250606" y="114503"/>
                </a:moveTo>
                <a:cubicBezTo>
                  <a:pt x="179399" y="118396"/>
                  <a:pt x="121375" y="173830"/>
                  <a:pt x="114784" y="244837"/>
                </a:cubicBezTo>
                <a:cubicBezTo>
                  <a:pt x="110792" y="289610"/>
                  <a:pt x="126667" y="331788"/>
                  <a:pt x="159624" y="362007"/>
                </a:cubicBezTo>
                <a:cubicBezTo>
                  <a:pt x="186083" y="387407"/>
                  <a:pt x="201680" y="419388"/>
                  <a:pt x="204001" y="452852"/>
                </a:cubicBezTo>
                <a:lnTo>
                  <a:pt x="311322" y="452852"/>
                </a:lnTo>
                <a:cubicBezTo>
                  <a:pt x="313086" y="418553"/>
                  <a:pt x="328683" y="386758"/>
                  <a:pt x="354678" y="362007"/>
                </a:cubicBezTo>
                <a:cubicBezTo>
                  <a:pt x="383736" y="334476"/>
                  <a:pt x="400819" y="297489"/>
                  <a:pt x="400819" y="258000"/>
                </a:cubicBezTo>
                <a:cubicBezTo>
                  <a:pt x="400819" y="176425"/>
                  <a:pt x="332304" y="110517"/>
                  <a:pt x="250606" y="114503"/>
                </a:cubicBezTo>
                <a:close/>
                <a:moveTo>
                  <a:pt x="249213" y="88269"/>
                </a:moveTo>
                <a:cubicBezTo>
                  <a:pt x="346786" y="82985"/>
                  <a:pt x="427185" y="161964"/>
                  <a:pt x="427556" y="258092"/>
                </a:cubicBezTo>
                <a:cubicBezTo>
                  <a:pt x="427556" y="304164"/>
                  <a:pt x="407782" y="350142"/>
                  <a:pt x="373524" y="381845"/>
                </a:cubicBezTo>
                <a:cubicBezTo>
                  <a:pt x="351057" y="402795"/>
                  <a:pt x="337874" y="430511"/>
                  <a:pt x="337874" y="460824"/>
                </a:cubicBezTo>
                <a:lnTo>
                  <a:pt x="337874" y="571413"/>
                </a:lnTo>
                <a:cubicBezTo>
                  <a:pt x="337874" y="577995"/>
                  <a:pt x="331190" y="583278"/>
                  <a:pt x="324598" y="583278"/>
                </a:cubicBezTo>
                <a:lnTo>
                  <a:pt x="270473" y="583278"/>
                </a:lnTo>
                <a:lnTo>
                  <a:pt x="270473" y="592548"/>
                </a:lnTo>
                <a:cubicBezTo>
                  <a:pt x="270473" y="600428"/>
                  <a:pt x="265182" y="605804"/>
                  <a:pt x="257290" y="605804"/>
                </a:cubicBezTo>
                <a:cubicBezTo>
                  <a:pt x="249306" y="605804"/>
                  <a:pt x="244014" y="600428"/>
                  <a:pt x="244014" y="592548"/>
                </a:cubicBezTo>
                <a:lnTo>
                  <a:pt x="244014" y="583278"/>
                </a:lnTo>
                <a:lnTo>
                  <a:pt x="189890" y="583278"/>
                </a:lnTo>
                <a:cubicBezTo>
                  <a:pt x="181999" y="583278"/>
                  <a:pt x="176707" y="577995"/>
                  <a:pt x="176707" y="570023"/>
                </a:cubicBezTo>
                <a:lnTo>
                  <a:pt x="176707" y="460824"/>
                </a:lnTo>
                <a:cubicBezTo>
                  <a:pt x="176707" y="430511"/>
                  <a:pt x="163524" y="402795"/>
                  <a:pt x="139757" y="380454"/>
                </a:cubicBezTo>
                <a:cubicBezTo>
                  <a:pt x="101508" y="344951"/>
                  <a:pt x="83126" y="293596"/>
                  <a:pt x="87025" y="242241"/>
                </a:cubicBezTo>
                <a:cubicBezTo>
                  <a:pt x="95009" y="158071"/>
                  <a:pt x="164823" y="92255"/>
                  <a:pt x="249213" y="88269"/>
                </a:cubicBezTo>
                <a:close/>
                <a:moveTo>
                  <a:pt x="429815" y="66120"/>
                </a:moveTo>
                <a:lnTo>
                  <a:pt x="448444" y="84608"/>
                </a:lnTo>
                <a:lnTo>
                  <a:pt x="409280" y="123772"/>
                </a:lnTo>
                <a:lnTo>
                  <a:pt x="390721" y="105143"/>
                </a:lnTo>
                <a:close/>
                <a:moveTo>
                  <a:pt x="84820" y="66120"/>
                </a:moveTo>
                <a:lnTo>
                  <a:pt x="123843" y="105143"/>
                </a:lnTo>
                <a:lnTo>
                  <a:pt x="105284" y="123772"/>
                </a:lnTo>
                <a:lnTo>
                  <a:pt x="66120" y="84749"/>
                </a:lnTo>
                <a:close/>
                <a:moveTo>
                  <a:pt x="243945" y="0"/>
                </a:moveTo>
                <a:lnTo>
                  <a:pt x="270266" y="0"/>
                </a:lnTo>
                <a:lnTo>
                  <a:pt x="270266" y="55253"/>
                </a:lnTo>
                <a:lnTo>
                  <a:pt x="243945" y="552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660400" y="-672311"/>
            <a:ext cx="0" cy="42953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等腰三角形 16"/>
          <p:cNvSpPr>
            <a:spLocks noGrp="1"/>
          </p:cNvSpPr>
          <p:nvPr/>
        </p:nvSpPr>
        <p:spPr>
          <a:xfrm rot="5400000">
            <a:off x="656742" y="-480405"/>
            <a:ext cx="53036" cy="4572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706120" y="-642211"/>
            <a:ext cx="5803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选中背景图片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Delete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，点击中间图标即可插入新图片</a:t>
            </a:r>
            <a:endParaRPr sz="1800" b="0" i="0" u="none" cap="none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6582625" y="-672311"/>
            <a:ext cx="188305" cy="425834"/>
          </a:xfrm>
          <a:custGeom>
            <a:avLst/>
            <a:gdLst/>
            <a:ahLst/>
            <a:cxnLst/>
            <a:rect l="l" t="t" r="r" b="b"/>
            <a:pathLst>
              <a:path w="188305" h="425834">
                <a:moveTo>
                  <a:pt x="137517" y="318455"/>
                </a:moveTo>
                <a:cubicBezTo>
                  <a:pt x="151358" y="318455"/>
                  <a:pt x="161479" y="320222"/>
                  <a:pt x="167878" y="323757"/>
                </a:cubicBezTo>
                <a:cubicBezTo>
                  <a:pt x="174278" y="327291"/>
                  <a:pt x="179282" y="333003"/>
                  <a:pt x="182891" y="340890"/>
                </a:cubicBezTo>
                <a:cubicBezTo>
                  <a:pt x="186500" y="348778"/>
                  <a:pt x="188305" y="358303"/>
                  <a:pt x="188305" y="369465"/>
                </a:cubicBezTo>
                <a:cubicBezTo>
                  <a:pt x="188305" y="381669"/>
                  <a:pt x="186333" y="392069"/>
                  <a:pt x="182389" y="400664"/>
                </a:cubicBezTo>
                <a:cubicBezTo>
                  <a:pt x="178445" y="409258"/>
                  <a:pt x="173478" y="414951"/>
                  <a:pt x="167488" y="417742"/>
                </a:cubicBezTo>
                <a:cubicBezTo>
                  <a:pt x="161497" y="420532"/>
                  <a:pt x="151321" y="421927"/>
                  <a:pt x="136959" y="421927"/>
                </a:cubicBezTo>
                <a:lnTo>
                  <a:pt x="129815" y="421927"/>
                </a:lnTo>
                <a:lnTo>
                  <a:pt x="129815" y="378283"/>
                </a:lnTo>
                <a:lnTo>
                  <a:pt x="143210" y="378283"/>
                </a:lnTo>
                <a:cubicBezTo>
                  <a:pt x="149461" y="378283"/>
                  <a:pt x="153442" y="377725"/>
                  <a:pt x="155153" y="376609"/>
                </a:cubicBezTo>
                <a:cubicBezTo>
                  <a:pt x="156865" y="375493"/>
                  <a:pt x="157721" y="373633"/>
                  <a:pt x="157721" y="371028"/>
                </a:cubicBezTo>
                <a:cubicBezTo>
                  <a:pt x="157721" y="368200"/>
                  <a:pt x="156566" y="366061"/>
                  <a:pt x="154258" y="364610"/>
                </a:cubicBezTo>
                <a:cubicBezTo>
                  <a:pt x="151949" y="363159"/>
                  <a:pt x="148449" y="362433"/>
                  <a:pt x="143758" y="362433"/>
                </a:cubicBezTo>
                <a:cubicBezTo>
                  <a:pt x="137727" y="362433"/>
                  <a:pt x="133184" y="363249"/>
                  <a:pt x="130131" y="364880"/>
                </a:cubicBezTo>
                <a:cubicBezTo>
                  <a:pt x="127078" y="366438"/>
                  <a:pt x="123395" y="370865"/>
                  <a:pt x="119082" y="378160"/>
                </a:cubicBezTo>
                <a:cubicBezTo>
                  <a:pt x="106667" y="399078"/>
                  <a:pt x="96478" y="412254"/>
                  <a:pt x="88516" y="417686"/>
                </a:cubicBezTo>
                <a:cubicBezTo>
                  <a:pt x="80553" y="423118"/>
                  <a:pt x="67717" y="425834"/>
                  <a:pt x="50006" y="425834"/>
                </a:cubicBezTo>
                <a:cubicBezTo>
                  <a:pt x="37133" y="425834"/>
                  <a:pt x="27645" y="424327"/>
                  <a:pt x="21543" y="421313"/>
                </a:cubicBezTo>
                <a:cubicBezTo>
                  <a:pt x="15441" y="418300"/>
                  <a:pt x="10325" y="412477"/>
                  <a:pt x="6195" y="403845"/>
                </a:cubicBezTo>
                <a:cubicBezTo>
                  <a:pt x="2065" y="395213"/>
                  <a:pt x="0" y="385167"/>
                  <a:pt x="0" y="373707"/>
                </a:cubicBezTo>
                <a:cubicBezTo>
                  <a:pt x="0" y="361131"/>
                  <a:pt x="2381" y="350397"/>
                  <a:pt x="7144" y="341504"/>
                </a:cubicBezTo>
                <a:cubicBezTo>
                  <a:pt x="11906" y="332612"/>
                  <a:pt x="17971" y="326789"/>
                  <a:pt x="25338" y="324036"/>
                </a:cubicBezTo>
                <a:cubicBezTo>
                  <a:pt x="32705" y="321282"/>
                  <a:pt x="43160" y="319906"/>
                  <a:pt x="56704" y="319906"/>
                </a:cubicBezTo>
                <a:lnTo>
                  <a:pt x="68535" y="319906"/>
                </a:lnTo>
                <a:lnTo>
                  <a:pt x="68535" y="363549"/>
                </a:lnTo>
                <a:lnTo>
                  <a:pt x="46546" y="363549"/>
                </a:lnTo>
                <a:cubicBezTo>
                  <a:pt x="39774" y="363549"/>
                  <a:pt x="35421" y="364163"/>
                  <a:pt x="33486" y="365391"/>
                </a:cubicBezTo>
                <a:cubicBezTo>
                  <a:pt x="31552" y="366619"/>
                  <a:pt x="30584" y="368796"/>
                  <a:pt x="30584" y="371921"/>
                </a:cubicBezTo>
                <a:cubicBezTo>
                  <a:pt x="30584" y="375046"/>
                  <a:pt x="31812" y="377372"/>
                  <a:pt x="34268" y="378897"/>
                </a:cubicBezTo>
                <a:cubicBezTo>
                  <a:pt x="36723" y="380423"/>
                  <a:pt x="40370" y="381186"/>
                  <a:pt x="45207" y="381186"/>
                </a:cubicBezTo>
                <a:cubicBezTo>
                  <a:pt x="55848" y="381186"/>
                  <a:pt x="62806" y="379735"/>
                  <a:pt x="66080" y="376832"/>
                </a:cubicBezTo>
                <a:cubicBezTo>
                  <a:pt x="69354" y="373856"/>
                  <a:pt x="74823" y="366526"/>
                  <a:pt x="82488" y="354843"/>
                </a:cubicBezTo>
                <a:cubicBezTo>
                  <a:pt x="90227" y="343160"/>
                  <a:pt x="95845" y="335421"/>
                  <a:pt x="99343" y="331626"/>
                </a:cubicBezTo>
                <a:cubicBezTo>
                  <a:pt x="102840" y="327831"/>
                  <a:pt x="107677" y="324687"/>
                  <a:pt x="113854" y="322194"/>
                </a:cubicBezTo>
                <a:cubicBezTo>
                  <a:pt x="120030" y="319701"/>
                  <a:pt x="127918" y="318455"/>
                  <a:pt x="137517" y="318455"/>
                </a:cubicBezTo>
                <a:close/>
                <a:moveTo>
                  <a:pt x="107603" y="245529"/>
                </a:moveTo>
                <a:cubicBezTo>
                  <a:pt x="107528" y="246868"/>
                  <a:pt x="107491" y="248022"/>
                  <a:pt x="107491" y="248989"/>
                </a:cubicBezTo>
                <a:cubicBezTo>
                  <a:pt x="107491" y="253305"/>
                  <a:pt x="108552" y="256300"/>
                  <a:pt x="110672" y="257975"/>
                </a:cubicBezTo>
                <a:cubicBezTo>
                  <a:pt x="112793" y="259649"/>
                  <a:pt x="117202" y="260486"/>
                  <a:pt x="123900" y="260486"/>
                </a:cubicBezTo>
                <a:lnTo>
                  <a:pt x="138745" y="260486"/>
                </a:lnTo>
                <a:cubicBezTo>
                  <a:pt x="144922" y="260486"/>
                  <a:pt x="148940" y="259519"/>
                  <a:pt x="150800" y="257584"/>
                </a:cubicBezTo>
                <a:cubicBezTo>
                  <a:pt x="152661" y="255649"/>
                  <a:pt x="153591" y="251631"/>
                  <a:pt x="153591" y="245529"/>
                </a:cubicBezTo>
                <a:close/>
                <a:moveTo>
                  <a:pt x="3795" y="198536"/>
                </a:moveTo>
                <a:lnTo>
                  <a:pt x="184510" y="198536"/>
                </a:lnTo>
                <a:lnTo>
                  <a:pt x="184510" y="245864"/>
                </a:lnTo>
                <a:cubicBezTo>
                  <a:pt x="184510" y="258663"/>
                  <a:pt x="183505" y="268504"/>
                  <a:pt x="181496" y="275387"/>
                </a:cubicBezTo>
                <a:cubicBezTo>
                  <a:pt x="179487" y="282271"/>
                  <a:pt x="176585" y="287443"/>
                  <a:pt x="172790" y="290903"/>
                </a:cubicBezTo>
                <a:cubicBezTo>
                  <a:pt x="168994" y="294363"/>
                  <a:pt x="164399" y="296707"/>
                  <a:pt x="159004" y="297935"/>
                </a:cubicBezTo>
                <a:cubicBezTo>
                  <a:pt x="153609" y="299163"/>
                  <a:pt x="145256" y="299777"/>
                  <a:pt x="133945" y="299777"/>
                </a:cubicBezTo>
                <a:lnTo>
                  <a:pt x="118207" y="299777"/>
                </a:lnTo>
                <a:cubicBezTo>
                  <a:pt x="106673" y="299777"/>
                  <a:pt x="98264" y="298586"/>
                  <a:pt x="92981" y="296205"/>
                </a:cubicBezTo>
                <a:cubicBezTo>
                  <a:pt x="87697" y="293824"/>
                  <a:pt x="83642" y="289452"/>
                  <a:pt x="80814" y="283089"/>
                </a:cubicBezTo>
                <a:cubicBezTo>
                  <a:pt x="77986" y="276727"/>
                  <a:pt x="76572" y="268411"/>
                  <a:pt x="76572" y="258142"/>
                </a:cubicBezTo>
                <a:lnTo>
                  <a:pt x="76572" y="245529"/>
                </a:lnTo>
                <a:lnTo>
                  <a:pt x="3795" y="245529"/>
                </a:lnTo>
                <a:close/>
                <a:moveTo>
                  <a:pt x="3795" y="122336"/>
                </a:moveTo>
                <a:lnTo>
                  <a:pt x="184510" y="122336"/>
                </a:lnTo>
                <a:lnTo>
                  <a:pt x="184510" y="169329"/>
                </a:lnTo>
                <a:lnTo>
                  <a:pt x="3795" y="169329"/>
                </a:lnTo>
                <a:close/>
                <a:moveTo>
                  <a:pt x="148345" y="0"/>
                </a:moveTo>
                <a:lnTo>
                  <a:pt x="184510" y="0"/>
                </a:lnTo>
                <a:lnTo>
                  <a:pt x="184510" y="102691"/>
                </a:lnTo>
                <a:lnTo>
                  <a:pt x="148345" y="102691"/>
                </a:lnTo>
                <a:lnTo>
                  <a:pt x="148345" y="74786"/>
                </a:lnTo>
                <a:lnTo>
                  <a:pt x="3795" y="74786"/>
                </a:lnTo>
                <a:lnTo>
                  <a:pt x="3795" y="27793"/>
                </a:lnTo>
                <a:lnTo>
                  <a:pt x="148345" y="277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35" name="图片 20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6F1A5B"/>
              </a:clrFrom>
              <a:clrTo>
                <a:srgbClr val="6F1A5B">
                  <a:alpha val="0"/>
                </a:srgbClr>
              </a:clrTo>
            </a:clrChange>
          </a:blip>
          <a:srcRect l="27693" t="50695" r="23620" b="23753"/>
          <a:stretch>
            <a:fillRect/>
          </a:stretch>
        </p:blipFill>
        <p:spPr>
          <a:xfrm>
            <a:off x="358313" y="0"/>
            <a:ext cx="2298038" cy="8964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top-bar"/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7E0C6E"/>
          </a:solidFill>
          <a:ln w="0">
            <a:noFill/>
            <a:prstDash val="solid"/>
          </a:ln>
        </p:spPr>
      </p:sp>
      <p:sp>
        <p:nvSpPr>
          <p:cNvPr id="2" name="page-title"/>
          <p:cNvSpPr>
            <a:spLocks noGrp="1"/>
          </p:cNvSpPr>
          <p:nvPr/>
        </p:nvSpPr>
        <p:spPr>
          <a:xfrm>
            <a:off x="704850" y="676275"/>
            <a:ext cx="1038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第二部分｜选题背景与意义</a:t>
            </a:r>
            <a:endParaRPr sz="2475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-subtitle"/>
          <p:cNvSpPr>
            <a:spLocks noGrp="1"/>
          </p:cNvSpPr>
          <p:nvPr/>
        </p:nvSpPr>
        <p:spPr>
          <a:xfrm>
            <a:off x="704850" y="1181100"/>
            <a:ext cx="1000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校园安全舆情需要从“看见风险”进一步走向“组织治理”</a:t>
            </a:r>
            <a:endParaRPr sz="1275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ain-title"/>
          <p:cNvSpPr>
            <a:spLocks noGrp="1"/>
          </p:cNvSpPr>
          <p:nvPr/>
        </p:nvSpPr>
        <p:spPr>
          <a:xfrm>
            <a:off x="1162050" y="17145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现实痛点</a:t>
            </a:r>
            <a:endParaRPr sz="1875" b="1">
              <a:solidFill>
                <a:srgbClr val="7E0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value-title"/>
          <p:cNvSpPr>
            <a:spLocks noGrp="1"/>
          </p:cNvSpPr>
          <p:nvPr/>
        </p:nvSpPr>
        <p:spPr>
          <a:xfrm>
            <a:off x="7486650" y="17145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建设意义</a:t>
            </a:r>
            <a:endParaRPr sz="1875" b="1">
              <a:solidFill>
                <a:srgbClr val="7E0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divider"/>
          <p:cNvSpPr>
            <a:spLocks noGrp="1"/>
          </p:cNvSpPr>
          <p:nvPr/>
        </p:nvSpPr>
        <p:spPr>
          <a:xfrm>
            <a:off x="6096000" y="1666875"/>
            <a:ext cx="28575" cy="3067050"/>
          </a:xfrm>
          <a:prstGeom prst="rect">
            <a:avLst/>
          </a:prstGeom>
          <a:solidFill>
            <a:srgbClr val="B26DA8"/>
          </a:solidFill>
          <a:ln w="0">
            <a:noFill/>
            <a:prstDash val="solid"/>
          </a:ln>
        </p:spPr>
      </p:sp>
      <p:sp>
        <p:nvSpPr>
          <p:cNvPr id="7" name="pain-line-0"/>
          <p:cNvSpPr>
            <a:spLocks noGrp="1"/>
          </p:cNvSpPr>
          <p:nvPr/>
        </p:nvSpPr>
        <p:spPr>
          <a:xfrm>
            <a:off x="1390650" y="2343150"/>
            <a:ext cx="76200" cy="409575"/>
          </a:xfrm>
          <a:prstGeom prst="rect">
            <a:avLst/>
          </a:prstGeom>
          <a:solidFill>
            <a:srgbClr val="7E0C6E"/>
          </a:solidFill>
          <a:ln w="0">
            <a:noFill/>
            <a:prstDash val="solid"/>
          </a:ln>
        </p:spPr>
      </p:sp>
      <p:sp>
        <p:nvSpPr>
          <p:cNvPr id="8" name="pain-head-0"/>
          <p:cNvSpPr>
            <a:spLocks noGrp="1"/>
          </p:cNvSpPr>
          <p:nvPr/>
        </p:nvSpPr>
        <p:spPr>
          <a:xfrm>
            <a:off x="1676400" y="22383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信息分散</a:t>
            </a:r>
            <a:endParaRPr sz="1500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pain-body-0"/>
          <p:cNvSpPr>
            <a:spLocks noGrp="1"/>
          </p:cNvSpPr>
          <p:nvPr/>
        </p:nvSpPr>
        <p:spPr>
          <a:xfrm>
            <a:off x="1676400" y="2552700"/>
            <a:ext cx="4321810" cy="2654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讨论分布在多个帖文与评论中，风险线索难以持续跟踪</a:t>
            </a:r>
            <a:endParaRPr sz="12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value-box-0"/>
          <p:cNvSpPr>
            <a:spLocks noGrp="1"/>
          </p:cNvSpPr>
          <p:nvPr/>
        </p:nvSpPr>
        <p:spPr>
          <a:xfrm>
            <a:off x="6972300" y="2238375"/>
            <a:ext cx="3905250" cy="647700"/>
          </a:xfrm>
          <a:prstGeom prst="rect">
            <a:avLst/>
          </a:prstGeom>
          <a:solidFill>
            <a:srgbClr val="F3E8F7"/>
          </a:solidFill>
          <a:ln w="7620">
            <a:solidFill>
              <a:srgbClr val="D8A7D0"/>
            </a:solidFill>
            <a:prstDash val="solid"/>
          </a:ln>
        </p:spPr>
      </p:sp>
      <p:sp>
        <p:nvSpPr>
          <p:cNvPr id="11" name="value-head-0"/>
          <p:cNvSpPr>
            <a:spLocks noGrp="1"/>
          </p:cNvSpPr>
          <p:nvPr/>
        </p:nvSpPr>
        <p:spPr>
          <a:xfrm>
            <a:off x="7181850" y="2333625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管理价值</a:t>
            </a:r>
            <a:endParaRPr sz="1350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value-body-0"/>
          <p:cNvSpPr>
            <a:spLocks noGrp="1"/>
          </p:cNvSpPr>
          <p:nvPr/>
        </p:nvSpPr>
        <p:spPr>
          <a:xfrm>
            <a:off x="8286750" y="2333625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把监测结果转为事件、处置、报告与审计</a:t>
            </a:r>
            <a:endParaRPr sz="1125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pain-line-1"/>
          <p:cNvSpPr>
            <a:spLocks noGrp="1"/>
          </p:cNvSpPr>
          <p:nvPr/>
        </p:nvSpPr>
        <p:spPr>
          <a:xfrm>
            <a:off x="1390650" y="3200400"/>
            <a:ext cx="76200" cy="409575"/>
          </a:xfrm>
          <a:prstGeom prst="rect">
            <a:avLst/>
          </a:prstGeom>
          <a:solidFill>
            <a:srgbClr val="7E0C6E"/>
          </a:solidFill>
          <a:ln w="0">
            <a:noFill/>
            <a:prstDash val="solid"/>
          </a:ln>
        </p:spPr>
      </p:sp>
      <p:sp>
        <p:nvSpPr>
          <p:cNvPr id="14" name="pain-head-1"/>
          <p:cNvSpPr>
            <a:spLocks noGrp="1"/>
          </p:cNvSpPr>
          <p:nvPr/>
        </p:nvSpPr>
        <p:spPr>
          <a:xfrm>
            <a:off x="1676400" y="309562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结果断层</a:t>
            </a:r>
            <a:endParaRPr sz="1500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ain-body-1"/>
          <p:cNvSpPr>
            <a:spLocks noGrp="1"/>
          </p:cNvSpPr>
          <p:nvPr/>
        </p:nvSpPr>
        <p:spPr>
          <a:xfrm>
            <a:off x="1676400" y="3409950"/>
            <a:ext cx="4149725" cy="248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分类或模型输出不能直接转化为负责人、期限和处置动作</a:t>
            </a:r>
            <a:endParaRPr sz="12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value-box-1"/>
          <p:cNvSpPr>
            <a:spLocks noGrp="1"/>
          </p:cNvSpPr>
          <p:nvPr/>
        </p:nvSpPr>
        <p:spPr>
          <a:xfrm>
            <a:off x="6972300" y="3095625"/>
            <a:ext cx="3905250" cy="647700"/>
          </a:xfrm>
          <a:prstGeom prst="rect">
            <a:avLst/>
          </a:prstGeom>
          <a:solidFill>
            <a:srgbClr val="7E0C6E"/>
          </a:solidFill>
          <a:ln w="7620">
            <a:solidFill>
              <a:srgbClr val="D8A7D0"/>
            </a:solidFill>
            <a:prstDash val="solid"/>
          </a:ln>
        </p:spPr>
      </p:sp>
      <p:sp>
        <p:nvSpPr>
          <p:cNvPr id="17" name="value-head-1"/>
          <p:cNvSpPr>
            <a:spLocks noGrp="1"/>
          </p:cNvSpPr>
          <p:nvPr/>
        </p:nvSpPr>
        <p:spPr>
          <a:xfrm>
            <a:off x="7181850" y="3190875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工程价值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value-body-1"/>
          <p:cNvSpPr>
            <a:spLocks noGrp="1"/>
          </p:cNvSpPr>
          <p:nvPr/>
        </p:nvSpPr>
        <p:spPr>
          <a:xfrm>
            <a:off x="8286750" y="3190875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F3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F3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打通数据同步、前端交互、后端接口与权限控制</a:t>
            </a:r>
            <a:endParaRPr sz="1125">
              <a:solidFill>
                <a:srgbClr val="F3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pain-line-2"/>
          <p:cNvSpPr>
            <a:spLocks noGrp="1"/>
          </p:cNvSpPr>
          <p:nvPr/>
        </p:nvSpPr>
        <p:spPr>
          <a:xfrm>
            <a:off x="1390650" y="4057650"/>
            <a:ext cx="76200" cy="409575"/>
          </a:xfrm>
          <a:prstGeom prst="rect">
            <a:avLst/>
          </a:prstGeom>
          <a:solidFill>
            <a:srgbClr val="7E0C6E"/>
          </a:solidFill>
          <a:ln w="0">
            <a:noFill/>
            <a:prstDash val="solid"/>
          </a:ln>
        </p:spPr>
      </p:sp>
      <p:sp>
        <p:nvSpPr>
          <p:cNvPr id="20" name="pain-head-2"/>
          <p:cNvSpPr>
            <a:spLocks noGrp="1"/>
          </p:cNvSpPr>
          <p:nvPr/>
        </p:nvSpPr>
        <p:spPr>
          <a:xfrm>
            <a:off x="1676400" y="39528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治理要求</a:t>
            </a:r>
            <a:endParaRPr sz="1500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pain-body-2"/>
          <p:cNvSpPr>
            <a:spLocks noGrp="1"/>
          </p:cNvSpPr>
          <p:nvPr/>
        </p:nvSpPr>
        <p:spPr>
          <a:xfrm>
            <a:off x="1676400" y="4267200"/>
            <a:ext cx="3667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安全事件需要风险依据、人工确认与全过程留痕</a:t>
            </a:r>
            <a:endParaRPr sz="12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value-box-2"/>
          <p:cNvSpPr>
            <a:spLocks noGrp="1"/>
          </p:cNvSpPr>
          <p:nvPr/>
        </p:nvSpPr>
        <p:spPr>
          <a:xfrm>
            <a:off x="6972300" y="3952875"/>
            <a:ext cx="3905250" cy="647700"/>
          </a:xfrm>
          <a:prstGeom prst="rect">
            <a:avLst/>
          </a:prstGeom>
          <a:solidFill>
            <a:srgbClr val="F3E8F7"/>
          </a:solidFill>
          <a:ln w="7620">
            <a:solidFill>
              <a:srgbClr val="D8A7D0"/>
            </a:solidFill>
            <a:prstDash val="solid"/>
          </a:ln>
        </p:spPr>
      </p:sp>
      <p:sp>
        <p:nvSpPr>
          <p:cNvPr id="23" name="value-head-2"/>
          <p:cNvSpPr>
            <a:spLocks noGrp="1"/>
          </p:cNvSpPr>
          <p:nvPr/>
        </p:nvSpPr>
        <p:spPr>
          <a:xfrm>
            <a:off x="7181850" y="4048125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治理价值</a:t>
            </a:r>
            <a:endParaRPr sz="1350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value-body-2"/>
          <p:cNvSpPr>
            <a:spLocks noGrp="1"/>
          </p:cNvSpPr>
          <p:nvPr/>
        </p:nvSpPr>
        <p:spPr>
          <a:xfrm>
            <a:off x="8286750" y="4048125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坚持 AI 辅助、人工复核与可解释风险研判</a:t>
            </a:r>
            <a:endParaRPr sz="1125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cope-band"/>
          <p:cNvSpPr>
            <a:spLocks noGrp="1"/>
          </p:cNvSpPr>
          <p:nvPr/>
        </p:nvSpPr>
        <p:spPr>
          <a:xfrm>
            <a:off x="1104900" y="5238750"/>
            <a:ext cx="9982200" cy="647700"/>
          </a:xfrm>
          <a:prstGeom prst="rect">
            <a:avLst/>
          </a:prstGeom>
          <a:solidFill>
            <a:srgbClr val="F3E8F7"/>
          </a:solidFill>
          <a:ln w="9525">
            <a:solidFill>
              <a:srgbClr val="B26DA8"/>
            </a:solidFill>
            <a:prstDash val="solid"/>
          </a:ln>
        </p:spPr>
      </p:sp>
      <p:sp>
        <p:nvSpPr>
          <p:cNvPr id="26" name="scope-text"/>
          <p:cNvSpPr>
            <a:spLocks noGrp="1"/>
          </p:cNvSpPr>
          <p:nvPr/>
        </p:nvSpPr>
        <p:spPr>
          <a:xfrm>
            <a:off x="1428750" y="542925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课题目标：将“数据分析结果”转化为“可研判、可处置、可追溯”的校园安全治理能力。</a:t>
            </a:r>
            <a:endParaRPr sz="1500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" y="142875"/>
            <a:ext cx="2002790" cy="5772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" name="图片占位符 4"/>
          <p:cNvPicPr>
            <a:picLocks noChangeAspect="1"/>
          </p:cNvPicPr>
          <p:nvPr>
            <p:ph type="pic" idx="13"/>
          </p:nvPr>
        </p:nvPicPr>
        <p:blipFill>
          <a:blip r:embed="rId1"/>
          <a:srcRect l="10404" r="10404"/>
          <a:stretch>
            <a:fillRect/>
          </a:stretch>
        </p:blipFill>
        <p:spPr>
          <a:xfrm>
            <a:off x="0" y="0"/>
            <a:ext cx="914400" cy="914400"/>
          </a:xfr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3098801" y="3693453"/>
            <a:ext cx="59943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400" b="1" i="0" u="none" cap="none">
                <a:ln>
                  <a:noFill/>
                </a:ln>
                <a:solidFill>
                  <a:prstClr val="white"/>
                </a:solidFill>
              </a:rPr>
              <a:t>关键技术及难点</a:t>
            </a:r>
            <a:endParaRPr sz="5400" b="1" i="0" u="none" cap="none">
              <a:ln>
                <a:noFill/>
              </a:ln>
              <a:solidFill>
                <a:prstClr val="white"/>
              </a:solidFill>
            </a:endParaRPr>
          </a:p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5223446" y="1419440"/>
            <a:ext cx="1745108" cy="174510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400" b="1" i="0" u="none" cap="none">
                <a:ln>
                  <a:noFill/>
                </a:ln>
                <a:solidFill>
                  <a:srgbClr val="7E0C6E"/>
                </a:solidFill>
              </a:rPr>
              <a:t>03</a:t>
            </a:r>
            <a:endParaRPr sz="5400" b="1" i="0" u="none" cap="none">
              <a:ln>
                <a:noFill/>
              </a:ln>
              <a:solidFill>
                <a:srgbClr val="7E0C6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0" y="-800444"/>
            <a:ext cx="6904036" cy="685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 flipH="1">
            <a:off x="0" y="-800444"/>
            <a:ext cx="52388" cy="685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221028" y="-608600"/>
            <a:ext cx="236342" cy="236342"/>
          </a:xfrm>
          <a:prstGeom prst="ellipse">
            <a:avLst/>
          </a:prstGeom>
          <a:solidFill>
            <a:srgbClr val="FED1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" name="Oval 7"/>
          <p:cNvSpPr>
            <a:spLocks noGrp="1"/>
          </p:cNvSpPr>
          <p:nvPr/>
        </p:nvSpPr>
        <p:spPr>
          <a:xfrm>
            <a:off x="156880" y="-672311"/>
            <a:ext cx="364639" cy="429532"/>
          </a:xfrm>
          <a:custGeom>
            <a:avLst/>
            <a:gdLst>
              <a:gd name="connsiteX0" fmla="*/ 204373 w 514281"/>
              <a:gd name="connsiteY0" fmla="*/ 530626 h 605804"/>
              <a:gd name="connsiteX1" fmla="*/ 204373 w 514281"/>
              <a:gd name="connsiteY1" fmla="*/ 556952 h 605804"/>
              <a:gd name="connsiteX2" fmla="*/ 311229 w 514281"/>
              <a:gd name="connsiteY2" fmla="*/ 556952 h 605804"/>
              <a:gd name="connsiteX3" fmla="*/ 311229 w 514281"/>
              <a:gd name="connsiteY3" fmla="*/ 530626 h 605804"/>
              <a:gd name="connsiteX4" fmla="*/ 204373 w 514281"/>
              <a:gd name="connsiteY4" fmla="*/ 479178 h 605804"/>
              <a:gd name="connsiteX5" fmla="*/ 204373 w 514281"/>
              <a:gd name="connsiteY5" fmla="*/ 504299 h 605804"/>
              <a:gd name="connsiteX6" fmla="*/ 311229 w 514281"/>
              <a:gd name="connsiteY6" fmla="*/ 504299 h 605804"/>
              <a:gd name="connsiteX7" fmla="*/ 311229 w 514281"/>
              <a:gd name="connsiteY7" fmla="*/ 479178 h 605804"/>
              <a:gd name="connsiteX8" fmla="*/ 458958 w 514281"/>
              <a:gd name="connsiteY8" fmla="*/ 243592 h 605804"/>
              <a:gd name="connsiteX9" fmla="*/ 514281 w 514281"/>
              <a:gd name="connsiteY9" fmla="*/ 243592 h 605804"/>
              <a:gd name="connsiteX10" fmla="*/ 514281 w 514281"/>
              <a:gd name="connsiteY10" fmla="*/ 269913 h 605804"/>
              <a:gd name="connsiteX11" fmla="*/ 458958 w 514281"/>
              <a:gd name="connsiteY11" fmla="*/ 269913 h 605804"/>
              <a:gd name="connsiteX12" fmla="*/ 0 w 514281"/>
              <a:gd name="connsiteY12" fmla="*/ 243592 h 605804"/>
              <a:gd name="connsiteX13" fmla="*/ 55323 w 514281"/>
              <a:gd name="connsiteY13" fmla="*/ 243592 h 605804"/>
              <a:gd name="connsiteX14" fmla="*/ 55323 w 514281"/>
              <a:gd name="connsiteY14" fmla="*/ 269913 h 605804"/>
              <a:gd name="connsiteX15" fmla="*/ 0 w 514281"/>
              <a:gd name="connsiteY15" fmla="*/ 269913 h 605804"/>
              <a:gd name="connsiteX16" fmla="*/ 263695 w 514281"/>
              <a:gd name="connsiteY16" fmla="*/ 202846 h 605804"/>
              <a:gd name="connsiteX17" fmla="*/ 192467 w 514281"/>
              <a:gd name="connsiteY17" fmla="*/ 273946 h 605804"/>
              <a:gd name="connsiteX18" fmla="*/ 237321 w 514281"/>
              <a:gd name="connsiteY18" fmla="*/ 273946 h 605804"/>
              <a:gd name="connsiteX19" fmla="*/ 250601 w 514281"/>
              <a:gd name="connsiteY19" fmla="*/ 288407 h 605804"/>
              <a:gd name="connsiteX20" fmla="*/ 246608 w 514281"/>
              <a:gd name="connsiteY20" fmla="*/ 326599 h 605804"/>
              <a:gd name="connsiteX21" fmla="*/ 320436 w 514281"/>
              <a:gd name="connsiteY21" fmla="*/ 252904 h 605804"/>
              <a:gd name="connsiteX22" fmla="*/ 275582 w 514281"/>
              <a:gd name="connsiteY22" fmla="*/ 252904 h 605804"/>
              <a:gd name="connsiteX23" fmla="*/ 262302 w 514281"/>
              <a:gd name="connsiteY23" fmla="*/ 239648 h 605804"/>
              <a:gd name="connsiteX24" fmla="*/ 283673 w 514281"/>
              <a:gd name="connsiteY24" fmla="*/ 156984 h 605804"/>
              <a:gd name="connsiteX25" fmla="*/ 291462 w 514281"/>
              <a:gd name="connsiteY25" fmla="*/ 168641 h 605804"/>
              <a:gd name="connsiteX26" fmla="*/ 290071 w 514281"/>
              <a:gd name="connsiteY26" fmla="*/ 225094 h 605804"/>
              <a:gd name="connsiteX27" fmla="*/ 290069 w 514281"/>
              <a:gd name="connsiteY27" fmla="*/ 225094 h 605804"/>
              <a:gd name="connsiteX28" fmla="*/ 290069 w 514281"/>
              <a:gd name="connsiteY28" fmla="*/ 225187 h 605804"/>
              <a:gd name="connsiteX29" fmla="*/ 290071 w 514281"/>
              <a:gd name="connsiteY29" fmla="*/ 225094 h 605804"/>
              <a:gd name="connsiteX30" fmla="*/ 353496 w 514281"/>
              <a:gd name="connsiteY30" fmla="*/ 225094 h 605804"/>
              <a:gd name="connsiteX31" fmla="*/ 362783 w 514281"/>
              <a:gd name="connsiteY31" fmla="*/ 247435 h 605804"/>
              <a:gd name="connsiteX32" fmla="*/ 240014 w 514281"/>
              <a:gd name="connsiteY32" fmla="*/ 369982 h 605804"/>
              <a:gd name="connsiteX33" fmla="*/ 217634 w 514281"/>
              <a:gd name="connsiteY33" fmla="*/ 359414 h 605804"/>
              <a:gd name="connsiteX34" fmla="*/ 222927 w 514281"/>
              <a:gd name="connsiteY34" fmla="*/ 298882 h 605804"/>
              <a:gd name="connsiteX35" fmla="*/ 160893 w 514281"/>
              <a:gd name="connsiteY35" fmla="*/ 298882 h 605804"/>
              <a:gd name="connsiteX36" fmla="*/ 151606 w 514281"/>
              <a:gd name="connsiteY36" fmla="*/ 276542 h 605804"/>
              <a:gd name="connsiteX37" fmla="*/ 268988 w 514281"/>
              <a:gd name="connsiteY37" fmla="*/ 159371 h 605804"/>
              <a:gd name="connsiteX38" fmla="*/ 283673 w 514281"/>
              <a:gd name="connsiteY38" fmla="*/ 156984 h 605804"/>
              <a:gd name="connsiteX39" fmla="*/ 250606 w 514281"/>
              <a:gd name="connsiteY39" fmla="*/ 114503 h 605804"/>
              <a:gd name="connsiteX40" fmla="*/ 114784 w 514281"/>
              <a:gd name="connsiteY40" fmla="*/ 244837 h 605804"/>
              <a:gd name="connsiteX41" fmla="*/ 159624 w 514281"/>
              <a:gd name="connsiteY41" fmla="*/ 362007 h 605804"/>
              <a:gd name="connsiteX42" fmla="*/ 204001 w 514281"/>
              <a:gd name="connsiteY42" fmla="*/ 452852 h 605804"/>
              <a:gd name="connsiteX43" fmla="*/ 311322 w 514281"/>
              <a:gd name="connsiteY43" fmla="*/ 452852 h 605804"/>
              <a:gd name="connsiteX44" fmla="*/ 354678 w 514281"/>
              <a:gd name="connsiteY44" fmla="*/ 362007 h 605804"/>
              <a:gd name="connsiteX45" fmla="*/ 400819 w 514281"/>
              <a:gd name="connsiteY45" fmla="*/ 258000 h 605804"/>
              <a:gd name="connsiteX46" fmla="*/ 250606 w 514281"/>
              <a:gd name="connsiteY46" fmla="*/ 114503 h 605804"/>
              <a:gd name="connsiteX47" fmla="*/ 249213 w 514281"/>
              <a:gd name="connsiteY47" fmla="*/ 88269 h 605804"/>
              <a:gd name="connsiteX48" fmla="*/ 427556 w 514281"/>
              <a:gd name="connsiteY48" fmla="*/ 258092 h 605804"/>
              <a:gd name="connsiteX49" fmla="*/ 373524 w 514281"/>
              <a:gd name="connsiteY49" fmla="*/ 381845 h 605804"/>
              <a:gd name="connsiteX50" fmla="*/ 337874 w 514281"/>
              <a:gd name="connsiteY50" fmla="*/ 460824 h 605804"/>
              <a:gd name="connsiteX51" fmla="*/ 337874 w 514281"/>
              <a:gd name="connsiteY51" fmla="*/ 571413 h 605804"/>
              <a:gd name="connsiteX52" fmla="*/ 324598 w 514281"/>
              <a:gd name="connsiteY52" fmla="*/ 583278 h 605804"/>
              <a:gd name="connsiteX53" fmla="*/ 270473 w 514281"/>
              <a:gd name="connsiteY53" fmla="*/ 583278 h 605804"/>
              <a:gd name="connsiteX54" fmla="*/ 270473 w 514281"/>
              <a:gd name="connsiteY54" fmla="*/ 592548 h 605804"/>
              <a:gd name="connsiteX55" fmla="*/ 257290 w 514281"/>
              <a:gd name="connsiteY55" fmla="*/ 605804 h 605804"/>
              <a:gd name="connsiteX56" fmla="*/ 244014 w 514281"/>
              <a:gd name="connsiteY56" fmla="*/ 592548 h 605804"/>
              <a:gd name="connsiteX57" fmla="*/ 244014 w 514281"/>
              <a:gd name="connsiteY57" fmla="*/ 583278 h 605804"/>
              <a:gd name="connsiteX58" fmla="*/ 189890 w 514281"/>
              <a:gd name="connsiteY58" fmla="*/ 583278 h 605804"/>
              <a:gd name="connsiteX59" fmla="*/ 176707 w 514281"/>
              <a:gd name="connsiteY59" fmla="*/ 570023 h 605804"/>
              <a:gd name="connsiteX60" fmla="*/ 176707 w 514281"/>
              <a:gd name="connsiteY60" fmla="*/ 460824 h 605804"/>
              <a:gd name="connsiteX61" fmla="*/ 139757 w 514281"/>
              <a:gd name="connsiteY61" fmla="*/ 380454 h 605804"/>
              <a:gd name="connsiteX62" fmla="*/ 87025 w 514281"/>
              <a:gd name="connsiteY62" fmla="*/ 242241 h 605804"/>
              <a:gd name="connsiteX63" fmla="*/ 249213 w 514281"/>
              <a:gd name="connsiteY63" fmla="*/ 88269 h 605804"/>
              <a:gd name="connsiteX64" fmla="*/ 429815 w 514281"/>
              <a:gd name="connsiteY64" fmla="*/ 66120 h 605804"/>
              <a:gd name="connsiteX65" fmla="*/ 448444 w 514281"/>
              <a:gd name="connsiteY65" fmla="*/ 84608 h 605804"/>
              <a:gd name="connsiteX66" fmla="*/ 409280 w 514281"/>
              <a:gd name="connsiteY66" fmla="*/ 123772 h 605804"/>
              <a:gd name="connsiteX67" fmla="*/ 390721 w 514281"/>
              <a:gd name="connsiteY67" fmla="*/ 105143 h 605804"/>
              <a:gd name="connsiteX68" fmla="*/ 84820 w 514281"/>
              <a:gd name="connsiteY68" fmla="*/ 66120 h 605804"/>
              <a:gd name="connsiteX69" fmla="*/ 123843 w 514281"/>
              <a:gd name="connsiteY69" fmla="*/ 105143 h 605804"/>
              <a:gd name="connsiteX70" fmla="*/ 105284 w 514281"/>
              <a:gd name="connsiteY70" fmla="*/ 123772 h 605804"/>
              <a:gd name="connsiteX71" fmla="*/ 66120 w 514281"/>
              <a:gd name="connsiteY71" fmla="*/ 84749 h 605804"/>
              <a:gd name="connsiteX72" fmla="*/ 243945 w 514281"/>
              <a:gd name="connsiteY72" fmla="*/ 0 h 605804"/>
              <a:gd name="connsiteX73" fmla="*/ 270266 w 514281"/>
              <a:gd name="connsiteY73" fmla="*/ 0 h 605804"/>
              <a:gd name="connsiteX74" fmla="*/ 270266 w 514281"/>
              <a:gd name="connsiteY74" fmla="*/ 55253 h 605804"/>
              <a:gd name="connsiteX75" fmla="*/ 243945 w 514281"/>
              <a:gd name="connsiteY75" fmla="*/ 55253 h 605804"/>
            </a:gdLst>
            <a:ahLst/>
            <a:cxnLst/>
            <a:rect l="l" t="t" r="r" b="b"/>
            <a:pathLst>
              <a:path w="514281" h="605804">
                <a:moveTo>
                  <a:pt x="204373" y="530626"/>
                </a:moveTo>
                <a:lnTo>
                  <a:pt x="204373" y="556952"/>
                </a:lnTo>
                <a:lnTo>
                  <a:pt x="311229" y="556952"/>
                </a:lnTo>
                <a:lnTo>
                  <a:pt x="311229" y="530626"/>
                </a:lnTo>
                <a:close/>
                <a:moveTo>
                  <a:pt x="204373" y="479178"/>
                </a:moveTo>
                <a:lnTo>
                  <a:pt x="204373" y="504299"/>
                </a:lnTo>
                <a:lnTo>
                  <a:pt x="311229" y="504299"/>
                </a:lnTo>
                <a:lnTo>
                  <a:pt x="311229" y="479178"/>
                </a:lnTo>
                <a:close/>
                <a:moveTo>
                  <a:pt x="458958" y="243592"/>
                </a:moveTo>
                <a:lnTo>
                  <a:pt x="514281" y="243592"/>
                </a:lnTo>
                <a:lnTo>
                  <a:pt x="514281" y="269913"/>
                </a:lnTo>
                <a:lnTo>
                  <a:pt x="458958" y="269913"/>
                </a:lnTo>
                <a:close/>
                <a:moveTo>
                  <a:pt x="0" y="243592"/>
                </a:moveTo>
                <a:lnTo>
                  <a:pt x="55323" y="243592"/>
                </a:lnTo>
                <a:lnTo>
                  <a:pt x="55323" y="269913"/>
                </a:lnTo>
                <a:lnTo>
                  <a:pt x="0" y="269913"/>
                </a:lnTo>
                <a:close/>
                <a:moveTo>
                  <a:pt x="263695" y="202846"/>
                </a:moveTo>
                <a:lnTo>
                  <a:pt x="192467" y="273946"/>
                </a:lnTo>
                <a:lnTo>
                  <a:pt x="237321" y="273946"/>
                </a:lnTo>
                <a:cubicBezTo>
                  <a:pt x="248001" y="273946"/>
                  <a:pt x="251530" y="280991"/>
                  <a:pt x="250601" y="288407"/>
                </a:cubicBezTo>
                <a:lnTo>
                  <a:pt x="246608" y="326599"/>
                </a:lnTo>
                <a:lnTo>
                  <a:pt x="320436" y="252904"/>
                </a:lnTo>
                <a:lnTo>
                  <a:pt x="275582" y="252904"/>
                </a:lnTo>
                <a:cubicBezTo>
                  <a:pt x="270010" y="252904"/>
                  <a:pt x="262302" y="250586"/>
                  <a:pt x="262302" y="239648"/>
                </a:cubicBezTo>
                <a:close/>
                <a:moveTo>
                  <a:pt x="283673" y="156984"/>
                </a:moveTo>
                <a:cubicBezTo>
                  <a:pt x="288142" y="159139"/>
                  <a:pt x="291462" y="163635"/>
                  <a:pt x="291462" y="168641"/>
                </a:cubicBezTo>
                <a:lnTo>
                  <a:pt x="290071" y="225094"/>
                </a:lnTo>
                <a:lnTo>
                  <a:pt x="290069" y="225094"/>
                </a:lnTo>
                <a:lnTo>
                  <a:pt x="290069" y="225187"/>
                </a:lnTo>
                <a:lnTo>
                  <a:pt x="290071" y="225094"/>
                </a:lnTo>
                <a:lnTo>
                  <a:pt x="353496" y="225094"/>
                </a:lnTo>
                <a:cubicBezTo>
                  <a:pt x="367798" y="225094"/>
                  <a:pt x="370398" y="240946"/>
                  <a:pt x="362783" y="247435"/>
                </a:cubicBezTo>
                <a:lnTo>
                  <a:pt x="240014" y="369982"/>
                </a:lnTo>
                <a:cubicBezTo>
                  <a:pt x="231378" y="376749"/>
                  <a:pt x="217634" y="373041"/>
                  <a:pt x="217634" y="359414"/>
                </a:cubicBezTo>
                <a:lnTo>
                  <a:pt x="222927" y="298882"/>
                </a:lnTo>
                <a:lnTo>
                  <a:pt x="160893" y="298882"/>
                </a:lnTo>
                <a:cubicBezTo>
                  <a:pt x="148077" y="298882"/>
                  <a:pt x="141484" y="286646"/>
                  <a:pt x="151606" y="276542"/>
                </a:cubicBezTo>
                <a:lnTo>
                  <a:pt x="268988" y="159371"/>
                </a:lnTo>
                <a:cubicBezTo>
                  <a:pt x="273585" y="155014"/>
                  <a:pt x="279204" y="154829"/>
                  <a:pt x="283673" y="156984"/>
                </a:cubicBezTo>
                <a:close/>
                <a:moveTo>
                  <a:pt x="250606" y="114503"/>
                </a:moveTo>
                <a:cubicBezTo>
                  <a:pt x="179399" y="118396"/>
                  <a:pt x="121375" y="173830"/>
                  <a:pt x="114784" y="244837"/>
                </a:cubicBezTo>
                <a:cubicBezTo>
                  <a:pt x="110792" y="289610"/>
                  <a:pt x="126667" y="331788"/>
                  <a:pt x="159624" y="362007"/>
                </a:cubicBezTo>
                <a:cubicBezTo>
                  <a:pt x="186083" y="387407"/>
                  <a:pt x="201680" y="419388"/>
                  <a:pt x="204001" y="452852"/>
                </a:cubicBezTo>
                <a:lnTo>
                  <a:pt x="311322" y="452852"/>
                </a:lnTo>
                <a:cubicBezTo>
                  <a:pt x="313086" y="418553"/>
                  <a:pt x="328683" y="386758"/>
                  <a:pt x="354678" y="362007"/>
                </a:cubicBezTo>
                <a:cubicBezTo>
                  <a:pt x="383736" y="334476"/>
                  <a:pt x="400819" y="297489"/>
                  <a:pt x="400819" y="258000"/>
                </a:cubicBezTo>
                <a:cubicBezTo>
                  <a:pt x="400819" y="176425"/>
                  <a:pt x="332304" y="110517"/>
                  <a:pt x="250606" y="114503"/>
                </a:cubicBezTo>
                <a:close/>
                <a:moveTo>
                  <a:pt x="249213" y="88269"/>
                </a:moveTo>
                <a:cubicBezTo>
                  <a:pt x="346786" y="82985"/>
                  <a:pt x="427185" y="161964"/>
                  <a:pt x="427556" y="258092"/>
                </a:cubicBezTo>
                <a:cubicBezTo>
                  <a:pt x="427556" y="304164"/>
                  <a:pt x="407782" y="350142"/>
                  <a:pt x="373524" y="381845"/>
                </a:cubicBezTo>
                <a:cubicBezTo>
                  <a:pt x="351057" y="402795"/>
                  <a:pt x="337874" y="430511"/>
                  <a:pt x="337874" y="460824"/>
                </a:cubicBezTo>
                <a:lnTo>
                  <a:pt x="337874" y="571413"/>
                </a:lnTo>
                <a:cubicBezTo>
                  <a:pt x="337874" y="577995"/>
                  <a:pt x="331190" y="583278"/>
                  <a:pt x="324598" y="583278"/>
                </a:cubicBezTo>
                <a:lnTo>
                  <a:pt x="270473" y="583278"/>
                </a:lnTo>
                <a:lnTo>
                  <a:pt x="270473" y="592548"/>
                </a:lnTo>
                <a:cubicBezTo>
                  <a:pt x="270473" y="600428"/>
                  <a:pt x="265182" y="605804"/>
                  <a:pt x="257290" y="605804"/>
                </a:cubicBezTo>
                <a:cubicBezTo>
                  <a:pt x="249306" y="605804"/>
                  <a:pt x="244014" y="600428"/>
                  <a:pt x="244014" y="592548"/>
                </a:cubicBezTo>
                <a:lnTo>
                  <a:pt x="244014" y="583278"/>
                </a:lnTo>
                <a:lnTo>
                  <a:pt x="189890" y="583278"/>
                </a:lnTo>
                <a:cubicBezTo>
                  <a:pt x="181999" y="583278"/>
                  <a:pt x="176707" y="577995"/>
                  <a:pt x="176707" y="570023"/>
                </a:cubicBezTo>
                <a:lnTo>
                  <a:pt x="176707" y="460824"/>
                </a:lnTo>
                <a:cubicBezTo>
                  <a:pt x="176707" y="430511"/>
                  <a:pt x="163524" y="402795"/>
                  <a:pt x="139757" y="380454"/>
                </a:cubicBezTo>
                <a:cubicBezTo>
                  <a:pt x="101508" y="344951"/>
                  <a:pt x="83126" y="293596"/>
                  <a:pt x="87025" y="242241"/>
                </a:cubicBezTo>
                <a:cubicBezTo>
                  <a:pt x="95009" y="158071"/>
                  <a:pt x="164823" y="92255"/>
                  <a:pt x="249213" y="88269"/>
                </a:cubicBezTo>
                <a:close/>
                <a:moveTo>
                  <a:pt x="429815" y="66120"/>
                </a:moveTo>
                <a:lnTo>
                  <a:pt x="448444" y="84608"/>
                </a:lnTo>
                <a:lnTo>
                  <a:pt x="409280" y="123772"/>
                </a:lnTo>
                <a:lnTo>
                  <a:pt x="390721" y="105143"/>
                </a:lnTo>
                <a:close/>
                <a:moveTo>
                  <a:pt x="84820" y="66120"/>
                </a:moveTo>
                <a:lnTo>
                  <a:pt x="123843" y="105143"/>
                </a:lnTo>
                <a:lnTo>
                  <a:pt x="105284" y="123772"/>
                </a:lnTo>
                <a:lnTo>
                  <a:pt x="66120" y="84749"/>
                </a:lnTo>
                <a:close/>
                <a:moveTo>
                  <a:pt x="243945" y="0"/>
                </a:moveTo>
                <a:lnTo>
                  <a:pt x="270266" y="0"/>
                </a:lnTo>
                <a:lnTo>
                  <a:pt x="270266" y="55253"/>
                </a:lnTo>
                <a:lnTo>
                  <a:pt x="243945" y="552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660400" y="-672311"/>
            <a:ext cx="0" cy="42953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等腰三角形 16"/>
          <p:cNvSpPr>
            <a:spLocks noGrp="1"/>
          </p:cNvSpPr>
          <p:nvPr/>
        </p:nvSpPr>
        <p:spPr>
          <a:xfrm rot="5400000">
            <a:off x="656742" y="-480405"/>
            <a:ext cx="53036" cy="4572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706120" y="-642211"/>
            <a:ext cx="5803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选中背景图片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Delete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，点击中间图标即可插入新图片</a:t>
            </a:r>
            <a:endParaRPr sz="1800" b="0" i="0" u="none" cap="none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6582625" y="-672311"/>
            <a:ext cx="188305" cy="425834"/>
          </a:xfrm>
          <a:custGeom>
            <a:avLst/>
            <a:gdLst/>
            <a:ahLst/>
            <a:cxnLst/>
            <a:rect l="l" t="t" r="r" b="b"/>
            <a:pathLst>
              <a:path w="188305" h="425834">
                <a:moveTo>
                  <a:pt x="137517" y="318455"/>
                </a:moveTo>
                <a:cubicBezTo>
                  <a:pt x="151358" y="318455"/>
                  <a:pt x="161479" y="320222"/>
                  <a:pt x="167878" y="323757"/>
                </a:cubicBezTo>
                <a:cubicBezTo>
                  <a:pt x="174278" y="327291"/>
                  <a:pt x="179282" y="333003"/>
                  <a:pt x="182891" y="340890"/>
                </a:cubicBezTo>
                <a:cubicBezTo>
                  <a:pt x="186500" y="348778"/>
                  <a:pt x="188305" y="358303"/>
                  <a:pt x="188305" y="369465"/>
                </a:cubicBezTo>
                <a:cubicBezTo>
                  <a:pt x="188305" y="381669"/>
                  <a:pt x="186333" y="392069"/>
                  <a:pt x="182389" y="400664"/>
                </a:cubicBezTo>
                <a:cubicBezTo>
                  <a:pt x="178445" y="409258"/>
                  <a:pt x="173478" y="414951"/>
                  <a:pt x="167488" y="417742"/>
                </a:cubicBezTo>
                <a:cubicBezTo>
                  <a:pt x="161497" y="420532"/>
                  <a:pt x="151321" y="421927"/>
                  <a:pt x="136959" y="421927"/>
                </a:cubicBezTo>
                <a:lnTo>
                  <a:pt x="129815" y="421927"/>
                </a:lnTo>
                <a:lnTo>
                  <a:pt x="129815" y="378283"/>
                </a:lnTo>
                <a:lnTo>
                  <a:pt x="143210" y="378283"/>
                </a:lnTo>
                <a:cubicBezTo>
                  <a:pt x="149461" y="378283"/>
                  <a:pt x="153442" y="377725"/>
                  <a:pt x="155153" y="376609"/>
                </a:cubicBezTo>
                <a:cubicBezTo>
                  <a:pt x="156865" y="375493"/>
                  <a:pt x="157721" y="373633"/>
                  <a:pt x="157721" y="371028"/>
                </a:cubicBezTo>
                <a:cubicBezTo>
                  <a:pt x="157721" y="368200"/>
                  <a:pt x="156566" y="366061"/>
                  <a:pt x="154258" y="364610"/>
                </a:cubicBezTo>
                <a:cubicBezTo>
                  <a:pt x="151949" y="363159"/>
                  <a:pt x="148449" y="362433"/>
                  <a:pt x="143758" y="362433"/>
                </a:cubicBezTo>
                <a:cubicBezTo>
                  <a:pt x="137727" y="362433"/>
                  <a:pt x="133184" y="363249"/>
                  <a:pt x="130131" y="364880"/>
                </a:cubicBezTo>
                <a:cubicBezTo>
                  <a:pt x="127078" y="366438"/>
                  <a:pt x="123395" y="370865"/>
                  <a:pt x="119082" y="378160"/>
                </a:cubicBezTo>
                <a:cubicBezTo>
                  <a:pt x="106667" y="399078"/>
                  <a:pt x="96478" y="412254"/>
                  <a:pt x="88516" y="417686"/>
                </a:cubicBezTo>
                <a:cubicBezTo>
                  <a:pt x="80553" y="423118"/>
                  <a:pt x="67717" y="425834"/>
                  <a:pt x="50006" y="425834"/>
                </a:cubicBezTo>
                <a:cubicBezTo>
                  <a:pt x="37133" y="425834"/>
                  <a:pt x="27645" y="424327"/>
                  <a:pt x="21543" y="421313"/>
                </a:cubicBezTo>
                <a:cubicBezTo>
                  <a:pt x="15441" y="418300"/>
                  <a:pt x="10325" y="412477"/>
                  <a:pt x="6195" y="403845"/>
                </a:cubicBezTo>
                <a:cubicBezTo>
                  <a:pt x="2065" y="395213"/>
                  <a:pt x="0" y="385167"/>
                  <a:pt x="0" y="373707"/>
                </a:cubicBezTo>
                <a:cubicBezTo>
                  <a:pt x="0" y="361131"/>
                  <a:pt x="2381" y="350397"/>
                  <a:pt x="7144" y="341504"/>
                </a:cubicBezTo>
                <a:cubicBezTo>
                  <a:pt x="11906" y="332612"/>
                  <a:pt x="17971" y="326789"/>
                  <a:pt x="25338" y="324036"/>
                </a:cubicBezTo>
                <a:cubicBezTo>
                  <a:pt x="32705" y="321282"/>
                  <a:pt x="43160" y="319906"/>
                  <a:pt x="56704" y="319906"/>
                </a:cubicBezTo>
                <a:lnTo>
                  <a:pt x="68535" y="319906"/>
                </a:lnTo>
                <a:lnTo>
                  <a:pt x="68535" y="363549"/>
                </a:lnTo>
                <a:lnTo>
                  <a:pt x="46546" y="363549"/>
                </a:lnTo>
                <a:cubicBezTo>
                  <a:pt x="39774" y="363549"/>
                  <a:pt x="35421" y="364163"/>
                  <a:pt x="33486" y="365391"/>
                </a:cubicBezTo>
                <a:cubicBezTo>
                  <a:pt x="31552" y="366619"/>
                  <a:pt x="30584" y="368796"/>
                  <a:pt x="30584" y="371921"/>
                </a:cubicBezTo>
                <a:cubicBezTo>
                  <a:pt x="30584" y="375046"/>
                  <a:pt x="31812" y="377372"/>
                  <a:pt x="34268" y="378897"/>
                </a:cubicBezTo>
                <a:cubicBezTo>
                  <a:pt x="36723" y="380423"/>
                  <a:pt x="40370" y="381186"/>
                  <a:pt x="45207" y="381186"/>
                </a:cubicBezTo>
                <a:cubicBezTo>
                  <a:pt x="55848" y="381186"/>
                  <a:pt x="62806" y="379735"/>
                  <a:pt x="66080" y="376832"/>
                </a:cubicBezTo>
                <a:cubicBezTo>
                  <a:pt x="69354" y="373856"/>
                  <a:pt x="74823" y="366526"/>
                  <a:pt x="82488" y="354843"/>
                </a:cubicBezTo>
                <a:cubicBezTo>
                  <a:pt x="90227" y="343160"/>
                  <a:pt x="95845" y="335421"/>
                  <a:pt x="99343" y="331626"/>
                </a:cubicBezTo>
                <a:cubicBezTo>
                  <a:pt x="102840" y="327831"/>
                  <a:pt x="107677" y="324687"/>
                  <a:pt x="113854" y="322194"/>
                </a:cubicBezTo>
                <a:cubicBezTo>
                  <a:pt x="120030" y="319701"/>
                  <a:pt x="127918" y="318455"/>
                  <a:pt x="137517" y="318455"/>
                </a:cubicBezTo>
                <a:close/>
                <a:moveTo>
                  <a:pt x="107603" y="245529"/>
                </a:moveTo>
                <a:cubicBezTo>
                  <a:pt x="107528" y="246868"/>
                  <a:pt x="107491" y="248022"/>
                  <a:pt x="107491" y="248989"/>
                </a:cubicBezTo>
                <a:cubicBezTo>
                  <a:pt x="107491" y="253305"/>
                  <a:pt x="108552" y="256300"/>
                  <a:pt x="110672" y="257975"/>
                </a:cubicBezTo>
                <a:cubicBezTo>
                  <a:pt x="112793" y="259649"/>
                  <a:pt x="117202" y="260486"/>
                  <a:pt x="123900" y="260486"/>
                </a:cubicBezTo>
                <a:lnTo>
                  <a:pt x="138745" y="260486"/>
                </a:lnTo>
                <a:cubicBezTo>
                  <a:pt x="144922" y="260486"/>
                  <a:pt x="148940" y="259519"/>
                  <a:pt x="150800" y="257584"/>
                </a:cubicBezTo>
                <a:cubicBezTo>
                  <a:pt x="152661" y="255649"/>
                  <a:pt x="153591" y="251631"/>
                  <a:pt x="153591" y="245529"/>
                </a:cubicBezTo>
                <a:close/>
                <a:moveTo>
                  <a:pt x="3795" y="198536"/>
                </a:moveTo>
                <a:lnTo>
                  <a:pt x="184510" y="198536"/>
                </a:lnTo>
                <a:lnTo>
                  <a:pt x="184510" y="245864"/>
                </a:lnTo>
                <a:cubicBezTo>
                  <a:pt x="184510" y="258663"/>
                  <a:pt x="183505" y="268504"/>
                  <a:pt x="181496" y="275387"/>
                </a:cubicBezTo>
                <a:cubicBezTo>
                  <a:pt x="179487" y="282271"/>
                  <a:pt x="176585" y="287443"/>
                  <a:pt x="172790" y="290903"/>
                </a:cubicBezTo>
                <a:cubicBezTo>
                  <a:pt x="168994" y="294363"/>
                  <a:pt x="164399" y="296707"/>
                  <a:pt x="159004" y="297935"/>
                </a:cubicBezTo>
                <a:cubicBezTo>
                  <a:pt x="153609" y="299163"/>
                  <a:pt x="145256" y="299777"/>
                  <a:pt x="133945" y="299777"/>
                </a:cubicBezTo>
                <a:lnTo>
                  <a:pt x="118207" y="299777"/>
                </a:lnTo>
                <a:cubicBezTo>
                  <a:pt x="106673" y="299777"/>
                  <a:pt x="98264" y="298586"/>
                  <a:pt x="92981" y="296205"/>
                </a:cubicBezTo>
                <a:cubicBezTo>
                  <a:pt x="87697" y="293824"/>
                  <a:pt x="83642" y="289452"/>
                  <a:pt x="80814" y="283089"/>
                </a:cubicBezTo>
                <a:cubicBezTo>
                  <a:pt x="77986" y="276727"/>
                  <a:pt x="76572" y="268411"/>
                  <a:pt x="76572" y="258142"/>
                </a:cubicBezTo>
                <a:lnTo>
                  <a:pt x="76572" y="245529"/>
                </a:lnTo>
                <a:lnTo>
                  <a:pt x="3795" y="245529"/>
                </a:lnTo>
                <a:close/>
                <a:moveTo>
                  <a:pt x="3795" y="122336"/>
                </a:moveTo>
                <a:lnTo>
                  <a:pt x="184510" y="122336"/>
                </a:lnTo>
                <a:lnTo>
                  <a:pt x="184510" y="169329"/>
                </a:lnTo>
                <a:lnTo>
                  <a:pt x="3795" y="169329"/>
                </a:lnTo>
                <a:close/>
                <a:moveTo>
                  <a:pt x="148345" y="0"/>
                </a:moveTo>
                <a:lnTo>
                  <a:pt x="184510" y="0"/>
                </a:lnTo>
                <a:lnTo>
                  <a:pt x="184510" y="102691"/>
                </a:lnTo>
                <a:lnTo>
                  <a:pt x="148345" y="102691"/>
                </a:lnTo>
                <a:lnTo>
                  <a:pt x="148345" y="74786"/>
                </a:lnTo>
                <a:lnTo>
                  <a:pt x="3795" y="74786"/>
                </a:lnTo>
                <a:lnTo>
                  <a:pt x="3795" y="27793"/>
                </a:lnTo>
                <a:lnTo>
                  <a:pt x="148345" y="277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35" name="图片 20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6F1A5B"/>
              </a:clrFrom>
              <a:clrTo>
                <a:srgbClr val="6F1A5B">
                  <a:alpha val="0"/>
                </a:srgbClr>
              </a:clrTo>
            </a:clrChange>
          </a:blip>
          <a:srcRect l="27693" t="50695" r="23620" b="23753"/>
          <a:stretch>
            <a:fillRect/>
          </a:stretch>
        </p:blipFill>
        <p:spPr>
          <a:xfrm>
            <a:off x="358313" y="0"/>
            <a:ext cx="2298038" cy="8964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0" y="-979906"/>
            <a:ext cx="6904036" cy="685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 flipH="1">
            <a:off x="0" y="-979906"/>
            <a:ext cx="52388" cy="685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221028" y="-788062"/>
            <a:ext cx="236342" cy="236342"/>
          </a:xfrm>
          <a:prstGeom prst="ellipse">
            <a:avLst/>
          </a:prstGeom>
          <a:solidFill>
            <a:srgbClr val="FED1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" name="Oval 7"/>
          <p:cNvSpPr>
            <a:spLocks noGrp="1"/>
          </p:cNvSpPr>
          <p:nvPr/>
        </p:nvSpPr>
        <p:spPr>
          <a:xfrm>
            <a:off x="156880" y="-851773"/>
            <a:ext cx="364639" cy="429532"/>
          </a:xfrm>
          <a:custGeom>
            <a:avLst/>
            <a:gdLst>
              <a:gd name="connsiteX0" fmla="*/ 204373 w 514281"/>
              <a:gd name="connsiteY0" fmla="*/ 530626 h 605804"/>
              <a:gd name="connsiteX1" fmla="*/ 204373 w 514281"/>
              <a:gd name="connsiteY1" fmla="*/ 556952 h 605804"/>
              <a:gd name="connsiteX2" fmla="*/ 311229 w 514281"/>
              <a:gd name="connsiteY2" fmla="*/ 556952 h 605804"/>
              <a:gd name="connsiteX3" fmla="*/ 311229 w 514281"/>
              <a:gd name="connsiteY3" fmla="*/ 530626 h 605804"/>
              <a:gd name="connsiteX4" fmla="*/ 204373 w 514281"/>
              <a:gd name="connsiteY4" fmla="*/ 479178 h 605804"/>
              <a:gd name="connsiteX5" fmla="*/ 204373 w 514281"/>
              <a:gd name="connsiteY5" fmla="*/ 504299 h 605804"/>
              <a:gd name="connsiteX6" fmla="*/ 311229 w 514281"/>
              <a:gd name="connsiteY6" fmla="*/ 504299 h 605804"/>
              <a:gd name="connsiteX7" fmla="*/ 311229 w 514281"/>
              <a:gd name="connsiteY7" fmla="*/ 479178 h 605804"/>
              <a:gd name="connsiteX8" fmla="*/ 458958 w 514281"/>
              <a:gd name="connsiteY8" fmla="*/ 243592 h 605804"/>
              <a:gd name="connsiteX9" fmla="*/ 514281 w 514281"/>
              <a:gd name="connsiteY9" fmla="*/ 243592 h 605804"/>
              <a:gd name="connsiteX10" fmla="*/ 514281 w 514281"/>
              <a:gd name="connsiteY10" fmla="*/ 269913 h 605804"/>
              <a:gd name="connsiteX11" fmla="*/ 458958 w 514281"/>
              <a:gd name="connsiteY11" fmla="*/ 269913 h 605804"/>
              <a:gd name="connsiteX12" fmla="*/ 0 w 514281"/>
              <a:gd name="connsiteY12" fmla="*/ 243592 h 605804"/>
              <a:gd name="connsiteX13" fmla="*/ 55323 w 514281"/>
              <a:gd name="connsiteY13" fmla="*/ 243592 h 605804"/>
              <a:gd name="connsiteX14" fmla="*/ 55323 w 514281"/>
              <a:gd name="connsiteY14" fmla="*/ 269913 h 605804"/>
              <a:gd name="connsiteX15" fmla="*/ 0 w 514281"/>
              <a:gd name="connsiteY15" fmla="*/ 269913 h 605804"/>
              <a:gd name="connsiteX16" fmla="*/ 263695 w 514281"/>
              <a:gd name="connsiteY16" fmla="*/ 202846 h 605804"/>
              <a:gd name="connsiteX17" fmla="*/ 192467 w 514281"/>
              <a:gd name="connsiteY17" fmla="*/ 273946 h 605804"/>
              <a:gd name="connsiteX18" fmla="*/ 237321 w 514281"/>
              <a:gd name="connsiteY18" fmla="*/ 273946 h 605804"/>
              <a:gd name="connsiteX19" fmla="*/ 250601 w 514281"/>
              <a:gd name="connsiteY19" fmla="*/ 288407 h 605804"/>
              <a:gd name="connsiteX20" fmla="*/ 246608 w 514281"/>
              <a:gd name="connsiteY20" fmla="*/ 326599 h 605804"/>
              <a:gd name="connsiteX21" fmla="*/ 320436 w 514281"/>
              <a:gd name="connsiteY21" fmla="*/ 252904 h 605804"/>
              <a:gd name="connsiteX22" fmla="*/ 275582 w 514281"/>
              <a:gd name="connsiteY22" fmla="*/ 252904 h 605804"/>
              <a:gd name="connsiteX23" fmla="*/ 262302 w 514281"/>
              <a:gd name="connsiteY23" fmla="*/ 239648 h 605804"/>
              <a:gd name="connsiteX24" fmla="*/ 283673 w 514281"/>
              <a:gd name="connsiteY24" fmla="*/ 156984 h 605804"/>
              <a:gd name="connsiteX25" fmla="*/ 291462 w 514281"/>
              <a:gd name="connsiteY25" fmla="*/ 168641 h 605804"/>
              <a:gd name="connsiteX26" fmla="*/ 290071 w 514281"/>
              <a:gd name="connsiteY26" fmla="*/ 225094 h 605804"/>
              <a:gd name="connsiteX27" fmla="*/ 290069 w 514281"/>
              <a:gd name="connsiteY27" fmla="*/ 225094 h 605804"/>
              <a:gd name="connsiteX28" fmla="*/ 290069 w 514281"/>
              <a:gd name="connsiteY28" fmla="*/ 225187 h 605804"/>
              <a:gd name="connsiteX29" fmla="*/ 290071 w 514281"/>
              <a:gd name="connsiteY29" fmla="*/ 225094 h 605804"/>
              <a:gd name="connsiteX30" fmla="*/ 353496 w 514281"/>
              <a:gd name="connsiteY30" fmla="*/ 225094 h 605804"/>
              <a:gd name="connsiteX31" fmla="*/ 362783 w 514281"/>
              <a:gd name="connsiteY31" fmla="*/ 247435 h 605804"/>
              <a:gd name="connsiteX32" fmla="*/ 240014 w 514281"/>
              <a:gd name="connsiteY32" fmla="*/ 369982 h 605804"/>
              <a:gd name="connsiteX33" fmla="*/ 217634 w 514281"/>
              <a:gd name="connsiteY33" fmla="*/ 359414 h 605804"/>
              <a:gd name="connsiteX34" fmla="*/ 222927 w 514281"/>
              <a:gd name="connsiteY34" fmla="*/ 298882 h 605804"/>
              <a:gd name="connsiteX35" fmla="*/ 160893 w 514281"/>
              <a:gd name="connsiteY35" fmla="*/ 298882 h 605804"/>
              <a:gd name="connsiteX36" fmla="*/ 151606 w 514281"/>
              <a:gd name="connsiteY36" fmla="*/ 276542 h 605804"/>
              <a:gd name="connsiteX37" fmla="*/ 268988 w 514281"/>
              <a:gd name="connsiteY37" fmla="*/ 159371 h 605804"/>
              <a:gd name="connsiteX38" fmla="*/ 283673 w 514281"/>
              <a:gd name="connsiteY38" fmla="*/ 156984 h 605804"/>
              <a:gd name="connsiteX39" fmla="*/ 250606 w 514281"/>
              <a:gd name="connsiteY39" fmla="*/ 114503 h 605804"/>
              <a:gd name="connsiteX40" fmla="*/ 114784 w 514281"/>
              <a:gd name="connsiteY40" fmla="*/ 244837 h 605804"/>
              <a:gd name="connsiteX41" fmla="*/ 159624 w 514281"/>
              <a:gd name="connsiteY41" fmla="*/ 362007 h 605804"/>
              <a:gd name="connsiteX42" fmla="*/ 204001 w 514281"/>
              <a:gd name="connsiteY42" fmla="*/ 452852 h 605804"/>
              <a:gd name="connsiteX43" fmla="*/ 311322 w 514281"/>
              <a:gd name="connsiteY43" fmla="*/ 452852 h 605804"/>
              <a:gd name="connsiteX44" fmla="*/ 354678 w 514281"/>
              <a:gd name="connsiteY44" fmla="*/ 362007 h 605804"/>
              <a:gd name="connsiteX45" fmla="*/ 400819 w 514281"/>
              <a:gd name="connsiteY45" fmla="*/ 258000 h 605804"/>
              <a:gd name="connsiteX46" fmla="*/ 250606 w 514281"/>
              <a:gd name="connsiteY46" fmla="*/ 114503 h 605804"/>
              <a:gd name="connsiteX47" fmla="*/ 249213 w 514281"/>
              <a:gd name="connsiteY47" fmla="*/ 88269 h 605804"/>
              <a:gd name="connsiteX48" fmla="*/ 427556 w 514281"/>
              <a:gd name="connsiteY48" fmla="*/ 258092 h 605804"/>
              <a:gd name="connsiteX49" fmla="*/ 373524 w 514281"/>
              <a:gd name="connsiteY49" fmla="*/ 381845 h 605804"/>
              <a:gd name="connsiteX50" fmla="*/ 337874 w 514281"/>
              <a:gd name="connsiteY50" fmla="*/ 460824 h 605804"/>
              <a:gd name="connsiteX51" fmla="*/ 337874 w 514281"/>
              <a:gd name="connsiteY51" fmla="*/ 571413 h 605804"/>
              <a:gd name="connsiteX52" fmla="*/ 324598 w 514281"/>
              <a:gd name="connsiteY52" fmla="*/ 583278 h 605804"/>
              <a:gd name="connsiteX53" fmla="*/ 270473 w 514281"/>
              <a:gd name="connsiteY53" fmla="*/ 583278 h 605804"/>
              <a:gd name="connsiteX54" fmla="*/ 270473 w 514281"/>
              <a:gd name="connsiteY54" fmla="*/ 592548 h 605804"/>
              <a:gd name="connsiteX55" fmla="*/ 257290 w 514281"/>
              <a:gd name="connsiteY55" fmla="*/ 605804 h 605804"/>
              <a:gd name="connsiteX56" fmla="*/ 244014 w 514281"/>
              <a:gd name="connsiteY56" fmla="*/ 592548 h 605804"/>
              <a:gd name="connsiteX57" fmla="*/ 244014 w 514281"/>
              <a:gd name="connsiteY57" fmla="*/ 583278 h 605804"/>
              <a:gd name="connsiteX58" fmla="*/ 189890 w 514281"/>
              <a:gd name="connsiteY58" fmla="*/ 583278 h 605804"/>
              <a:gd name="connsiteX59" fmla="*/ 176707 w 514281"/>
              <a:gd name="connsiteY59" fmla="*/ 570023 h 605804"/>
              <a:gd name="connsiteX60" fmla="*/ 176707 w 514281"/>
              <a:gd name="connsiteY60" fmla="*/ 460824 h 605804"/>
              <a:gd name="connsiteX61" fmla="*/ 139757 w 514281"/>
              <a:gd name="connsiteY61" fmla="*/ 380454 h 605804"/>
              <a:gd name="connsiteX62" fmla="*/ 87025 w 514281"/>
              <a:gd name="connsiteY62" fmla="*/ 242241 h 605804"/>
              <a:gd name="connsiteX63" fmla="*/ 249213 w 514281"/>
              <a:gd name="connsiteY63" fmla="*/ 88269 h 605804"/>
              <a:gd name="connsiteX64" fmla="*/ 429815 w 514281"/>
              <a:gd name="connsiteY64" fmla="*/ 66120 h 605804"/>
              <a:gd name="connsiteX65" fmla="*/ 448444 w 514281"/>
              <a:gd name="connsiteY65" fmla="*/ 84608 h 605804"/>
              <a:gd name="connsiteX66" fmla="*/ 409280 w 514281"/>
              <a:gd name="connsiteY66" fmla="*/ 123772 h 605804"/>
              <a:gd name="connsiteX67" fmla="*/ 390721 w 514281"/>
              <a:gd name="connsiteY67" fmla="*/ 105143 h 605804"/>
              <a:gd name="connsiteX68" fmla="*/ 84820 w 514281"/>
              <a:gd name="connsiteY68" fmla="*/ 66120 h 605804"/>
              <a:gd name="connsiteX69" fmla="*/ 123843 w 514281"/>
              <a:gd name="connsiteY69" fmla="*/ 105143 h 605804"/>
              <a:gd name="connsiteX70" fmla="*/ 105284 w 514281"/>
              <a:gd name="connsiteY70" fmla="*/ 123772 h 605804"/>
              <a:gd name="connsiteX71" fmla="*/ 66120 w 514281"/>
              <a:gd name="connsiteY71" fmla="*/ 84749 h 605804"/>
              <a:gd name="connsiteX72" fmla="*/ 243945 w 514281"/>
              <a:gd name="connsiteY72" fmla="*/ 0 h 605804"/>
              <a:gd name="connsiteX73" fmla="*/ 270266 w 514281"/>
              <a:gd name="connsiteY73" fmla="*/ 0 h 605804"/>
              <a:gd name="connsiteX74" fmla="*/ 270266 w 514281"/>
              <a:gd name="connsiteY74" fmla="*/ 55253 h 605804"/>
              <a:gd name="connsiteX75" fmla="*/ 243945 w 514281"/>
              <a:gd name="connsiteY75" fmla="*/ 55253 h 605804"/>
            </a:gdLst>
            <a:ahLst/>
            <a:cxnLst/>
            <a:rect l="l" t="t" r="r" b="b"/>
            <a:pathLst>
              <a:path w="514281" h="605804">
                <a:moveTo>
                  <a:pt x="204373" y="530626"/>
                </a:moveTo>
                <a:lnTo>
                  <a:pt x="204373" y="556952"/>
                </a:lnTo>
                <a:lnTo>
                  <a:pt x="311229" y="556952"/>
                </a:lnTo>
                <a:lnTo>
                  <a:pt x="311229" y="530626"/>
                </a:lnTo>
                <a:close/>
                <a:moveTo>
                  <a:pt x="204373" y="479178"/>
                </a:moveTo>
                <a:lnTo>
                  <a:pt x="204373" y="504299"/>
                </a:lnTo>
                <a:lnTo>
                  <a:pt x="311229" y="504299"/>
                </a:lnTo>
                <a:lnTo>
                  <a:pt x="311229" y="479178"/>
                </a:lnTo>
                <a:close/>
                <a:moveTo>
                  <a:pt x="458958" y="243592"/>
                </a:moveTo>
                <a:lnTo>
                  <a:pt x="514281" y="243592"/>
                </a:lnTo>
                <a:lnTo>
                  <a:pt x="514281" y="269913"/>
                </a:lnTo>
                <a:lnTo>
                  <a:pt x="458958" y="269913"/>
                </a:lnTo>
                <a:close/>
                <a:moveTo>
                  <a:pt x="0" y="243592"/>
                </a:moveTo>
                <a:lnTo>
                  <a:pt x="55323" y="243592"/>
                </a:lnTo>
                <a:lnTo>
                  <a:pt x="55323" y="269913"/>
                </a:lnTo>
                <a:lnTo>
                  <a:pt x="0" y="269913"/>
                </a:lnTo>
                <a:close/>
                <a:moveTo>
                  <a:pt x="263695" y="202846"/>
                </a:moveTo>
                <a:lnTo>
                  <a:pt x="192467" y="273946"/>
                </a:lnTo>
                <a:lnTo>
                  <a:pt x="237321" y="273946"/>
                </a:lnTo>
                <a:cubicBezTo>
                  <a:pt x="248001" y="273946"/>
                  <a:pt x="251530" y="280991"/>
                  <a:pt x="250601" y="288407"/>
                </a:cubicBezTo>
                <a:lnTo>
                  <a:pt x="246608" y="326599"/>
                </a:lnTo>
                <a:lnTo>
                  <a:pt x="320436" y="252904"/>
                </a:lnTo>
                <a:lnTo>
                  <a:pt x="275582" y="252904"/>
                </a:lnTo>
                <a:cubicBezTo>
                  <a:pt x="270010" y="252904"/>
                  <a:pt x="262302" y="250586"/>
                  <a:pt x="262302" y="239648"/>
                </a:cubicBezTo>
                <a:close/>
                <a:moveTo>
                  <a:pt x="283673" y="156984"/>
                </a:moveTo>
                <a:cubicBezTo>
                  <a:pt x="288142" y="159139"/>
                  <a:pt x="291462" y="163635"/>
                  <a:pt x="291462" y="168641"/>
                </a:cubicBezTo>
                <a:lnTo>
                  <a:pt x="290071" y="225094"/>
                </a:lnTo>
                <a:lnTo>
                  <a:pt x="290069" y="225094"/>
                </a:lnTo>
                <a:lnTo>
                  <a:pt x="290069" y="225187"/>
                </a:lnTo>
                <a:lnTo>
                  <a:pt x="290071" y="225094"/>
                </a:lnTo>
                <a:lnTo>
                  <a:pt x="353496" y="225094"/>
                </a:lnTo>
                <a:cubicBezTo>
                  <a:pt x="367798" y="225094"/>
                  <a:pt x="370398" y="240946"/>
                  <a:pt x="362783" y="247435"/>
                </a:cubicBezTo>
                <a:lnTo>
                  <a:pt x="240014" y="369982"/>
                </a:lnTo>
                <a:cubicBezTo>
                  <a:pt x="231378" y="376749"/>
                  <a:pt x="217634" y="373041"/>
                  <a:pt x="217634" y="359414"/>
                </a:cubicBezTo>
                <a:lnTo>
                  <a:pt x="222927" y="298882"/>
                </a:lnTo>
                <a:lnTo>
                  <a:pt x="160893" y="298882"/>
                </a:lnTo>
                <a:cubicBezTo>
                  <a:pt x="148077" y="298882"/>
                  <a:pt x="141484" y="286646"/>
                  <a:pt x="151606" y="276542"/>
                </a:cubicBezTo>
                <a:lnTo>
                  <a:pt x="268988" y="159371"/>
                </a:lnTo>
                <a:cubicBezTo>
                  <a:pt x="273585" y="155014"/>
                  <a:pt x="279204" y="154829"/>
                  <a:pt x="283673" y="156984"/>
                </a:cubicBezTo>
                <a:close/>
                <a:moveTo>
                  <a:pt x="250606" y="114503"/>
                </a:moveTo>
                <a:cubicBezTo>
                  <a:pt x="179399" y="118396"/>
                  <a:pt x="121375" y="173830"/>
                  <a:pt x="114784" y="244837"/>
                </a:cubicBezTo>
                <a:cubicBezTo>
                  <a:pt x="110792" y="289610"/>
                  <a:pt x="126667" y="331788"/>
                  <a:pt x="159624" y="362007"/>
                </a:cubicBezTo>
                <a:cubicBezTo>
                  <a:pt x="186083" y="387407"/>
                  <a:pt x="201680" y="419388"/>
                  <a:pt x="204001" y="452852"/>
                </a:cubicBezTo>
                <a:lnTo>
                  <a:pt x="311322" y="452852"/>
                </a:lnTo>
                <a:cubicBezTo>
                  <a:pt x="313086" y="418553"/>
                  <a:pt x="328683" y="386758"/>
                  <a:pt x="354678" y="362007"/>
                </a:cubicBezTo>
                <a:cubicBezTo>
                  <a:pt x="383736" y="334476"/>
                  <a:pt x="400819" y="297489"/>
                  <a:pt x="400819" y="258000"/>
                </a:cubicBezTo>
                <a:cubicBezTo>
                  <a:pt x="400819" y="176425"/>
                  <a:pt x="332304" y="110517"/>
                  <a:pt x="250606" y="114503"/>
                </a:cubicBezTo>
                <a:close/>
                <a:moveTo>
                  <a:pt x="249213" y="88269"/>
                </a:moveTo>
                <a:cubicBezTo>
                  <a:pt x="346786" y="82985"/>
                  <a:pt x="427185" y="161964"/>
                  <a:pt x="427556" y="258092"/>
                </a:cubicBezTo>
                <a:cubicBezTo>
                  <a:pt x="427556" y="304164"/>
                  <a:pt x="407782" y="350142"/>
                  <a:pt x="373524" y="381845"/>
                </a:cubicBezTo>
                <a:cubicBezTo>
                  <a:pt x="351057" y="402795"/>
                  <a:pt x="337874" y="430511"/>
                  <a:pt x="337874" y="460824"/>
                </a:cubicBezTo>
                <a:lnTo>
                  <a:pt x="337874" y="571413"/>
                </a:lnTo>
                <a:cubicBezTo>
                  <a:pt x="337874" y="577995"/>
                  <a:pt x="331190" y="583278"/>
                  <a:pt x="324598" y="583278"/>
                </a:cubicBezTo>
                <a:lnTo>
                  <a:pt x="270473" y="583278"/>
                </a:lnTo>
                <a:lnTo>
                  <a:pt x="270473" y="592548"/>
                </a:lnTo>
                <a:cubicBezTo>
                  <a:pt x="270473" y="600428"/>
                  <a:pt x="265182" y="605804"/>
                  <a:pt x="257290" y="605804"/>
                </a:cubicBezTo>
                <a:cubicBezTo>
                  <a:pt x="249306" y="605804"/>
                  <a:pt x="244014" y="600428"/>
                  <a:pt x="244014" y="592548"/>
                </a:cubicBezTo>
                <a:lnTo>
                  <a:pt x="244014" y="583278"/>
                </a:lnTo>
                <a:lnTo>
                  <a:pt x="189890" y="583278"/>
                </a:lnTo>
                <a:cubicBezTo>
                  <a:pt x="181999" y="583278"/>
                  <a:pt x="176707" y="577995"/>
                  <a:pt x="176707" y="570023"/>
                </a:cubicBezTo>
                <a:lnTo>
                  <a:pt x="176707" y="460824"/>
                </a:lnTo>
                <a:cubicBezTo>
                  <a:pt x="176707" y="430511"/>
                  <a:pt x="163524" y="402795"/>
                  <a:pt x="139757" y="380454"/>
                </a:cubicBezTo>
                <a:cubicBezTo>
                  <a:pt x="101508" y="344951"/>
                  <a:pt x="83126" y="293596"/>
                  <a:pt x="87025" y="242241"/>
                </a:cubicBezTo>
                <a:cubicBezTo>
                  <a:pt x="95009" y="158071"/>
                  <a:pt x="164823" y="92255"/>
                  <a:pt x="249213" y="88269"/>
                </a:cubicBezTo>
                <a:close/>
                <a:moveTo>
                  <a:pt x="429815" y="66120"/>
                </a:moveTo>
                <a:lnTo>
                  <a:pt x="448444" y="84608"/>
                </a:lnTo>
                <a:lnTo>
                  <a:pt x="409280" y="123772"/>
                </a:lnTo>
                <a:lnTo>
                  <a:pt x="390721" y="105143"/>
                </a:lnTo>
                <a:close/>
                <a:moveTo>
                  <a:pt x="84820" y="66120"/>
                </a:moveTo>
                <a:lnTo>
                  <a:pt x="123843" y="105143"/>
                </a:lnTo>
                <a:lnTo>
                  <a:pt x="105284" y="123772"/>
                </a:lnTo>
                <a:lnTo>
                  <a:pt x="66120" y="84749"/>
                </a:lnTo>
                <a:close/>
                <a:moveTo>
                  <a:pt x="243945" y="0"/>
                </a:moveTo>
                <a:lnTo>
                  <a:pt x="270266" y="0"/>
                </a:lnTo>
                <a:lnTo>
                  <a:pt x="270266" y="55253"/>
                </a:lnTo>
                <a:lnTo>
                  <a:pt x="243945" y="552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60400" y="-851773"/>
            <a:ext cx="0" cy="42953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等腰三角形 8"/>
          <p:cNvSpPr>
            <a:spLocks noGrp="1"/>
          </p:cNvSpPr>
          <p:nvPr/>
        </p:nvSpPr>
        <p:spPr>
          <a:xfrm rot="5400000">
            <a:off x="656742" y="-659867"/>
            <a:ext cx="53036" cy="4572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06120" y="-821673"/>
            <a:ext cx="5803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设置导航栏请前往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【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视图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】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→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【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幻灯片母版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】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一键更改</a:t>
            </a:r>
            <a:endParaRPr sz="1800" b="0" i="0" u="none" cap="none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6582625" y="-851773"/>
            <a:ext cx="188305" cy="425834"/>
          </a:xfrm>
          <a:custGeom>
            <a:avLst/>
            <a:gdLst/>
            <a:ahLst/>
            <a:cxnLst/>
            <a:rect l="l" t="t" r="r" b="b"/>
            <a:pathLst>
              <a:path w="188305" h="425834">
                <a:moveTo>
                  <a:pt x="137517" y="318455"/>
                </a:moveTo>
                <a:cubicBezTo>
                  <a:pt x="151358" y="318455"/>
                  <a:pt x="161479" y="320222"/>
                  <a:pt x="167878" y="323757"/>
                </a:cubicBezTo>
                <a:cubicBezTo>
                  <a:pt x="174278" y="327291"/>
                  <a:pt x="179282" y="333003"/>
                  <a:pt x="182891" y="340890"/>
                </a:cubicBezTo>
                <a:cubicBezTo>
                  <a:pt x="186500" y="348778"/>
                  <a:pt x="188305" y="358303"/>
                  <a:pt x="188305" y="369465"/>
                </a:cubicBezTo>
                <a:cubicBezTo>
                  <a:pt x="188305" y="381669"/>
                  <a:pt x="186333" y="392069"/>
                  <a:pt x="182389" y="400664"/>
                </a:cubicBezTo>
                <a:cubicBezTo>
                  <a:pt x="178445" y="409258"/>
                  <a:pt x="173478" y="414951"/>
                  <a:pt x="167488" y="417742"/>
                </a:cubicBezTo>
                <a:cubicBezTo>
                  <a:pt x="161497" y="420532"/>
                  <a:pt x="151321" y="421927"/>
                  <a:pt x="136959" y="421927"/>
                </a:cubicBezTo>
                <a:lnTo>
                  <a:pt x="129815" y="421927"/>
                </a:lnTo>
                <a:lnTo>
                  <a:pt x="129815" y="378283"/>
                </a:lnTo>
                <a:lnTo>
                  <a:pt x="143210" y="378283"/>
                </a:lnTo>
                <a:cubicBezTo>
                  <a:pt x="149461" y="378283"/>
                  <a:pt x="153442" y="377725"/>
                  <a:pt x="155153" y="376609"/>
                </a:cubicBezTo>
                <a:cubicBezTo>
                  <a:pt x="156865" y="375493"/>
                  <a:pt x="157721" y="373633"/>
                  <a:pt x="157721" y="371028"/>
                </a:cubicBezTo>
                <a:cubicBezTo>
                  <a:pt x="157721" y="368200"/>
                  <a:pt x="156566" y="366061"/>
                  <a:pt x="154258" y="364610"/>
                </a:cubicBezTo>
                <a:cubicBezTo>
                  <a:pt x="151949" y="363159"/>
                  <a:pt x="148449" y="362433"/>
                  <a:pt x="143758" y="362433"/>
                </a:cubicBezTo>
                <a:cubicBezTo>
                  <a:pt x="137727" y="362433"/>
                  <a:pt x="133184" y="363249"/>
                  <a:pt x="130131" y="364880"/>
                </a:cubicBezTo>
                <a:cubicBezTo>
                  <a:pt x="127078" y="366438"/>
                  <a:pt x="123395" y="370865"/>
                  <a:pt x="119082" y="378160"/>
                </a:cubicBezTo>
                <a:cubicBezTo>
                  <a:pt x="106667" y="399078"/>
                  <a:pt x="96478" y="412254"/>
                  <a:pt x="88516" y="417686"/>
                </a:cubicBezTo>
                <a:cubicBezTo>
                  <a:pt x="80553" y="423118"/>
                  <a:pt x="67717" y="425834"/>
                  <a:pt x="50006" y="425834"/>
                </a:cubicBezTo>
                <a:cubicBezTo>
                  <a:pt x="37133" y="425834"/>
                  <a:pt x="27645" y="424327"/>
                  <a:pt x="21543" y="421313"/>
                </a:cubicBezTo>
                <a:cubicBezTo>
                  <a:pt x="15441" y="418300"/>
                  <a:pt x="10325" y="412477"/>
                  <a:pt x="6195" y="403845"/>
                </a:cubicBezTo>
                <a:cubicBezTo>
                  <a:pt x="2065" y="395213"/>
                  <a:pt x="0" y="385167"/>
                  <a:pt x="0" y="373707"/>
                </a:cubicBezTo>
                <a:cubicBezTo>
                  <a:pt x="0" y="361131"/>
                  <a:pt x="2381" y="350397"/>
                  <a:pt x="7144" y="341504"/>
                </a:cubicBezTo>
                <a:cubicBezTo>
                  <a:pt x="11906" y="332612"/>
                  <a:pt x="17971" y="326789"/>
                  <a:pt x="25338" y="324036"/>
                </a:cubicBezTo>
                <a:cubicBezTo>
                  <a:pt x="32705" y="321282"/>
                  <a:pt x="43160" y="319906"/>
                  <a:pt x="56704" y="319906"/>
                </a:cubicBezTo>
                <a:lnTo>
                  <a:pt x="68535" y="319906"/>
                </a:lnTo>
                <a:lnTo>
                  <a:pt x="68535" y="363549"/>
                </a:lnTo>
                <a:lnTo>
                  <a:pt x="46546" y="363549"/>
                </a:lnTo>
                <a:cubicBezTo>
                  <a:pt x="39774" y="363549"/>
                  <a:pt x="35421" y="364163"/>
                  <a:pt x="33486" y="365391"/>
                </a:cubicBezTo>
                <a:cubicBezTo>
                  <a:pt x="31552" y="366619"/>
                  <a:pt x="30584" y="368796"/>
                  <a:pt x="30584" y="371921"/>
                </a:cubicBezTo>
                <a:cubicBezTo>
                  <a:pt x="30584" y="375046"/>
                  <a:pt x="31812" y="377372"/>
                  <a:pt x="34268" y="378897"/>
                </a:cubicBezTo>
                <a:cubicBezTo>
                  <a:pt x="36723" y="380423"/>
                  <a:pt x="40370" y="381186"/>
                  <a:pt x="45207" y="381186"/>
                </a:cubicBezTo>
                <a:cubicBezTo>
                  <a:pt x="55848" y="381186"/>
                  <a:pt x="62806" y="379735"/>
                  <a:pt x="66080" y="376832"/>
                </a:cubicBezTo>
                <a:cubicBezTo>
                  <a:pt x="69354" y="373856"/>
                  <a:pt x="74823" y="366526"/>
                  <a:pt x="82488" y="354843"/>
                </a:cubicBezTo>
                <a:cubicBezTo>
                  <a:pt x="90227" y="343160"/>
                  <a:pt x="95845" y="335421"/>
                  <a:pt x="99343" y="331626"/>
                </a:cubicBezTo>
                <a:cubicBezTo>
                  <a:pt x="102840" y="327831"/>
                  <a:pt x="107677" y="324687"/>
                  <a:pt x="113854" y="322194"/>
                </a:cubicBezTo>
                <a:cubicBezTo>
                  <a:pt x="120030" y="319701"/>
                  <a:pt x="127918" y="318455"/>
                  <a:pt x="137517" y="318455"/>
                </a:cubicBezTo>
                <a:close/>
                <a:moveTo>
                  <a:pt x="107603" y="245529"/>
                </a:moveTo>
                <a:cubicBezTo>
                  <a:pt x="107528" y="246868"/>
                  <a:pt x="107491" y="248022"/>
                  <a:pt x="107491" y="248989"/>
                </a:cubicBezTo>
                <a:cubicBezTo>
                  <a:pt x="107491" y="253305"/>
                  <a:pt x="108552" y="256300"/>
                  <a:pt x="110672" y="257975"/>
                </a:cubicBezTo>
                <a:cubicBezTo>
                  <a:pt x="112793" y="259649"/>
                  <a:pt x="117202" y="260486"/>
                  <a:pt x="123900" y="260486"/>
                </a:cubicBezTo>
                <a:lnTo>
                  <a:pt x="138745" y="260486"/>
                </a:lnTo>
                <a:cubicBezTo>
                  <a:pt x="144922" y="260486"/>
                  <a:pt x="148940" y="259519"/>
                  <a:pt x="150800" y="257584"/>
                </a:cubicBezTo>
                <a:cubicBezTo>
                  <a:pt x="152661" y="255649"/>
                  <a:pt x="153591" y="251631"/>
                  <a:pt x="153591" y="245529"/>
                </a:cubicBezTo>
                <a:close/>
                <a:moveTo>
                  <a:pt x="3795" y="198536"/>
                </a:moveTo>
                <a:lnTo>
                  <a:pt x="184510" y="198536"/>
                </a:lnTo>
                <a:lnTo>
                  <a:pt x="184510" y="245864"/>
                </a:lnTo>
                <a:cubicBezTo>
                  <a:pt x="184510" y="258663"/>
                  <a:pt x="183505" y="268504"/>
                  <a:pt x="181496" y="275387"/>
                </a:cubicBezTo>
                <a:cubicBezTo>
                  <a:pt x="179487" y="282271"/>
                  <a:pt x="176585" y="287443"/>
                  <a:pt x="172790" y="290903"/>
                </a:cubicBezTo>
                <a:cubicBezTo>
                  <a:pt x="168994" y="294363"/>
                  <a:pt x="164399" y="296707"/>
                  <a:pt x="159004" y="297935"/>
                </a:cubicBezTo>
                <a:cubicBezTo>
                  <a:pt x="153609" y="299163"/>
                  <a:pt x="145256" y="299777"/>
                  <a:pt x="133945" y="299777"/>
                </a:cubicBezTo>
                <a:lnTo>
                  <a:pt x="118207" y="299777"/>
                </a:lnTo>
                <a:cubicBezTo>
                  <a:pt x="106673" y="299777"/>
                  <a:pt x="98264" y="298586"/>
                  <a:pt x="92981" y="296205"/>
                </a:cubicBezTo>
                <a:cubicBezTo>
                  <a:pt x="87697" y="293824"/>
                  <a:pt x="83642" y="289452"/>
                  <a:pt x="80814" y="283089"/>
                </a:cubicBezTo>
                <a:cubicBezTo>
                  <a:pt x="77986" y="276727"/>
                  <a:pt x="76572" y="268411"/>
                  <a:pt x="76572" y="258142"/>
                </a:cubicBezTo>
                <a:lnTo>
                  <a:pt x="76572" y="245529"/>
                </a:lnTo>
                <a:lnTo>
                  <a:pt x="3795" y="245529"/>
                </a:lnTo>
                <a:close/>
                <a:moveTo>
                  <a:pt x="3795" y="122336"/>
                </a:moveTo>
                <a:lnTo>
                  <a:pt x="184510" y="122336"/>
                </a:lnTo>
                <a:lnTo>
                  <a:pt x="184510" y="169329"/>
                </a:lnTo>
                <a:lnTo>
                  <a:pt x="3795" y="169329"/>
                </a:lnTo>
                <a:close/>
                <a:moveTo>
                  <a:pt x="148345" y="0"/>
                </a:moveTo>
                <a:lnTo>
                  <a:pt x="184510" y="0"/>
                </a:lnTo>
                <a:lnTo>
                  <a:pt x="184510" y="102691"/>
                </a:lnTo>
                <a:lnTo>
                  <a:pt x="148345" y="102691"/>
                </a:lnTo>
                <a:lnTo>
                  <a:pt x="148345" y="74786"/>
                </a:lnTo>
                <a:lnTo>
                  <a:pt x="3795" y="74786"/>
                </a:lnTo>
                <a:lnTo>
                  <a:pt x="3795" y="27793"/>
                </a:lnTo>
                <a:lnTo>
                  <a:pt x="148345" y="277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" name="Freeform 5"/>
          <p:cNvSpPr>
            <a:spLocks noGrp="1"/>
          </p:cNvSpPr>
          <p:nvPr/>
        </p:nvSpPr>
        <p:spPr>
          <a:xfrm>
            <a:off x="1528342" y="1626230"/>
            <a:ext cx="9517481" cy="3664567"/>
          </a:xfrm>
          <a:custGeom>
            <a:avLst/>
            <a:gdLst>
              <a:gd name="T0" fmla="*/ 0 w 6578"/>
              <a:gd name="T1" fmla="*/ 207 h 1851"/>
              <a:gd name="T2" fmla="*/ 6371 w 6578"/>
              <a:gd name="T3" fmla="*/ 207 h 1851"/>
              <a:gd name="T4" fmla="*/ 6578 w 6578"/>
              <a:gd name="T5" fmla="*/ 0 h 1851"/>
              <a:gd name="T6" fmla="*/ 6578 w 6578"/>
              <a:gd name="T7" fmla="*/ 1851 h 1851"/>
              <a:gd name="T8" fmla="*/ 0 w 6578"/>
              <a:gd name="T9" fmla="*/ 1851 h 1851"/>
              <a:gd name="T10" fmla="*/ 0 w 6578"/>
              <a:gd name="T11" fmla="*/ 489 h 1851"/>
              <a:gd name="T12" fmla="*/ 0 w 6578"/>
              <a:gd name="T13" fmla="*/ 207 h 1851"/>
            </a:gdLst>
            <a:ahLst/>
            <a:cxnLst/>
            <a:rect l="0" t="0" r="r" b="b"/>
            <a:pathLst>
              <a:path w="6578" h="1851">
                <a:moveTo>
                  <a:pt x="0" y="207"/>
                </a:moveTo>
                <a:lnTo>
                  <a:pt x="6371" y="207"/>
                </a:lnTo>
                <a:lnTo>
                  <a:pt x="6578" y="0"/>
                </a:lnTo>
                <a:lnTo>
                  <a:pt x="6578" y="1851"/>
                </a:lnTo>
                <a:lnTo>
                  <a:pt x="0" y="1851"/>
                </a:lnTo>
                <a:lnTo>
                  <a:pt x="0" y="489"/>
                </a:lnTo>
                <a:lnTo>
                  <a:pt x="0" y="207"/>
                </a:lnTo>
                <a:close/>
              </a:path>
            </a:pathLst>
          </a:custGeom>
          <a:noFill/>
          <a:ln w="0">
            <a:noFill/>
            <a:prstDash val="solid"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" name="Freeform 6"/>
          <p:cNvSpPr>
            <a:spLocks noGrp="1"/>
          </p:cNvSpPr>
          <p:nvPr/>
        </p:nvSpPr>
        <p:spPr>
          <a:xfrm>
            <a:off x="1146175" y="2559088"/>
            <a:ext cx="9450925" cy="3252774"/>
          </a:xfrm>
          <a:custGeom>
            <a:avLst/>
            <a:gdLst>
              <a:gd name="T0" fmla="*/ 288 w 6532"/>
              <a:gd name="T1" fmla="*/ 0 h 1643"/>
              <a:gd name="T2" fmla="*/ 0 w 6532"/>
              <a:gd name="T3" fmla="*/ 0 h 1643"/>
              <a:gd name="T4" fmla="*/ 0 w 6532"/>
              <a:gd name="T5" fmla="*/ 1643 h 1643"/>
              <a:gd name="T6" fmla="*/ 6532 w 6532"/>
              <a:gd name="T7" fmla="*/ 1643 h 1643"/>
              <a:gd name="T8" fmla="*/ 6532 w 6532"/>
              <a:gd name="T9" fmla="*/ 1355 h 1643"/>
            </a:gdLst>
            <a:ahLst/>
            <a:cxnLst/>
            <a:rect l="0" t="0" r="r" b="b"/>
            <a:pathLst>
              <a:path w="6532" h="1643">
                <a:moveTo>
                  <a:pt x="288" y="0"/>
                </a:moveTo>
                <a:lnTo>
                  <a:pt x="0" y="0"/>
                </a:lnTo>
                <a:lnTo>
                  <a:pt x="0" y="1643"/>
                </a:lnTo>
                <a:lnTo>
                  <a:pt x="6532" y="1643"/>
                </a:lnTo>
                <a:lnTo>
                  <a:pt x="6532" y="1355"/>
                </a:lnTo>
              </a:path>
            </a:pathLst>
          </a:custGeom>
          <a:noFill/>
          <a:ln w="0">
            <a:noFill/>
            <a:prstDash val="solid"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3048000" y="177800"/>
            <a:ext cx="876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平台定位：把分析结果转化为可执行的治理动作</a:t>
            </a:r>
            <a:endParaRPr sz="26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2794000" y="1168400"/>
            <a:ext cx="6604000" cy="240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我负责的管理应用层，承接上游数据与分析结果</a:t>
            </a:r>
            <a:endParaRPr sz="14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下箭头 18"/>
          <p:cNvSpPr>
            <a:spLocks noGrp="1"/>
          </p:cNvSpPr>
          <p:nvPr/>
        </p:nvSpPr>
        <p:spPr>
          <a:xfrm>
            <a:off x="5969000" y="1498600"/>
            <a:ext cx="254000" cy="279400"/>
          </a:xfrm>
          <a:prstGeom prst="downArrow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778000" y="1778000"/>
            <a:ext cx="8636000" cy="1041400"/>
          </a:xfrm>
          <a:prstGeom prst="roundRect">
            <a:avLst/>
          </a:prstGeom>
          <a:solidFill>
            <a:srgbClr val="F3E8F2"/>
          </a:solidFill>
          <a:ln w="19050">
            <a:solidFill>
              <a:srgbClr val="7E0C6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6200" tIns="50800" rIns="76200" bIns="50800" anchor="ctr"/>
          <a:lstStyle/>
          <a:p>
            <a:pPr algn="ctr">
              <a:buNone/>
            </a:pPr>
            <a:r>
              <a:rPr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输入｜校园公开讨论与已有数据</a:t>
            </a:r>
            <a:endParaRPr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13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接入、清洗、去标识化与稳定同步</a:t>
            </a:r>
            <a:endParaRPr sz="13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下箭头 20"/>
          <p:cNvSpPr>
            <a:spLocks noGrp="1"/>
          </p:cNvSpPr>
          <p:nvPr/>
        </p:nvSpPr>
        <p:spPr>
          <a:xfrm>
            <a:off x="5969000" y="2819400"/>
            <a:ext cx="254000" cy="330200"/>
          </a:xfrm>
          <a:prstGeom prst="downArrow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1778000" y="3149600"/>
            <a:ext cx="8636000" cy="1041400"/>
          </a:xfrm>
          <a:prstGeom prst="roundRect">
            <a:avLst/>
          </a:prstGeom>
          <a:solidFill>
            <a:srgbClr val="F3E8F2"/>
          </a:solidFill>
          <a:ln w="19050">
            <a:solidFill>
              <a:srgbClr val="7E0C6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6200" tIns="50800" rIns="76200" bIns="50800" anchor="ctr"/>
          <a:lstStyle/>
          <a:p>
            <a:pPr algn="ctr">
              <a:buNone/>
            </a:pPr>
            <a:r>
              <a:rPr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理解｜分类、事件、情绪与风险</a:t>
            </a:r>
            <a:endParaRPr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13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把分散帖子转化为结构化研判依据</a:t>
            </a:r>
            <a:endParaRPr sz="13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下箭头 22"/>
          <p:cNvSpPr>
            <a:spLocks noGrp="1"/>
          </p:cNvSpPr>
          <p:nvPr/>
        </p:nvSpPr>
        <p:spPr>
          <a:xfrm>
            <a:off x="5969000" y="4191000"/>
            <a:ext cx="254000" cy="330200"/>
          </a:xfrm>
          <a:prstGeom prst="downArrow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778000" y="4521200"/>
            <a:ext cx="8636000" cy="104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0C6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6200" tIns="50800" rIns="76200" bIns="50800" anchor="ctr"/>
          <a:lstStyle/>
          <a:p>
            <a:pPr algn="ctr">
              <a:buNone/>
            </a:pPr>
            <a:r>
              <a:rPr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治理｜本人负责设计与实现</a:t>
            </a:r>
            <a:endParaRPr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13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总览、监测、事件、报告、数据管理与智能助手</a:t>
            </a:r>
            <a:endParaRPr sz="13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>
            <a:spLocks noGrp="1"/>
          </p:cNvSpPr>
          <p:nvPr/>
        </p:nvSpPr>
        <p:spPr>
          <a:xfrm>
            <a:off x="1809750" y="5562600"/>
            <a:ext cx="8572500" cy="28575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buNone/>
              <a:defRPr sz="12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目标不是展示单一模型，而是形成“发现—研判—处置—留痕”的管理闭环。</a:t>
            </a:r>
            <a:endParaRPr sz="12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" y="81280"/>
            <a:ext cx="2002790" cy="5772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0" y="-979906"/>
            <a:ext cx="6904036" cy="685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 flipH="1">
            <a:off x="0" y="-979906"/>
            <a:ext cx="52388" cy="685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221028" y="-788062"/>
            <a:ext cx="236342" cy="236342"/>
          </a:xfrm>
          <a:prstGeom prst="ellipse">
            <a:avLst/>
          </a:prstGeom>
          <a:solidFill>
            <a:srgbClr val="FED1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" name="Oval 7"/>
          <p:cNvSpPr>
            <a:spLocks noGrp="1"/>
          </p:cNvSpPr>
          <p:nvPr/>
        </p:nvSpPr>
        <p:spPr>
          <a:xfrm>
            <a:off x="156880" y="-851773"/>
            <a:ext cx="364639" cy="429532"/>
          </a:xfrm>
          <a:custGeom>
            <a:avLst/>
            <a:gdLst>
              <a:gd name="connsiteX0" fmla="*/ 204373 w 514281"/>
              <a:gd name="connsiteY0" fmla="*/ 530626 h 605804"/>
              <a:gd name="connsiteX1" fmla="*/ 204373 w 514281"/>
              <a:gd name="connsiteY1" fmla="*/ 556952 h 605804"/>
              <a:gd name="connsiteX2" fmla="*/ 311229 w 514281"/>
              <a:gd name="connsiteY2" fmla="*/ 556952 h 605804"/>
              <a:gd name="connsiteX3" fmla="*/ 311229 w 514281"/>
              <a:gd name="connsiteY3" fmla="*/ 530626 h 605804"/>
              <a:gd name="connsiteX4" fmla="*/ 204373 w 514281"/>
              <a:gd name="connsiteY4" fmla="*/ 479178 h 605804"/>
              <a:gd name="connsiteX5" fmla="*/ 204373 w 514281"/>
              <a:gd name="connsiteY5" fmla="*/ 504299 h 605804"/>
              <a:gd name="connsiteX6" fmla="*/ 311229 w 514281"/>
              <a:gd name="connsiteY6" fmla="*/ 504299 h 605804"/>
              <a:gd name="connsiteX7" fmla="*/ 311229 w 514281"/>
              <a:gd name="connsiteY7" fmla="*/ 479178 h 605804"/>
              <a:gd name="connsiteX8" fmla="*/ 458958 w 514281"/>
              <a:gd name="connsiteY8" fmla="*/ 243592 h 605804"/>
              <a:gd name="connsiteX9" fmla="*/ 514281 w 514281"/>
              <a:gd name="connsiteY9" fmla="*/ 243592 h 605804"/>
              <a:gd name="connsiteX10" fmla="*/ 514281 w 514281"/>
              <a:gd name="connsiteY10" fmla="*/ 269913 h 605804"/>
              <a:gd name="connsiteX11" fmla="*/ 458958 w 514281"/>
              <a:gd name="connsiteY11" fmla="*/ 269913 h 605804"/>
              <a:gd name="connsiteX12" fmla="*/ 0 w 514281"/>
              <a:gd name="connsiteY12" fmla="*/ 243592 h 605804"/>
              <a:gd name="connsiteX13" fmla="*/ 55323 w 514281"/>
              <a:gd name="connsiteY13" fmla="*/ 243592 h 605804"/>
              <a:gd name="connsiteX14" fmla="*/ 55323 w 514281"/>
              <a:gd name="connsiteY14" fmla="*/ 269913 h 605804"/>
              <a:gd name="connsiteX15" fmla="*/ 0 w 514281"/>
              <a:gd name="connsiteY15" fmla="*/ 269913 h 605804"/>
              <a:gd name="connsiteX16" fmla="*/ 263695 w 514281"/>
              <a:gd name="connsiteY16" fmla="*/ 202846 h 605804"/>
              <a:gd name="connsiteX17" fmla="*/ 192467 w 514281"/>
              <a:gd name="connsiteY17" fmla="*/ 273946 h 605804"/>
              <a:gd name="connsiteX18" fmla="*/ 237321 w 514281"/>
              <a:gd name="connsiteY18" fmla="*/ 273946 h 605804"/>
              <a:gd name="connsiteX19" fmla="*/ 250601 w 514281"/>
              <a:gd name="connsiteY19" fmla="*/ 288407 h 605804"/>
              <a:gd name="connsiteX20" fmla="*/ 246608 w 514281"/>
              <a:gd name="connsiteY20" fmla="*/ 326599 h 605804"/>
              <a:gd name="connsiteX21" fmla="*/ 320436 w 514281"/>
              <a:gd name="connsiteY21" fmla="*/ 252904 h 605804"/>
              <a:gd name="connsiteX22" fmla="*/ 275582 w 514281"/>
              <a:gd name="connsiteY22" fmla="*/ 252904 h 605804"/>
              <a:gd name="connsiteX23" fmla="*/ 262302 w 514281"/>
              <a:gd name="connsiteY23" fmla="*/ 239648 h 605804"/>
              <a:gd name="connsiteX24" fmla="*/ 283673 w 514281"/>
              <a:gd name="connsiteY24" fmla="*/ 156984 h 605804"/>
              <a:gd name="connsiteX25" fmla="*/ 291462 w 514281"/>
              <a:gd name="connsiteY25" fmla="*/ 168641 h 605804"/>
              <a:gd name="connsiteX26" fmla="*/ 290071 w 514281"/>
              <a:gd name="connsiteY26" fmla="*/ 225094 h 605804"/>
              <a:gd name="connsiteX27" fmla="*/ 290069 w 514281"/>
              <a:gd name="connsiteY27" fmla="*/ 225094 h 605804"/>
              <a:gd name="connsiteX28" fmla="*/ 290069 w 514281"/>
              <a:gd name="connsiteY28" fmla="*/ 225187 h 605804"/>
              <a:gd name="connsiteX29" fmla="*/ 290071 w 514281"/>
              <a:gd name="connsiteY29" fmla="*/ 225094 h 605804"/>
              <a:gd name="connsiteX30" fmla="*/ 353496 w 514281"/>
              <a:gd name="connsiteY30" fmla="*/ 225094 h 605804"/>
              <a:gd name="connsiteX31" fmla="*/ 362783 w 514281"/>
              <a:gd name="connsiteY31" fmla="*/ 247435 h 605804"/>
              <a:gd name="connsiteX32" fmla="*/ 240014 w 514281"/>
              <a:gd name="connsiteY32" fmla="*/ 369982 h 605804"/>
              <a:gd name="connsiteX33" fmla="*/ 217634 w 514281"/>
              <a:gd name="connsiteY33" fmla="*/ 359414 h 605804"/>
              <a:gd name="connsiteX34" fmla="*/ 222927 w 514281"/>
              <a:gd name="connsiteY34" fmla="*/ 298882 h 605804"/>
              <a:gd name="connsiteX35" fmla="*/ 160893 w 514281"/>
              <a:gd name="connsiteY35" fmla="*/ 298882 h 605804"/>
              <a:gd name="connsiteX36" fmla="*/ 151606 w 514281"/>
              <a:gd name="connsiteY36" fmla="*/ 276542 h 605804"/>
              <a:gd name="connsiteX37" fmla="*/ 268988 w 514281"/>
              <a:gd name="connsiteY37" fmla="*/ 159371 h 605804"/>
              <a:gd name="connsiteX38" fmla="*/ 283673 w 514281"/>
              <a:gd name="connsiteY38" fmla="*/ 156984 h 605804"/>
              <a:gd name="connsiteX39" fmla="*/ 250606 w 514281"/>
              <a:gd name="connsiteY39" fmla="*/ 114503 h 605804"/>
              <a:gd name="connsiteX40" fmla="*/ 114784 w 514281"/>
              <a:gd name="connsiteY40" fmla="*/ 244837 h 605804"/>
              <a:gd name="connsiteX41" fmla="*/ 159624 w 514281"/>
              <a:gd name="connsiteY41" fmla="*/ 362007 h 605804"/>
              <a:gd name="connsiteX42" fmla="*/ 204001 w 514281"/>
              <a:gd name="connsiteY42" fmla="*/ 452852 h 605804"/>
              <a:gd name="connsiteX43" fmla="*/ 311322 w 514281"/>
              <a:gd name="connsiteY43" fmla="*/ 452852 h 605804"/>
              <a:gd name="connsiteX44" fmla="*/ 354678 w 514281"/>
              <a:gd name="connsiteY44" fmla="*/ 362007 h 605804"/>
              <a:gd name="connsiteX45" fmla="*/ 400819 w 514281"/>
              <a:gd name="connsiteY45" fmla="*/ 258000 h 605804"/>
              <a:gd name="connsiteX46" fmla="*/ 250606 w 514281"/>
              <a:gd name="connsiteY46" fmla="*/ 114503 h 605804"/>
              <a:gd name="connsiteX47" fmla="*/ 249213 w 514281"/>
              <a:gd name="connsiteY47" fmla="*/ 88269 h 605804"/>
              <a:gd name="connsiteX48" fmla="*/ 427556 w 514281"/>
              <a:gd name="connsiteY48" fmla="*/ 258092 h 605804"/>
              <a:gd name="connsiteX49" fmla="*/ 373524 w 514281"/>
              <a:gd name="connsiteY49" fmla="*/ 381845 h 605804"/>
              <a:gd name="connsiteX50" fmla="*/ 337874 w 514281"/>
              <a:gd name="connsiteY50" fmla="*/ 460824 h 605804"/>
              <a:gd name="connsiteX51" fmla="*/ 337874 w 514281"/>
              <a:gd name="connsiteY51" fmla="*/ 571413 h 605804"/>
              <a:gd name="connsiteX52" fmla="*/ 324598 w 514281"/>
              <a:gd name="connsiteY52" fmla="*/ 583278 h 605804"/>
              <a:gd name="connsiteX53" fmla="*/ 270473 w 514281"/>
              <a:gd name="connsiteY53" fmla="*/ 583278 h 605804"/>
              <a:gd name="connsiteX54" fmla="*/ 270473 w 514281"/>
              <a:gd name="connsiteY54" fmla="*/ 592548 h 605804"/>
              <a:gd name="connsiteX55" fmla="*/ 257290 w 514281"/>
              <a:gd name="connsiteY55" fmla="*/ 605804 h 605804"/>
              <a:gd name="connsiteX56" fmla="*/ 244014 w 514281"/>
              <a:gd name="connsiteY56" fmla="*/ 592548 h 605804"/>
              <a:gd name="connsiteX57" fmla="*/ 244014 w 514281"/>
              <a:gd name="connsiteY57" fmla="*/ 583278 h 605804"/>
              <a:gd name="connsiteX58" fmla="*/ 189890 w 514281"/>
              <a:gd name="connsiteY58" fmla="*/ 583278 h 605804"/>
              <a:gd name="connsiteX59" fmla="*/ 176707 w 514281"/>
              <a:gd name="connsiteY59" fmla="*/ 570023 h 605804"/>
              <a:gd name="connsiteX60" fmla="*/ 176707 w 514281"/>
              <a:gd name="connsiteY60" fmla="*/ 460824 h 605804"/>
              <a:gd name="connsiteX61" fmla="*/ 139757 w 514281"/>
              <a:gd name="connsiteY61" fmla="*/ 380454 h 605804"/>
              <a:gd name="connsiteX62" fmla="*/ 87025 w 514281"/>
              <a:gd name="connsiteY62" fmla="*/ 242241 h 605804"/>
              <a:gd name="connsiteX63" fmla="*/ 249213 w 514281"/>
              <a:gd name="connsiteY63" fmla="*/ 88269 h 605804"/>
              <a:gd name="connsiteX64" fmla="*/ 429815 w 514281"/>
              <a:gd name="connsiteY64" fmla="*/ 66120 h 605804"/>
              <a:gd name="connsiteX65" fmla="*/ 448444 w 514281"/>
              <a:gd name="connsiteY65" fmla="*/ 84608 h 605804"/>
              <a:gd name="connsiteX66" fmla="*/ 409280 w 514281"/>
              <a:gd name="connsiteY66" fmla="*/ 123772 h 605804"/>
              <a:gd name="connsiteX67" fmla="*/ 390721 w 514281"/>
              <a:gd name="connsiteY67" fmla="*/ 105143 h 605804"/>
              <a:gd name="connsiteX68" fmla="*/ 84820 w 514281"/>
              <a:gd name="connsiteY68" fmla="*/ 66120 h 605804"/>
              <a:gd name="connsiteX69" fmla="*/ 123843 w 514281"/>
              <a:gd name="connsiteY69" fmla="*/ 105143 h 605804"/>
              <a:gd name="connsiteX70" fmla="*/ 105284 w 514281"/>
              <a:gd name="connsiteY70" fmla="*/ 123772 h 605804"/>
              <a:gd name="connsiteX71" fmla="*/ 66120 w 514281"/>
              <a:gd name="connsiteY71" fmla="*/ 84749 h 605804"/>
              <a:gd name="connsiteX72" fmla="*/ 243945 w 514281"/>
              <a:gd name="connsiteY72" fmla="*/ 0 h 605804"/>
              <a:gd name="connsiteX73" fmla="*/ 270266 w 514281"/>
              <a:gd name="connsiteY73" fmla="*/ 0 h 605804"/>
              <a:gd name="connsiteX74" fmla="*/ 270266 w 514281"/>
              <a:gd name="connsiteY74" fmla="*/ 55253 h 605804"/>
              <a:gd name="connsiteX75" fmla="*/ 243945 w 514281"/>
              <a:gd name="connsiteY75" fmla="*/ 55253 h 605804"/>
            </a:gdLst>
            <a:ahLst/>
            <a:cxnLst/>
            <a:rect l="l" t="t" r="r" b="b"/>
            <a:pathLst>
              <a:path w="514281" h="605804">
                <a:moveTo>
                  <a:pt x="204373" y="530626"/>
                </a:moveTo>
                <a:lnTo>
                  <a:pt x="204373" y="556952"/>
                </a:lnTo>
                <a:lnTo>
                  <a:pt x="311229" y="556952"/>
                </a:lnTo>
                <a:lnTo>
                  <a:pt x="311229" y="530626"/>
                </a:lnTo>
                <a:close/>
                <a:moveTo>
                  <a:pt x="204373" y="479178"/>
                </a:moveTo>
                <a:lnTo>
                  <a:pt x="204373" y="504299"/>
                </a:lnTo>
                <a:lnTo>
                  <a:pt x="311229" y="504299"/>
                </a:lnTo>
                <a:lnTo>
                  <a:pt x="311229" y="479178"/>
                </a:lnTo>
                <a:close/>
                <a:moveTo>
                  <a:pt x="458958" y="243592"/>
                </a:moveTo>
                <a:lnTo>
                  <a:pt x="514281" y="243592"/>
                </a:lnTo>
                <a:lnTo>
                  <a:pt x="514281" y="269913"/>
                </a:lnTo>
                <a:lnTo>
                  <a:pt x="458958" y="269913"/>
                </a:lnTo>
                <a:close/>
                <a:moveTo>
                  <a:pt x="0" y="243592"/>
                </a:moveTo>
                <a:lnTo>
                  <a:pt x="55323" y="243592"/>
                </a:lnTo>
                <a:lnTo>
                  <a:pt x="55323" y="269913"/>
                </a:lnTo>
                <a:lnTo>
                  <a:pt x="0" y="269913"/>
                </a:lnTo>
                <a:close/>
                <a:moveTo>
                  <a:pt x="263695" y="202846"/>
                </a:moveTo>
                <a:lnTo>
                  <a:pt x="192467" y="273946"/>
                </a:lnTo>
                <a:lnTo>
                  <a:pt x="237321" y="273946"/>
                </a:lnTo>
                <a:cubicBezTo>
                  <a:pt x="248001" y="273946"/>
                  <a:pt x="251530" y="280991"/>
                  <a:pt x="250601" y="288407"/>
                </a:cubicBezTo>
                <a:lnTo>
                  <a:pt x="246608" y="326599"/>
                </a:lnTo>
                <a:lnTo>
                  <a:pt x="320436" y="252904"/>
                </a:lnTo>
                <a:lnTo>
                  <a:pt x="275582" y="252904"/>
                </a:lnTo>
                <a:cubicBezTo>
                  <a:pt x="270010" y="252904"/>
                  <a:pt x="262302" y="250586"/>
                  <a:pt x="262302" y="239648"/>
                </a:cubicBezTo>
                <a:close/>
                <a:moveTo>
                  <a:pt x="283673" y="156984"/>
                </a:moveTo>
                <a:cubicBezTo>
                  <a:pt x="288142" y="159139"/>
                  <a:pt x="291462" y="163635"/>
                  <a:pt x="291462" y="168641"/>
                </a:cubicBezTo>
                <a:lnTo>
                  <a:pt x="290071" y="225094"/>
                </a:lnTo>
                <a:lnTo>
                  <a:pt x="290069" y="225094"/>
                </a:lnTo>
                <a:lnTo>
                  <a:pt x="290069" y="225187"/>
                </a:lnTo>
                <a:lnTo>
                  <a:pt x="290071" y="225094"/>
                </a:lnTo>
                <a:lnTo>
                  <a:pt x="353496" y="225094"/>
                </a:lnTo>
                <a:cubicBezTo>
                  <a:pt x="367798" y="225094"/>
                  <a:pt x="370398" y="240946"/>
                  <a:pt x="362783" y="247435"/>
                </a:cubicBezTo>
                <a:lnTo>
                  <a:pt x="240014" y="369982"/>
                </a:lnTo>
                <a:cubicBezTo>
                  <a:pt x="231378" y="376749"/>
                  <a:pt x="217634" y="373041"/>
                  <a:pt x="217634" y="359414"/>
                </a:cubicBezTo>
                <a:lnTo>
                  <a:pt x="222927" y="298882"/>
                </a:lnTo>
                <a:lnTo>
                  <a:pt x="160893" y="298882"/>
                </a:lnTo>
                <a:cubicBezTo>
                  <a:pt x="148077" y="298882"/>
                  <a:pt x="141484" y="286646"/>
                  <a:pt x="151606" y="276542"/>
                </a:cubicBezTo>
                <a:lnTo>
                  <a:pt x="268988" y="159371"/>
                </a:lnTo>
                <a:cubicBezTo>
                  <a:pt x="273585" y="155014"/>
                  <a:pt x="279204" y="154829"/>
                  <a:pt x="283673" y="156984"/>
                </a:cubicBezTo>
                <a:close/>
                <a:moveTo>
                  <a:pt x="250606" y="114503"/>
                </a:moveTo>
                <a:cubicBezTo>
                  <a:pt x="179399" y="118396"/>
                  <a:pt x="121375" y="173830"/>
                  <a:pt x="114784" y="244837"/>
                </a:cubicBezTo>
                <a:cubicBezTo>
                  <a:pt x="110792" y="289610"/>
                  <a:pt x="126667" y="331788"/>
                  <a:pt x="159624" y="362007"/>
                </a:cubicBezTo>
                <a:cubicBezTo>
                  <a:pt x="186083" y="387407"/>
                  <a:pt x="201680" y="419388"/>
                  <a:pt x="204001" y="452852"/>
                </a:cubicBezTo>
                <a:lnTo>
                  <a:pt x="311322" y="452852"/>
                </a:lnTo>
                <a:cubicBezTo>
                  <a:pt x="313086" y="418553"/>
                  <a:pt x="328683" y="386758"/>
                  <a:pt x="354678" y="362007"/>
                </a:cubicBezTo>
                <a:cubicBezTo>
                  <a:pt x="383736" y="334476"/>
                  <a:pt x="400819" y="297489"/>
                  <a:pt x="400819" y="258000"/>
                </a:cubicBezTo>
                <a:cubicBezTo>
                  <a:pt x="400819" y="176425"/>
                  <a:pt x="332304" y="110517"/>
                  <a:pt x="250606" y="114503"/>
                </a:cubicBezTo>
                <a:close/>
                <a:moveTo>
                  <a:pt x="249213" y="88269"/>
                </a:moveTo>
                <a:cubicBezTo>
                  <a:pt x="346786" y="82985"/>
                  <a:pt x="427185" y="161964"/>
                  <a:pt x="427556" y="258092"/>
                </a:cubicBezTo>
                <a:cubicBezTo>
                  <a:pt x="427556" y="304164"/>
                  <a:pt x="407782" y="350142"/>
                  <a:pt x="373524" y="381845"/>
                </a:cubicBezTo>
                <a:cubicBezTo>
                  <a:pt x="351057" y="402795"/>
                  <a:pt x="337874" y="430511"/>
                  <a:pt x="337874" y="460824"/>
                </a:cubicBezTo>
                <a:lnTo>
                  <a:pt x="337874" y="571413"/>
                </a:lnTo>
                <a:cubicBezTo>
                  <a:pt x="337874" y="577995"/>
                  <a:pt x="331190" y="583278"/>
                  <a:pt x="324598" y="583278"/>
                </a:cubicBezTo>
                <a:lnTo>
                  <a:pt x="270473" y="583278"/>
                </a:lnTo>
                <a:lnTo>
                  <a:pt x="270473" y="592548"/>
                </a:lnTo>
                <a:cubicBezTo>
                  <a:pt x="270473" y="600428"/>
                  <a:pt x="265182" y="605804"/>
                  <a:pt x="257290" y="605804"/>
                </a:cubicBezTo>
                <a:cubicBezTo>
                  <a:pt x="249306" y="605804"/>
                  <a:pt x="244014" y="600428"/>
                  <a:pt x="244014" y="592548"/>
                </a:cubicBezTo>
                <a:lnTo>
                  <a:pt x="244014" y="583278"/>
                </a:lnTo>
                <a:lnTo>
                  <a:pt x="189890" y="583278"/>
                </a:lnTo>
                <a:cubicBezTo>
                  <a:pt x="181999" y="583278"/>
                  <a:pt x="176707" y="577995"/>
                  <a:pt x="176707" y="570023"/>
                </a:cubicBezTo>
                <a:lnTo>
                  <a:pt x="176707" y="460824"/>
                </a:lnTo>
                <a:cubicBezTo>
                  <a:pt x="176707" y="430511"/>
                  <a:pt x="163524" y="402795"/>
                  <a:pt x="139757" y="380454"/>
                </a:cubicBezTo>
                <a:cubicBezTo>
                  <a:pt x="101508" y="344951"/>
                  <a:pt x="83126" y="293596"/>
                  <a:pt x="87025" y="242241"/>
                </a:cubicBezTo>
                <a:cubicBezTo>
                  <a:pt x="95009" y="158071"/>
                  <a:pt x="164823" y="92255"/>
                  <a:pt x="249213" y="88269"/>
                </a:cubicBezTo>
                <a:close/>
                <a:moveTo>
                  <a:pt x="429815" y="66120"/>
                </a:moveTo>
                <a:lnTo>
                  <a:pt x="448444" y="84608"/>
                </a:lnTo>
                <a:lnTo>
                  <a:pt x="409280" y="123772"/>
                </a:lnTo>
                <a:lnTo>
                  <a:pt x="390721" y="105143"/>
                </a:lnTo>
                <a:close/>
                <a:moveTo>
                  <a:pt x="84820" y="66120"/>
                </a:moveTo>
                <a:lnTo>
                  <a:pt x="123843" y="105143"/>
                </a:lnTo>
                <a:lnTo>
                  <a:pt x="105284" y="123772"/>
                </a:lnTo>
                <a:lnTo>
                  <a:pt x="66120" y="84749"/>
                </a:lnTo>
                <a:close/>
                <a:moveTo>
                  <a:pt x="243945" y="0"/>
                </a:moveTo>
                <a:lnTo>
                  <a:pt x="270266" y="0"/>
                </a:lnTo>
                <a:lnTo>
                  <a:pt x="270266" y="55253"/>
                </a:lnTo>
                <a:lnTo>
                  <a:pt x="243945" y="552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60400" y="-851773"/>
            <a:ext cx="0" cy="42953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等腰三角形 8"/>
          <p:cNvSpPr>
            <a:spLocks noGrp="1"/>
          </p:cNvSpPr>
          <p:nvPr/>
        </p:nvSpPr>
        <p:spPr>
          <a:xfrm rot="5400000">
            <a:off x="656742" y="-659867"/>
            <a:ext cx="53036" cy="4572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06120" y="-821673"/>
            <a:ext cx="5803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设置导航栏请前往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【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视图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】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→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【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幻灯片母版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】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一键更改</a:t>
            </a:r>
            <a:endParaRPr sz="1800" b="0" i="0" u="none" cap="none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6582625" y="-851773"/>
            <a:ext cx="188305" cy="425834"/>
          </a:xfrm>
          <a:custGeom>
            <a:avLst/>
            <a:gdLst/>
            <a:ahLst/>
            <a:cxnLst/>
            <a:rect l="l" t="t" r="r" b="b"/>
            <a:pathLst>
              <a:path w="188305" h="425834">
                <a:moveTo>
                  <a:pt x="137517" y="318455"/>
                </a:moveTo>
                <a:cubicBezTo>
                  <a:pt x="151358" y="318455"/>
                  <a:pt x="161479" y="320222"/>
                  <a:pt x="167878" y="323757"/>
                </a:cubicBezTo>
                <a:cubicBezTo>
                  <a:pt x="174278" y="327291"/>
                  <a:pt x="179282" y="333003"/>
                  <a:pt x="182891" y="340890"/>
                </a:cubicBezTo>
                <a:cubicBezTo>
                  <a:pt x="186500" y="348778"/>
                  <a:pt x="188305" y="358303"/>
                  <a:pt x="188305" y="369465"/>
                </a:cubicBezTo>
                <a:cubicBezTo>
                  <a:pt x="188305" y="381669"/>
                  <a:pt x="186333" y="392069"/>
                  <a:pt x="182389" y="400664"/>
                </a:cubicBezTo>
                <a:cubicBezTo>
                  <a:pt x="178445" y="409258"/>
                  <a:pt x="173478" y="414951"/>
                  <a:pt x="167488" y="417742"/>
                </a:cubicBezTo>
                <a:cubicBezTo>
                  <a:pt x="161497" y="420532"/>
                  <a:pt x="151321" y="421927"/>
                  <a:pt x="136959" y="421927"/>
                </a:cubicBezTo>
                <a:lnTo>
                  <a:pt x="129815" y="421927"/>
                </a:lnTo>
                <a:lnTo>
                  <a:pt x="129815" y="378283"/>
                </a:lnTo>
                <a:lnTo>
                  <a:pt x="143210" y="378283"/>
                </a:lnTo>
                <a:cubicBezTo>
                  <a:pt x="149461" y="378283"/>
                  <a:pt x="153442" y="377725"/>
                  <a:pt x="155153" y="376609"/>
                </a:cubicBezTo>
                <a:cubicBezTo>
                  <a:pt x="156865" y="375493"/>
                  <a:pt x="157721" y="373633"/>
                  <a:pt x="157721" y="371028"/>
                </a:cubicBezTo>
                <a:cubicBezTo>
                  <a:pt x="157721" y="368200"/>
                  <a:pt x="156566" y="366061"/>
                  <a:pt x="154258" y="364610"/>
                </a:cubicBezTo>
                <a:cubicBezTo>
                  <a:pt x="151949" y="363159"/>
                  <a:pt x="148449" y="362433"/>
                  <a:pt x="143758" y="362433"/>
                </a:cubicBezTo>
                <a:cubicBezTo>
                  <a:pt x="137727" y="362433"/>
                  <a:pt x="133184" y="363249"/>
                  <a:pt x="130131" y="364880"/>
                </a:cubicBezTo>
                <a:cubicBezTo>
                  <a:pt x="127078" y="366438"/>
                  <a:pt x="123395" y="370865"/>
                  <a:pt x="119082" y="378160"/>
                </a:cubicBezTo>
                <a:cubicBezTo>
                  <a:pt x="106667" y="399078"/>
                  <a:pt x="96478" y="412254"/>
                  <a:pt x="88516" y="417686"/>
                </a:cubicBezTo>
                <a:cubicBezTo>
                  <a:pt x="80553" y="423118"/>
                  <a:pt x="67717" y="425834"/>
                  <a:pt x="50006" y="425834"/>
                </a:cubicBezTo>
                <a:cubicBezTo>
                  <a:pt x="37133" y="425834"/>
                  <a:pt x="27645" y="424327"/>
                  <a:pt x="21543" y="421313"/>
                </a:cubicBezTo>
                <a:cubicBezTo>
                  <a:pt x="15441" y="418300"/>
                  <a:pt x="10325" y="412477"/>
                  <a:pt x="6195" y="403845"/>
                </a:cubicBezTo>
                <a:cubicBezTo>
                  <a:pt x="2065" y="395213"/>
                  <a:pt x="0" y="385167"/>
                  <a:pt x="0" y="373707"/>
                </a:cubicBezTo>
                <a:cubicBezTo>
                  <a:pt x="0" y="361131"/>
                  <a:pt x="2381" y="350397"/>
                  <a:pt x="7144" y="341504"/>
                </a:cubicBezTo>
                <a:cubicBezTo>
                  <a:pt x="11906" y="332612"/>
                  <a:pt x="17971" y="326789"/>
                  <a:pt x="25338" y="324036"/>
                </a:cubicBezTo>
                <a:cubicBezTo>
                  <a:pt x="32705" y="321282"/>
                  <a:pt x="43160" y="319906"/>
                  <a:pt x="56704" y="319906"/>
                </a:cubicBezTo>
                <a:lnTo>
                  <a:pt x="68535" y="319906"/>
                </a:lnTo>
                <a:lnTo>
                  <a:pt x="68535" y="363549"/>
                </a:lnTo>
                <a:lnTo>
                  <a:pt x="46546" y="363549"/>
                </a:lnTo>
                <a:cubicBezTo>
                  <a:pt x="39774" y="363549"/>
                  <a:pt x="35421" y="364163"/>
                  <a:pt x="33486" y="365391"/>
                </a:cubicBezTo>
                <a:cubicBezTo>
                  <a:pt x="31552" y="366619"/>
                  <a:pt x="30584" y="368796"/>
                  <a:pt x="30584" y="371921"/>
                </a:cubicBezTo>
                <a:cubicBezTo>
                  <a:pt x="30584" y="375046"/>
                  <a:pt x="31812" y="377372"/>
                  <a:pt x="34268" y="378897"/>
                </a:cubicBezTo>
                <a:cubicBezTo>
                  <a:pt x="36723" y="380423"/>
                  <a:pt x="40370" y="381186"/>
                  <a:pt x="45207" y="381186"/>
                </a:cubicBezTo>
                <a:cubicBezTo>
                  <a:pt x="55848" y="381186"/>
                  <a:pt x="62806" y="379735"/>
                  <a:pt x="66080" y="376832"/>
                </a:cubicBezTo>
                <a:cubicBezTo>
                  <a:pt x="69354" y="373856"/>
                  <a:pt x="74823" y="366526"/>
                  <a:pt x="82488" y="354843"/>
                </a:cubicBezTo>
                <a:cubicBezTo>
                  <a:pt x="90227" y="343160"/>
                  <a:pt x="95845" y="335421"/>
                  <a:pt x="99343" y="331626"/>
                </a:cubicBezTo>
                <a:cubicBezTo>
                  <a:pt x="102840" y="327831"/>
                  <a:pt x="107677" y="324687"/>
                  <a:pt x="113854" y="322194"/>
                </a:cubicBezTo>
                <a:cubicBezTo>
                  <a:pt x="120030" y="319701"/>
                  <a:pt x="127918" y="318455"/>
                  <a:pt x="137517" y="318455"/>
                </a:cubicBezTo>
                <a:close/>
                <a:moveTo>
                  <a:pt x="107603" y="245529"/>
                </a:moveTo>
                <a:cubicBezTo>
                  <a:pt x="107528" y="246868"/>
                  <a:pt x="107491" y="248022"/>
                  <a:pt x="107491" y="248989"/>
                </a:cubicBezTo>
                <a:cubicBezTo>
                  <a:pt x="107491" y="253305"/>
                  <a:pt x="108552" y="256300"/>
                  <a:pt x="110672" y="257975"/>
                </a:cubicBezTo>
                <a:cubicBezTo>
                  <a:pt x="112793" y="259649"/>
                  <a:pt x="117202" y="260486"/>
                  <a:pt x="123900" y="260486"/>
                </a:cubicBezTo>
                <a:lnTo>
                  <a:pt x="138745" y="260486"/>
                </a:lnTo>
                <a:cubicBezTo>
                  <a:pt x="144922" y="260486"/>
                  <a:pt x="148940" y="259519"/>
                  <a:pt x="150800" y="257584"/>
                </a:cubicBezTo>
                <a:cubicBezTo>
                  <a:pt x="152661" y="255649"/>
                  <a:pt x="153591" y="251631"/>
                  <a:pt x="153591" y="245529"/>
                </a:cubicBezTo>
                <a:close/>
                <a:moveTo>
                  <a:pt x="3795" y="198536"/>
                </a:moveTo>
                <a:lnTo>
                  <a:pt x="184510" y="198536"/>
                </a:lnTo>
                <a:lnTo>
                  <a:pt x="184510" y="245864"/>
                </a:lnTo>
                <a:cubicBezTo>
                  <a:pt x="184510" y="258663"/>
                  <a:pt x="183505" y="268504"/>
                  <a:pt x="181496" y="275387"/>
                </a:cubicBezTo>
                <a:cubicBezTo>
                  <a:pt x="179487" y="282271"/>
                  <a:pt x="176585" y="287443"/>
                  <a:pt x="172790" y="290903"/>
                </a:cubicBezTo>
                <a:cubicBezTo>
                  <a:pt x="168994" y="294363"/>
                  <a:pt x="164399" y="296707"/>
                  <a:pt x="159004" y="297935"/>
                </a:cubicBezTo>
                <a:cubicBezTo>
                  <a:pt x="153609" y="299163"/>
                  <a:pt x="145256" y="299777"/>
                  <a:pt x="133945" y="299777"/>
                </a:cubicBezTo>
                <a:lnTo>
                  <a:pt x="118207" y="299777"/>
                </a:lnTo>
                <a:cubicBezTo>
                  <a:pt x="106673" y="299777"/>
                  <a:pt x="98264" y="298586"/>
                  <a:pt x="92981" y="296205"/>
                </a:cubicBezTo>
                <a:cubicBezTo>
                  <a:pt x="87697" y="293824"/>
                  <a:pt x="83642" y="289452"/>
                  <a:pt x="80814" y="283089"/>
                </a:cubicBezTo>
                <a:cubicBezTo>
                  <a:pt x="77986" y="276727"/>
                  <a:pt x="76572" y="268411"/>
                  <a:pt x="76572" y="258142"/>
                </a:cubicBezTo>
                <a:lnTo>
                  <a:pt x="76572" y="245529"/>
                </a:lnTo>
                <a:lnTo>
                  <a:pt x="3795" y="245529"/>
                </a:lnTo>
                <a:close/>
                <a:moveTo>
                  <a:pt x="3795" y="122336"/>
                </a:moveTo>
                <a:lnTo>
                  <a:pt x="184510" y="122336"/>
                </a:lnTo>
                <a:lnTo>
                  <a:pt x="184510" y="169329"/>
                </a:lnTo>
                <a:lnTo>
                  <a:pt x="3795" y="169329"/>
                </a:lnTo>
                <a:close/>
                <a:moveTo>
                  <a:pt x="148345" y="0"/>
                </a:moveTo>
                <a:lnTo>
                  <a:pt x="184510" y="0"/>
                </a:lnTo>
                <a:lnTo>
                  <a:pt x="184510" y="102691"/>
                </a:lnTo>
                <a:lnTo>
                  <a:pt x="148345" y="102691"/>
                </a:lnTo>
                <a:lnTo>
                  <a:pt x="148345" y="74786"/>
                </a:lnTo>
                <a:lnTo>
                  <a:pt x="3795" y="74786"/>
                </a:lnTo>
                <a:lnTo>
                  <a:pt x="3795" y="27793"/>
                </a:lnTo>
                <a:lnTo>
                  <a:pt x="148345" y="277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" name="Freeform 5"/>
          <p:cNvSpPr>
            <a:spLocks noGrp="1"/>
          </p:cNvSpPr>
          <p:nvPr/>
        </p:nvSpPr>
        <p:spPr>
          <a:xfrm>
            <a:off x="1528342" y="1626230"/>
            <a:ext cx="9517481" cy="3664567"/>
          </a:xfrm>
          <a:custGeom>
            <a:avLst/>
            <a:gdLst>
              <a:gd name="T0" fmla="*/ 0 w 6578"/>
              <a:gd name="T1" fmla="*/ 207 h 1851"/>
              <a:gd name="T2" fmla="*/ 6371 w 6578"/>
              <a:gd name="T3" fmla="*/ 207 h 1851"/>
              <a:gd name="T4" fmla="*/ 6578 w 6578"/>
              <a:gd name="T5" fmla="*/ 0 h 1851"/>
              <a:gd name="T6" fmla="*/ 6578 w 6578"/>
              <a:gd name="T7" fmla="*/ 1851 h 1851"/>
              <a:gd name="T8" fmla="*/ 0 w 6578"/>
              <a:gd name="T9" fmla="*/ 1851 h 1851"/>
              <a:gd name="T10" fmla="*/ 0 w 6578"/>
              <a:gd name="T11" fmla="*/ 489 h 1851"/>
              <a:gd name="T12" fmla="*/ 0 w 6578"/>
              <a:gd name="T13" fmla="*/ 207 h 1851"/>
            </a:gdLst>
            <a:ahLst/>
            <a:cxnLst/>
            <a:rect l="0" t="0" r="r" b="b"/>
            <a:pathLst>
              <a:path w="6578" h="1851">
                <a:moveTo>
                  <a:pt x="0" y="207"/>
                </a:moveTo>
                <a:lnTo>
                  <a:pt x="6371" y="207"/>
                </a:lnTo>
                <a:lnTo>
                  <a:pt x="6578" y="0"/>
                </a:lnTo>
                <a:lnTo>
                  <a:pt x="6578" y="1851"/>
                </a:lnTo>
                <a:lnTo>
                  <a:pt x="0" y="1851"/>
                </a:lnTo>
                <a:lnTo>
                  <a:pt x="0" y="489"/>
                </a:lnTo>
                <a:lnTo>
                  <a:pt x="0" y="207"/>
                </a:lnTo>
                <a:close/>
              </a:path>
            </a:pathLst>
          </a:custGeom>
          <a:noFill/>
          <a:ln w="57150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" name="Freeform 6"/>
          <p:cNvSpPr>
            <a:spLocks noGrp="1"/>
          </p:cNvSpPr>
          <p:nvPr/>
        </p:nvSpPr>
        <p:spPr>
          <a:xfrm>
            <a:off x="1146175" y="2559088"/>
            <a:ext cx="9450925" cy="3252774"/>
          </a:xfrm>
          <a:custGeom>
            <a:avLst/>
            <a:gdLst>
              <a:gd name="T0" fmla="*/ 288 w 6532"/>
              <a:gd name="T1" fmla="*/ 0 h 1643"/>
              <a:gd name="T2" fmla="*/ 0 w 6532"/>
              <a:gd name="T3" fmla="*/ 0 h 1643"/>
              <a:gd name="T4" fmla="*/ 0 w 6532"/>
              <a:gd name="T5" fmla="*/ 1643 h 1643"/>
              <a:gd name="T6" fmla="*/ 6532 w 6532"/>
              <a:gd name="T7" fmla="*/ 1643 h 1643"/>
              <a:gd name="T8" fmla="*/ 6532 w 6532"/>
              <a:gd name="T9" fmla="*/ 1355 h 1643"/>
            </a:gdLst>
            <a:ahLst/>
            <a:cxnLst/>
            <a:rect l="0" t="0" r="r" b="b"/>
            <a:pathLst>
              <a:path w="6532" h="1643">
                <a:moveTo>
                  <a:pt x="288" y="0"/>
                </a:moveTo>
                <a:lnTo>
                  <a:pt x="0" y="0"/>
                </a:lnTo>
                <a:lnTo>
                  <a:pt x="0" y="1643"/>
                </a:lnTo>
                <a:lnTo>
                  <a:pt x="6532" y="1643"/>
                </a:lnTo>
                <a:lnTo>
                  <a:pt x="6532" y="1355"/>
                </a:lnTo>
              </a:path>
            </a:pathLst>
          </a:custGeom>
          <a:noFill/>
          <a:ln w="57150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3048000" y="177800"/>
            <a:ext cx="876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平台主要功能：从发现到处置的四个工作入口</a:t>
            </a:r>
            <a:endParaRPr sz="26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9" name="图片 1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47750" y="933450"/>
            <a:ext cx="4572000" cy="2571750"/>
          </a:xfrm>
          <a:prstGeom prst="rect">
            <a:avLst/>
          </a:prstGeom>
        </p:spPr>
      </p:pic>
      <p:pic>
        <p:nvPicPr>
          <p:cNvPr id="50" name="图片 1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72250" y="933450"/>
            <a:ext cx="4572000" cy="2571750"/>
          </a:xfrm>
          <a:prstGeom prst="rect">
            <a:avLst/>
          </a:prstGeom>
        </p:spPr>
      </p:pic>
      <p:sp>
        <p:nvSpPr>
          <p:cNvPr id="20" name="文本框 19"/>
          <p:cNvSpPr>
            <a:spLocks noGrp="1"/>
          </p:cNvSpPr>
          <p:nvPr/>
        </p:nvSpPr>
        <p:spPr>
          <a:xfrm>
            <a:off x="1047750" y="6238875"/>
            <a:ext cx="100965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buNone/>
              <a:defRPr sz="1275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总览看态势｜监测做筛选与复核｜事件看依据与处置｜助手提供结构化问答</a:t>
            </a:r>
            <a:endParaRPr sz="1275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2" name="图片 4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7750" y="3562350"/>
            <a:ext cx="4572000" cy="2571750"/>
          </a:xfrm>
          <a:prstGeom prst="rect">
            <a:avLst/>
          </a:prstGeom>
        </p:spPr>
      </p:pic>
      <p:pic>
        <p:nvPicPr>
          <p:cNvPr id="53" name="图片 4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72250" y="3562350"/>
            <a:ext cx="4572000" cy="2571750"/>
          </a:xfrm>
          <a:prstGeom prst="rect">
            <a:avLst/>
          </a:prstGeom>
        </p:spPr>
      </p:pic>
      <p:sp>
        <p:nvSpPr>
          <p:cNvPr id="25" name="01 舆情总览"/>
          <p:cNvSpPr>
            <a:spLocks noGrp="1"/>
          </p:cNvSpPr>
          <p:nvPr/>
        </p:nvSpPr>
        <p:spPr>
          <a:xfrm>
            <a:off x="1162050" y="1028700"/>
            <a:ext cx="1428750" cy="285750"/>
          </a:xfrm>
          <a:prstGeom prst="rect">
            <a:avLst/>
          </a:prstGeom>
          <a:solidFill>
            <a:srgbClr val="7E0C6E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舆情总览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02 舆情监测"/>
          <p:cNvSpPr>
            <a:spLocks noGrp="1"/>
          </p:cNvSpPr>
          <p:nvPr/>
        </p:nvSpPr>
        <p:spPr>
          <a:xfrm>
            <a:off x="6686550" y="1028700"/>
            <a:ext cx="1428750" cy="285750"/>
          </a:xfrm>
          <a:prstGeom prst="rect">
            <a:avLst/>
          </a:prstGeom>
          <a:solidFill>
            <a:srgbClr val="7E0C6E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舆情监测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03 事件管理"/>
          <p:cNvSpPr>
            <a:spLocks noGrp="1"/>
          </p:cNvSpPr>
          <p:nvPr/>
        </p:nvSpPr>
        <p:spPr>
          <a:xfrm>
            <a:off x="1162050" y="3657600"/>
            <a:ext cx="1428750" cy="285750"/>
          </a:xfrm>
          <a:prstGeom prst="rect">
            <a:avLst/>
          </a:prstGeom>
          <a:solidFill>
            <a:srgbClr val="7E0C6E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事件管理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04 智能助手"/>
          <p:cNvSpPr>
            <a:spLocks noGrp="1"/>
          </p:cNvSpPr>
          <p:nvPr/>
        </p:nvSpPr>
        <p:spPr>
          <a:xfrm>
            <a:off x="6686550" y="3657600"/>
            <a:ext cx="1428750" cy="285750"/>
          </a:xfrm>
          <a:prstGeom prst="rect">
            <a:avLst/>
          </a:prstGeom>
          <a:solidFill>
            <a:srgbClr val="7E0C6E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智能助手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xplainer-122-336"/>
          <p:cNvSpPr>
            <a:spLocks noGrp="1"/>
          </p:cNvSpPr>
          <p:nvPr/>
        </p:nvSpPr>
        <p:spPr>
          <a:xfrm>
            <a:off x="1162050" y="3200400"/>
            <a:ext cx="3429000" cy="228600"/>
          </a:xfrm>
          <a:prstGeom prst="rect">
            <a:avLst/>
          </a:prstGeom>
          <a:solidFill>
            <a:srgbClr val="F3E8F7"/>
          </a:solidFill>
          <a:ln w="5715">
            <a:solidFill>
              <a:srgbClr val="D8A7D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态势、风险、待办一屏掌握</a:t>
            </a:r>
            <a:endParaRPr sz="1050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xplainer-702-336"/>
          <p:cNvSpPr>
            <a:spLocks noGrp="1"/>
          </p:cNvSpPr>
          <p:nvPr/>
        </p:nvSpPr>
        <p:spPr>
          <a:xfrm>
            <a:off x="6686550" y="3200400"/>
            <a:ext cx="3429000" cy="228600"/>
          </a:xfrm>
          <a:prstGeom prst="rect">
            <a:avLst/>
          </a:prstGeom>
          <a:solidFill>
            <a:srgbClr val="F3E8F7"/>
          </a:solidFill>
          <a:ln w="5715">
            <a:solidFill>
              <a:srgbClr val="D8A7D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按条件筛选并进入人工复核</a:t>
            </a:r>
            <a:endParaRPr sz="1050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xplainer-122-612"/>
          <p:cNvSpPr>
            <a:spLocks noGrp="1"/>
          </p:cNvSpPr>
          <p:nvPr/>
        </p:nvSpPr>
        <p:spPr>
          <a:xfrm>
            <a:off x="1162050" y="5829300"/>
            <a:ext cx="3429000" cy="228600"/>
          </a:xfrm>
          <a:prstGeom prst="rect">
            <a:avLst/>
          </a:prstGeom>
          <a:solidFill>
            <a:srgbClr val="F3E8F7"/>
          </a:solidFill>
          <a:ln w="5715">
            <a:solidFill>
              <a:srgbClr val="D8A7D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风险依据、负责人和处置状态</a:t>
            </a:r>
            <a:endParaRPr sz="1050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xplainer-702-612"/>
          <p:cNvSpPr>
            <a:spLocks noGrp="1"/>
          </p:cNvSpPr>
          <p:nvPr/>
        </p:nvSpPr>
        <p:spPr>
          <a:xfrm>
            <a:off x="6686550" y="5829300"/>
            <a:ext cx="3429000" cy="228600"/>
          </a:xfrm>
          <a:prstGeom prst="rect">
            <a:avLst/>
          </a:prstGeom>
          <a:solidFill>
            <a:srgbClr val="F3E8F7"/>
          </a:solidFill>
          <a:ln w="5715">
            <a:solidFill>
              <a:srgbClr val="D8A7D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结构化问答，模型不可用可降级</a:t>
            </a:r>
            <a:endParaRPr sz="1050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" y="81280"/>
            <a:ext cx="2002790" cy="5772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0" y="-979906"/>
            <a:ext cx="6904036" cy="685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 flipH="1">
            <a:off x="0" y="-979906"/>
            <a:ext cx="52388" cy="685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221028" y="-788062"/>
            <a:ext cx="236342" cy="236342"/>
          </a:xfrm>
          <a:prstGeom prst="ellipse">
            <a:avLst/>
          </a:prstGeom>
          <a:solidFill>
            <a:srgbClr val="FED1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" name="Oval 7"/>
          <p:cNvSpPr>
            <a:spLocks noGrp="1"/>
          </p:cNvSpPr>
          <p:nvPr/>
        </p:nvSpPr>
        <p:spPr>
          <a:xfrm>
            <a:off x="156880" y="-851773"/>
            <a:ext cx="364639" cy="429532"/>
          </a:xfrm>
          <a:custGeom>
            <a:avLst/>
            <a:gdLst>
              <a:gd name="connsiteX0" fmla="*/ 204373 w 514281"/>
              <a:gd name="connsiteY0" fmla="*/ 530626 h 605804"/>
              <a:gd name="connsiteX1" fmla="*/ 204373 w 514281"/>
              <a:gd name="connsiteY1" fmla="*/ 556952 h 605804"/>
              <a:gd name="connsiteX2" fmla="*/ 311229 w 514281"/>
              <a:gd name="connsiteY2" fmla="*/ 556952 h 605804"/>
              <a:gd name="connsiteX3" fmla="*/ 311229 w 514281"/>
              <a:gd name="connsiteY3" fmla="*/ 530626 h 605804"/>
              <a:gd name="connsiteX4" fmla="*/ 204373 w 514281"/>
              <a:gd name="connsiteY4" fmla="*/ 479178 h 605804"/>
              <a:gd name="connsiteX5" fmla="*/ 204373 w 514281"/>
              <a:gd name="connsiteY5" fmla="*/ 504299 h 605804"/>
              <a:gd name="connsiteX6" fmla="*/ 311229 w 514281"/>
              <a:gd name="connsiteY6" fmla="*/ 504299 h 605804"/>
              <a:gd name="connsiteX7" fmla="*/ 311229 w 514281"/>
              <a:gd name="connsiteY7" fmla="*/ 479178 h 605804"/>
              <a:gd name="connsiteX8" fmla="*/ 458958 w 514281"/>
              <a:gd name="connsiteY8" fmla="*/ 243592 h 605804"/>
              <a:gd name="connsiteX9" fmla="*/ 514281 w 514281"/>
              <a:gd name="connsiteY9" fmla="*/ 243592 h 605804"/>
              <a:gd name="connsiteX10" fmla="*/ 514281 w 514281"/>
              <a:gd name="connsiteY10" fmla="*/ 269913 h 605804"/>
              <a:gd name="connsiteX11" fmla="*/ 458958 w 514281"/>
              <a:gd name="connsiteY11" fmla="*/ 269913 h 605804"/>
              <a:gd name="connsiteX12" fmla="*/ 0 w 514281"/>
              <a:gd name="connsiteY12" fmla="*/ 243592 h 605804"/>
              <a:gd name="connsiteX13" fmla="*/ 55323 w 514281"/>
              <a:gd name="connsiteY13" fmla="*/ 243592 h 605804"/>
              <a:gd name="connsiteX14" fmla="*/ 55323 w 514281"/>
              <a:gd name="connsiteY14" fmla="*/ 269913 h 605804"/>
              <a:gd name="connsiteX15" fmla="*/ 0 w 514281"/>
              <a:gd name="connsiteY15" fmla="*/ 269913 h 605804"/>
              <a:gd name="connsiteX16" fmla="*/ 263695 w 514281"/>
              <a:gd name="connsiteY16" fmla="*/ 202846 h 605804"/>
              <a:gd name="connsiteX17" fmla="*/ 192467 w 514281"/>
              <a:gd name="connsiteY17" fmla="*/ 273946 h 605804"/>
              <a:gd name="connsiteX18" fmla="*/ 237321 w 514281"/>
              <a:gd name="connsiteY18" fmla="*/ 273946 h 605804"/>
              <a:gd name="connsiteX19" fmla="*/ 250601 w 514281"/>
              <a:gd name="connsiteY19" fmla="*/ 288407 h 605804"/>
              <a:gd name="connsiteX20" fmla="*/ 246608 w 514281"/>
              <a:gd name="connsiteY20" fmla="*/ 326599 h 605804"/>
              <a:gd name="connsiteX21" fmla="*/ 320436 w 514281"/>
              <a:gd name="connsiteY21" fmla="*/ 252904 h 605804"/>
              <a:gd name="connsiteX22" fmla="*/ 275582 w 514281"/>
              <a:gd name="connsiteY22" fmla="*/ 252904 h 605804"/>
              <a:gd name="connsiteX23" fmla="*/ 262302 w 514281"/>
              <a:gd name="connsiteY23" fmla="*/ 239648 h 605804"/>
              <a:gd name="connsiteX24" fmla="*/ 283673 w 514281"/>
              <a:gd name="connsiteY24" fmla="*/ 156984 h 605804"/>
              <a:gd name="connsiteX25" fmla="*/ 291462 w 514281"/>
              <a:gd name="connsiteY25" fmla="*/ 168641 h 605804"/>
              <a:gd name="connsiteX26" fmla="*/ 290071 w 514281"/>
              <a:gd name="connsiteY26" fmla="*/ 225094 h 605804"/>
              <a:gd name="connsiteX27" fmla="*/ 290069 w 514281"/>
              <a:gd name="connsiteY27" fmla="*/ 225094 h 605804"/>
              <a:gd name="connsiteX28" fmla="*/ 290069 w 514281"/>
              <a:gd name="connsiteY28" fmla="*/ 225187 h 605804"/>
              <a:gd name="connsiteX29" fmla="*/ 290071 w 514281"/>
              <a:gd name="connsiteY29" fmla="*/ 225094 h 605804"/>
              <a:gd name="connsiteX30" fmla="*/ 353496 w 514281"/>
              <a:gd name="connsiteY30" fmla="*/ 225094 h 605804"/>
              <a:gd name="connsiteX31" fmla="*/ 362783 w 514281"/>
              <a:gd name="connsiteY31" fmla="*/ 247435 h 605804"/>
              <a:gd name="connsiteX32" fmla="*/ 240014 w 514281"/>
              <a:gd name="connsiteY32" fmla="*/ 369982 h 605804"/>
              <a:gd name="connsiteX33" fmla="*/ 217634 w 514281"/>
              <a:gd name="connsiteY33" fmla="*/ 359414 h 605804"/>
              <a:gd name="connsiteX34" fmla="*/ 222927 w 514281"/>
              <a:gd name="connsiteY34" fmla="*/ 298882 h 605804"/>
              <a:gd name="connsiteX35" fmla="*/ 160893 w 514281"/>
              <a:gd name="connsiteY35" fmla="*/ 298882 h 605804"/>
              <a:gd name="connsiteX36" fmla="*/ 151606 w 514281"/>
              <a:gd name="connsiteY36" fmla="*/ 276542 h 605804"/>
              <a:gd name="connsiteX37" fmla="*/ 268988 w 514281"/>
              <a:gd name="connsiteY37" fmla="*/ 159371 h 605804"/>
              <a:gd name="connsiteX38" fmla="*/ 283673 w 514281"/>
              <a:gd name="connsiteY38" fmla="*/ 156984 h 605804"/>
              <a:gd name="connsiteX39" fmla="*/ 250606 w 514281"/>
              <a:gd name="connsiteY39" fmla="*/ 114503 h 605804"/>
              <a:gd name="connsiteX40" fmla="*/ 114784 w 514281"/>
              <a:gd name="connsiteY40" fmla="*/ 244837 h 605804"/>
              <a:gd name="connsiteX41" fmla="*/ 159624 w 514281"/>
              <a:gd name="connsiteY41" fmla="*/ 362007 h 605804"/>
              <a:gd name="connsiteX42" fmla="*/ 204001 w 514281"/>
              <a:gd name="connsiteY42" fmla="*/ 452852 h 605804"/>
              <a:gd name="connsiteX43" fmla="*/ 311322 w 514281"/>
              <a:gd name="connsiteY43" fmla="*/ 452852 h 605804"/>
              <a:gd name="connsiteX44" fmla="*/ 354678 w 514281"/>
              <a:gd name="connsiteY44" fmla="*/ 362007 h 605804"/>
              <a:gd name="connsiteX45" fmla="*/ 400819 w 514281"/>
              <a:gd name="connsiteY45" fmla="*/ 258000 h 605804"/>
              <a:gd name="connsiteX46" fmla="*/ 250606 w 514281"/>
              <a:gd name="connsiteY46" fmla="*/ 114503 h 605804"/>
              <a:gd name="connsiteX47" fmla="*/ 249213 w 514281"/>
              <a:gd name="connsiteY47" fmla="*/ 88269 h 605804"/>
              <a:gd name="connsiteX48" fmla="*/ 427556 w 514281"/>
              <a:gd name="connsiteY48" fmla="*/ 258092 h 605804"/>
              <a:gd name="connsiteX49" fmla="*/ 373524 w 514281"/>
              <a:gd name="connsiteY49" fmla="*/ 381845 h 605804"/>
              <a:gd name="connsiteX50" fmla="*/ 337874 w 514281"/>
              <a:gd name="connsiteY50" fmla="*/ 460824 h 605804"/>
              <a:gd name="connsiteX51" fmla="*/ 337874 w 514281"/>
              <a:gd name="connsiteY51" fmla="*/ 571413 h 605804"/>
              <a:gd name="connsiteX52" fmla="*/ 324598 w 514281"/>
              <a:gd name="connsiteY52" fmla="*/ 583278 h 605804"/>
              <a:gd name="connsiteX53" fmla="*/ 270473 w 514281"/>
              <a:gd name="connsiteY53" fmla="*/ 583278 h 605804"/>
              <a:gd name="connsiteX54" fmla="*/ 270473 w 514281"/>
              <a:gd name="connsiteY54" fmla="*/ 592548 h 605804"/>
              <a:gd name="connsiteX55" fmla="*/ 257290 w 514281"/>
              <a:gd name="connsiteY55" fmla="*/ 605804 h 605804"/>
              <a:gd name="connsiteX56" fmla="*/ 244014 w 514281"/>
              <a:gd name="connsiteY56" fmla="*/ 592548 h 605804"/>
              <a:gd name="connsiteX57" fmla="*/ 244014 w 514281"/>
              <a:gd name="connsiteY57" fmla="*/ 583278 h 605804"/>
              <a:gd name="connsiteX58" fmla="*/ 189890 w 514281"/>
              <a:gd name="connsiteY58" fmla="*/ 583278 h 605804"/>
              <a:gd name="connsiteX59" fmla="*/ 176707 w 514281"/>
              <a:gd name="connsiteY59" fmla="*/ 570023 h 605804"/>
              <a:gd name="connsiteX60" fmla="*/ 176707 w 514281"/>
              <a:gd name="connsiteY60" fmla="*/ 460824 h 605804"/>
              <a:gd name="connsiteX61" fmla="*/ 139757 w 514281"/>
              <a:gd name="connsiteY61" fmla="*/ 380454 h 605804"/>
              <a:gd name="connsiteX62" fmla="*/ 87025 w 514281"/>
              <a:gd name="connsiteY62" fmla="*/ 242241 h 605804"/>
              <a:gd name="connsiteX63" fmla="*/ 249213 w 514281"/>
              <a:gd name="connsiteY63" fmla="*/ 88269 h 605804"/>
              <a:gd name="connsiteX64" fmla="*/ 429815 w 514281"/>
              <a:gd name="connsiteY64" fmla="*/ 66120 h 605804"/>
              <a:gd name="connsiteX65" fmla="*/ 448444 w 514281"/>
              <a:gd name="connsiteY65" fmla="*/ 84608 h 605804"/>
              <a:gd name="connsiteX66" fmla="*/ 409280 w 514281"/>
              <a:gd name="connsiteY66" fmla="*/ 123772 h 605804"/>
              <a:gd name="connsiteX67" fmla="*/ 390721 w 514281"/>
              <a:gd name="connsiteY67" fmla="*/ 105143 h 605804"/>
              <a:gd name="connsiteX68" fmla="*/ 84820 w 514281"/>
              <a:gd name="connsiteY68" fmla="*/ 66120 h 605804"/>
              <a:gd name="connsiteX69" fmla="*/ 123843 w 514281"/>
              <a:gd name="connsiteY69" fmla="*/ 105143 h 605804"/>
              <a:gd name="connsiteX70" fmla="*/ 105284 w 514281"/>
              <a:gd name="connsiteY70" fmla="*/ 123772 h 605804"/>
              <a:gd name="connsiteX71" fmla="*/ 66120 w 514281"/>
              <a:gd name="connsiteY71" fmla="*/ 84749 h 605804"/>
              <a:gd name="connsiteX72" fmla="*/ 243945 w 514281"/>
              <a:gd name="connsiteY72" fmla="*/ 0 h 605804"/>
              <a:gd name="connsiteX73" fmla="*/ 270266 w 514281"/>
              <a:gd name="connsiteY73" fmla="*/ 0 h 605804"/>
              <a:gd name="connsiteX74" fmla="*/ 270266 w 514281"/>
              <a:gd name="connsiteY74" fmla="*/ 55253 h 605804"/>
              <a:gd name="connsiteX75" fmla="*/ 243945 w 514281"/>
              <a:gd name="connsiteY75" fmla="*/ 55253 h 605804"/>
            </a:gdLst>
            <a:ahLst/>
            <a:cxnLst/>
            <a:rect l="l" t="t" r="r" b="b"/>
            <a:pathLst>
              <a:path w="514281" h="605804">
                <a:moveTo>
                  <a:pt x="204373" y="530626"/>
                </a:moveTo>
                <a:lnTo>
                  <a:pt x="204373" y="556952"/>
                </a:lnTo>
                <a:lnTo>
                  <a:pt x="311229" y="556952"/>
                </a:lnTo>
                <a:lnTo>
                  <a:pt x="311229" y="530626"/>
                </a:lnTo>
                <a:close/>
                <a:moveTo>
                  <a:pt x="204373" y="479178"/>
                </a:moveTo>
                <a:lnTo>
                  <a:pt x="204373" y="504299"/>
                </a:lnTo>
                <a:lnTo>
                  <a:pt x="311229" y="504299"/>
                </a:lnTo>
                <a:lnTo>
                  <a:pt x="311229" y="479178"/>
                </a:lnTo>
                <a:close/>
                <a:moveTo>
                  <a:pt x="458958" y="243592"/>
                </a:moveTo>
                <a:lnTo>
                  <a:pt x="514281" y="243592"/>
                </a:lnTo>
                <a:lnTo>
                  <a:pt x="514281" y="269913"/>
                </a:lnTo>
                <a:lnTo>
                  <a:pt x="458958" y="269913"/>
                </a:lnTo>
                <a:close/>
                <a:moveTo>
                  <a:pt x="0" y="243592"/>
                </a:moveTo>
                <a:lnTo>
                  <a:pt x="55323" y="243592"/>
                </a:lnTo>
                <a:lnTo>
                  <a:pt x="55323" y="269913"/>
                </a:lnTo>
                <a:lnTo>
                  <a:pt x="0" y="269913"/>
                </a:lnTo>
                <a:close/>
                <a:moveTo>
                  <a:pt x="263695" y="202846"/>
                </a:moveTo>
                <a:lnTo>
                  <a:pt x="192467" y="273946"/>
                </a:lnTo>
                <a:lnTo>
                  <a:pt x="237321" y="273946"/>
                </a:lnTo>
                <a:cubicBezTo>
                  <a:pt x="248001" y="273946"/>
                  <a:pt x="251530" y="280991"/>
                  <a:pt x="250601" y="288407"/>
                </a:cubicBezTo>
                <a:lnTo>
                  <a:pt x="246608" y="326599"/>
                </a:lnTo>
                <a:lnTo>
                  <a:pt x="320436" y="252904"/>
                </a:lnTo>
                <a:lnTo>
                  <a:pt x="275582" y="252904"/>
                </a:lnTo>
                <a:cubicBezTo>
                  <a:pt x="270010" y="252904"/>
                  <a:pt x="262302" y="250586"/>
                  <a:pt x="262302" y="239648"/>
                </a:cubicBezTo>
                <a:close/>
                <a:moveTo>
                  <a:pt x="283673" y="156984"/>
                </a:moveTo>
                <a:cubicBezTo>
                  <a:pt x="288142" y="159139"/>
                  <a:pt x="291462" y="163635"/>
                  <a:pt x="291462" y="168641"/>
                </a:cubicBezTo>
                <a:lnTo>
                  <a:pt x="290071" y="225094"/>
                </a:lnTo>
                <a:lnTo>
                  <a:pt x="290069" y="225094"/>
                </a:lnTo>
                <a:lnTo>
                  <a:pt x="290069" y="225187"/>
                </a:lnTo>
                <a:lnTo>
                  <a:pt x="290071" y="225094"/>
                </a:lnTo>
                <a:lnTo>
                  <a:pt x="353496" y="225094"/>
                </a:lnTo>
                <a:cubicBezTo>
                  <a:pt x="367798" y="225094"/>
                  <a:pt x="370398" y="240946"/>
                  <a:pt x="362783" y="247435"/>
                </a:cubicBezTo>
                <a:lnTo>
                  <a:pt x="240014" y="369982"/>
                </a:lnTo>
                <a:cubicBezTo>
                  <a:pt x="231378" y="376749"/>
                  <a:pt x="217634" y="373041"/>
                  <a:pt x="217634" y="359414"/>
                </a:cubicBezTo>
                <a:lnTo>
                  <a:pt x="222927" y="298882"/>
                </a:lnTo>
                <a:lnTo>
                  <a:pt x="160893" y="298882"/>
                </a:lnTo>
                <a:cubicBezTo>
                  <a:pt x="148077" y="298882"/>
                  <a:pt x="141484" y="286646"/>
                  <a:pt x="151606" y="276542"/>
                </a:cubicBezTo>
                <a:lnTo>
                  <a:pt x="268988" y="159371"/>
                </a:lnTo>
                <a:cubicBezTo>
                  <a:pt x="273585" y="155014"/>
                  <a:pt x="279204" y="154829"/>
                  <a:pt x="283673" y="156984"/>
                </a:cubicBezTo>
                <a:close/>
                <a:moveTo>
                  <a:pt x="250606" y="114503"/>
                </a:moveTo>
                <a:cubicBezTo>
                  <a:pt x="179399" y="118396"/>
                  <a:pt x="121375" y="173830"/>
                  <a:pt x="114784" y="244837"/>
                </a:cubicBezTo>
                <a:cubicBezTo>
                  <a:pt x="110792" y="289610"/>
                  <a:pt x="126667" y="331788"/>
                  <a:pt x="159624" y="362007"/>
                </a:cubicBezTo>
                <a:cubicBezTo>
                  <a:pt x="186083" y="387407"/>
                  <a:pt x="201680" y="419388"/>
                  <a:pt x="204001" y="452852"/>
                </a:cubicBezTo>
                <a:lnTo>
                  <a:pt x="311322" y="452852"/>
                </a:lnTo>
                <a:cubicBezTo>
                  <a:pt x="313086" y="418553"/>
                  <a:pt x="328683" y="386758"/>
                  <a:pt x="354678" y="362007"/>
                </a:cubicBezTo>
                <a:cubicBezTo>
                  <a:pt x="383736" y="334476"/>
                  <a:pt x="400819" y="297489"/>
                  <a:pt x="400819" y="258000"/>
                </a:cubicBezTo>
                <a:cubicBezTo>
                  <a:pt x="400819" y="176425"/>
                  <a:pt x="332304" y="110517"/>
                  <a:pt x="250606" y="114503"/>
                </a:cubicBezTo>
                <a:close/>
                <a:moveTo>
                  <a:pt x="249213" y="88269"/>
                </a:moveTo>
                <a:cubicBezTo>
                  <a:pt x="346786" y="82985"/>
                  <a:pt x="427185" y="161964"/>
                  <a:pt x="427556" y="258092"/>
                </a:cubicBezTo>
                <a:cubicBezTo>
                  <a:pt x="427556" y="304164"/>
                  <a:pt x="407782" y="350142"/>
                  <a:pt x="373524" y="381845"/>
                </a:cubicBezTo>
                <a:cubicBezTo>
                  <a:pt x="351057" y="402795"/>
                  <a:pt x="337874" y="430511"/>
                  <a:pt x="337874" y="460824"/>
                </a:cubicBezTo>
                <a:lnTo>
                  <a:pt x="337874" y="571413"/>
                </a:lnTo>
                <a:cubicBezTo>
                  <a:pt x="337874" y="577995"/>
                  <a:pt x="331190" y="583278"/>
                  <a:pt x="324598" y="583278"/>
                </a:cubicBezTo>
                <a:lnTo>
                  <a:pt x="270473" y="583278"/>
                </a:lnTo>
                <a:lnTo>
                  <a:pt x="270473" y="592548"/>
                </a:lnTo>
                <a:cubicBezTo>
                  <a:pt x="270473" y="600428"/>
                  <a:pt x="265182" y="605804"/>
                  <a:pt x="257290" y="605804"/>
                </a:cubicBezTo>
                <a:cubicBezTo>
                  <a:pt x="249306" y="605804"/>
                  <a:pt x="244014" y="600428"/>
                  <a:pt x="244014" y="592548"/>
                </a:cubicBezTo>
                <a:lnTo>
                  <a:pt x="244014" y="583278"/>
                </a:lnTo>
                <a:lnTo>
                  <a:pt x="189890" y="583278"/>
                </a:lnTo>
                <a:cubicBezTo>
                  <a:pt x="181999" y="583278"/>
                  <a:pt x="176707" y="577995"/>
                  <a:pt x="176707" y="570023"/>
                </a:cubicBezTo>
                <a:lnTo>
                  <a:pt x="176707" y="460824"/>
                </a:lnTo>
                <a:cubicBezTo>
                  <a:pt x="176707" y="430511"/>
                  <a:pt x="163524" y="402795"/>
                  <a:pt x="139757" y="380454"/>
                </a:cubicBezTo>
                <a:cubicBezTo>
                  <a:pt x="101508" y="344951"/>
                  <a:pt x="83126" y="293596"/>
                  <a:pt x="87025" y="242241"/>
                </a:cubicBezTo>
                <a:cubicBezTo>
                  <a:pt x="95009" y="158071"/>
                  <a:pt x="164823" y="92255"/>
                  <a:pt x="249213" y="88269"/>
                </a:cubicBezTo>
                <a:close/>
                <a:moveTo>
                  <a:pt x="429815" y="66120"/>
                </a:moveTo>
                <a:lnTo>
                  <a:pt x="448444" y="84608"/>
                </a:lnTo>
                <a:lnTo>
                  <a:pt x="409280" y="123772"/>
                </a:lnTo>
                <a:lnTo>
                  <a:pt x="390721" y="105143"/>
                </a:lnTo>
                <a:close/>
                <a:moveTo>
                  <a:pt x="84820" y="66120"/>
                </a:moveTo>
                <a:lnTo>
                  <a:pt x="123843" y="105143"/>
                </a:lnTo>
                <a:lnTo>
                  <a:pt x="105284" y="123772"/>
                </a:lnTo>
                <a:lnTo>
                  <a:pt x="66120" y="84749"/>
                </a:lnTo>
                <a:close/>
                <a:moveTo>
                  <a:pt x="243945" y="0"/>
                </a:moveTo>
                <a:lnTo>
                  <a:pt x="270266" y="0"/>
                </a:lnTo>
                <a:lnTo>
                  <a:pt x="270266" y="55253"/>
                </a:lnTo>
                <a:lnTo>
                  <a:pt x="243945" y="552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60400" y="-851773"/>
            <a:ext cx="0" cy="42953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等腰三角形 8"/>
          <p:cNvSpPr>
            <a:spLocks noGrp="1"/>
          </p:cNvSpPr>
          <p:nvPr/>
        </p:nvSpPr>
        <p:spPr>
          <a:xfrm rot="5400000">
            <a:off x="656742" y="-659867"/>
            <a:ext cx="53036" cy="4572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06120" y="-821673"/>
            <a:ext cx="5803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设置导航栏请前往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【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视图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】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→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【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幻灯片母版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】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一键更改</a:t>
            </a:r>
            <a:endParaRPr sz="1800" b="0" i="0" u="none" cap="none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6582625" y="-851773"/>
            <a:ext cx="188305" cy="425834"/>
          </a:xfrm>
          <a:custGeom>
            <a:avLst/>
            <a:gdLst/>
            <a:ahLst/>
            <a:cxnLst/>
            <a:rect l="l" t="t" r="r" b="b"/>
            <a:pathLst>
              <a:path w="188305" h="425834">
                <a:moveTo>
                  <a:pt x="137517" y="318455"/>
                </a:moveTo>
                <a:cubicBezTo>
                  <a:pt x="151358" y="318455"/>
                  <a:pt x="161479" y="320222"/>
                  <a:pt x="167878" y="323757"/>
                </a:cubicBezTo>
                <a:cubicBezTo>
                  <a:pt x="174278" y="327291"/>
                  <a:pt x="179282" y="333003"/>
                  <a:pt x="182891" y="340890"/>
                </a:cubicBezTo>
                <a:cubicBezTo>
                  <a:pt x="186500" y="348778"/>
                  <a:pt x="188305" y="358303"/>
                  <a:pt x="188305" y="369465"/>
                </a:cubicBezTo>
                <a:cubicBezTo>
                  <a:pt x="188305" y="381669"/>
                  <a:pt x="186333" y="392069"/>
                  <a:pt x="182389" y="400664"/>
                </a:cubicBezTo>
                <a:cubicBezTo>
                  <a:pt x="178445" y="409258"/>
                  <a:pt x="173478" y="414951"/>
                  <a:pt x="167488" y="417742"/>
                </a:cubicBezTo>
                <a:cubicBezTo>
                  <a:pt x="161497" y="420532"/>
                  <a:pt x="151321" y="421927"/>
                  <a:pt x="136959" y="421927"/>
                </a:cubicBezTo>
                <a:lnTo>
                  <a:pt x="129815" y="421927"/>
                </a:lnTo>
                <a:lnTo>
                  <a:pt x="129815" y="378283"/>
                </a:lnTo>
                <a:lnTo>
                  <a:pt x="143210" y="378283"/>
                </a:lnTo>
                <a:cubicBezTo>
                  <a:pt x="149461" y="378283"/>
                  <a:pt x="153442" y="377725"/>
                  <a:pt x="155153" y="376609"/>
                </a:cubicBezTo>
                <a:cubicBezTo>
                  <a:pt x="156865" y="375493"/>
                  <a:pt x="157721" y="373633"/>
                  <a:pt x="157721" y="371028"/>
                </a:cubicBezTo>
                <a:cubicBezTo>
                  <a:pt x="157721" y="368200"/>
                  <a:pt x="156566" y="366061"/>
                  <a:pt x="154258" y="364610"/>
                </a:cubicBezTo>
                <a:cubicBezTo>
                  <a:pt x="151949" y="363159"/>
                  <a:pt x="148449" y="362433"/>
                  <a:pt x="143758" y="362433"/>
                </a:cubicBezTo>
                <a:cubicBezTo>
                  <a:pt x="137727" y="362433"/>
                  <a:pt x="133184" y="363249"/>
                  <a:pt x="130131" y="364880"/>
                </a:cubicBezTo>
                <a:cubicBezTo>
                  <a:pt x="127078" y="366438"/>
                  <a:pt x="123395" y="370865"/>
                  <a:pt x="119082" y="378160"/>
                </a:cubicBezTo>
                <a:cubicBezTo>
                  <a:pt x="106667" y="399078"/>
                  <a:pt x="96478" y="412254"/>
                  <a:pt x="88516" y="417686"/>
                </a:cubicBezTo>
                <a:cubicBezTo>
                  <a:pt x="80553" y="423118"/>
                  <a:pt x="67717" y="425834"/>
                  <a:pt x="50006" y="425834"/>
                </a:cubicBezTo>
                <a:cubicBezTo>
                  <a:pt x="37133" y="425834"/>
                  <a:pt x="27645" y="424327"/>
                  <a:pt x="21543" y="421313"/>
                </a:cubicBezTo>
                <a:cubicBezTo>
                  <a:pt x="15441" y="418300"/>
                  <a:pt x="10325" y="412477"/>
                  <a:pt x="6195" y="403845"/>
                </a:cubicBezTo>
                <a:cubicBezTo>
                  <a:pt x="2065" y="395213"/>
                  <a:pt x="0" y="385167"/>
                  <a:pt x="0" y="373707"/>
                </a:cubicBezTo>
                <a:cubicBezTo>
                  <a:pt x="0" y="361131"/>
                  <a:pt x="2381" y="350397"/>
                  <a:pt x="7144" y="341504"/>
                </a:cubicBezTo>
                <a:cubicBezTo>
                  <a:pt x="11906" y="332612"/>
                  <a:pt x="17971" y="326789"/>
                  <a:pt x="25338" y="324036"/>
                </a:cubicBezTo>
                <a:cubicBezTo>
                  <a:pt x="32705" y="321282"/>
                  <a:pt x="43160" y="319906"/>
                  <a:pt x="56704" y="319906"/>
                </a:cubicBezTo>
                <a:lnTo>
                  <a:pt x="68535" y="319906"/>
                </a:lnTo>
                <a:lnTo>
                  <a:pt x="68535" y="363549"/>
                </a:lnTo>
                <a:lnTo>
                  <a:pt x="46546" y="363549"/>
                </a:lnTo>
                <a:cubicBezTo>
                  <a:pt x="39774" y="363549"/>
                  <a:pt x="35421" y="364163"/>
                  <a:pt x="33486" y="365391"/>
                </a:cubicBezTo>
                <a:cubicBezTo>
                  <a:pt x="31552" y="366619"/>
                  <a:pt x="30584" y="368796"/>
                  <a:pt x="30584" y="371921"/>
                </a:cubicBezTo>
                <a:cubicBezTo>
                  <a:pt x="30584" y="375046"/>
                  <a:pt x="31812" y="377372"/>
                  <a:pt x="34268" y="378897"/>
                </a:cubicBezTo>
                <a:cubicBezTo>
                  <a:pt x="36723" y="380423"/>
                  <a:pt x="40370" y="381186"/>
                  <a:pt x="45207" y="381186"/>
                </a:cubicBezTo>
                <a:cubicBezTo>
                  <a:pt x="55848" y="381186"/>
                  <a:pt x="62806" y="379735"/>
                  <a:pt x="66080" y="376832"/>
                </a:cubicBezTo>
                <a:cubicBezTo>
                  <a:pt x="69354" y="373856"/>
                  <a:pt x="74823" y="366526"/>
                  <a:pt x="82488" y="354843"/>
                </a:cubicBezTo>
                <a:cubicBezTo>
                  <a:pt x="90227" y="343160"/>
                  <a:pt x="95845" y="335421"/>
                  <a:pt x="99343" y="331626"/>
                </a:cubicBezTo>
                <a:cubicBezTo>
                  <a:pt x="102840" y="327831"/>
                  <a:pt x="107677" y="324687"/>
                  <a:pt x="113854" y="322194"/>
                </a:cubicBezTo>
                <a:cubicBezTo>
                  <a:pt x="120030" y="319701"/>
                  <a:pt x="127918" y="318455"/>
                  <a:pt x="137517" y="318455"/>
                </a:cubicBezTo>
                <a:close/>
                <a:moveTo>
                  <a:pt x="107603" y="245529"/>
                </a:moveTo>
                <a:cubicBezTo>
                  <a:pt x="107528" y="246868"/>
                  <a:pt x="107491" y="248022"/>
                  <a:pt x="107491" y="248989"/>
                </a:cubicBezTo>
                <a:cubicBezTo>
                  <a:pt x="107491" y="253305"/>
                  <a:pt x="108552" y="256300"/>
                  <a:pt x="110672" y="257975"/>
                </a:cubicBezTo>
                <a:cubicBezTo>
                  <a:pt x="112793" y="259649"/>
                  <a:pt x="117202" y="260486"/>
                  <a:pt x="123900" y="260486"/>
                </a:cubicBezTo>
                <a:lnTo>
                  <a:pt x="138745" y="260486"/>
                </a:lnTo>
                <a:cubicBezTo>
                  <a:pt x="144922" y="260486"/>
                  <a:pt x="148940" y="259519"/>
                  <a:pt x="150800" y="257584"/>
                </a:cubicBezTo>
                <a:cubicBezTo>
                  <a:pt x="152661" y="255649"/>
                  <a:pt x="153591" y="251631"/>
                  <a:pt x="153591" y="245529"/>
                </a:cubicBezTo>
                <a:close/>
                <a:moveTo>
                  <a:pt x="3795" y="198536"/>
                </a:moveTo>
                <a:lnTo>
                  <a:pt x="184510" y="198536"/>
                </a:lnTo>
                <a:lnTo>
                  <a:pt x="184510" y="245864"/>
                </a:lnTo>
                <a:cubicBezTo>
                  <a:pt x="184510" y="258663"/>
                  <a:pt x="183505" y="268504"/>
                  <a:pt x="181496" y="275387"/>
                </a:cubicBezTo>
                <a:cubicBezTo>
                  <a:pt x="179487" y="282271"/>
                  <a:pt x="176585" y="287443"/>
                  <a:pt x="172790" y="290903"/>
                </a:cubicBezTo>
                <a:cubicBezTo>
                  <a:pt x="168994" y="294363"/>
                  <a:pt x="164399" y="296707"/>
                  <a:pt x="159004" y="297935"/>
                </a:cubicBezTo>
                <a:cubicBezTo>
                  <a:pt x="153609" y="299163"/>
                  <a:pt x="145256" y="299777"/>
                  <a:pt x="133945" y="299777"/>
                </a:cubicBezTo>
                <a:lnTo>
                  <a:pt x="118207" y="299777"/>
                </a:lnTo>
                <a:cubicBezTo>
                  <a:pt x="106673" y="299777"/>
                  <a:pt x="98264" y="298586"/>
                  <a:pt x="92981" y="296205"/>
                </a:cubicBezTo>
                <a:cubicBezTo>
                  <a:pt x="87697" y="293824"/>
                  <a:pt x="83642" y="289452"/>
                  <a:pt x="80814" y="283089"/>
                </a:cubicBezTo>
                <a:cubicBezTo>
                  <a:pt x="77986" y="276727"/>
                  <a:pt x="76572" y="268411"/>
                  <a:pt x="76572" y="258142"/>
                </a:cubicBezTo>
                <a:lnTo>
                  <a:pt x="76572" y="245529"/>
                </a:lnTo>
                <a:lnTo>
                  <a:pt x="3795" y="245529"/>
                </a:lnTo>
                <a:close/>
                <a:moveTo>
                  <a:pt x="3795" y="122336"/>
                </a:moveTo>
                <a:lnTo>
                  <a:pt x="184510" y="122336"/>
                </a:lnTo>
                <a:lnTo>
                  <a:pt x="184510" y="169329"/>
                </a:lnTo>
                <a:lnTo>
                  <a:pt x="3795" y="169329"/>
                </a:lnTo>
                <a:close/>
                <a:moveTo>
                  <a:pt x="148345" y="0"/>
                </a:moveTo>
                <a:lnTo>
                  <a:pt x="184510" y="0"/>
                </a:lnTo>
                <a:lnTo>
                  <a:pt x="184510" y="102691"/>
                </a:lnTo>
                <a:lnTo>
                  <a:pt x="148345" y="102691"/>
                </a:lnTo>
                <a:lnTo>
                  <a:pt x="148345" y="74786"/>
                </a:lnTo>
                <a:lnTo>
                  <a:pt x="3795" y="74786"/>
                </a:lnTo>
                <a:lnTo>
                  <a:pt x="3795" y="27793"/>
                </a:lnTo>
                <a:lnTo>
                  <a:pt x="148345" y="277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" name="Freeform 5"/>
          <p:cNvSpPr>
            <a:spLocks noGrp="1"/>
          </p:cNvSpPr>
          <p:nvPr/>
        </p:nvSpPr>
        <p:spPr>
          <a:xfrm>
            <a:off x="1528342" y="1626230"/>
            <a:ext cx="9517481" cy="3664567"/>
          </a:xfrm>
          <a:custGeom>
            <a:avLst/>
            <a:gdLst>
              <a:gd name="T0" fmla="*/ 0 w 6578"/>
              <a:gd name="T1" fmla="*/ 207 h 1851"/>
              <a:gd name="T2" fmla="*/ 6371 w 6578"/>
              <a:gd name="T3" fmla="*/ 207 h 1851"/>
              <a:gd name="T4" fmla="*/ 6578 w 6578"/>
              <a:gd name="T5" fmla="*/ 0 h 1851"/>
              <a:gd name="T6" fmla="*/ 6578 w 6578"/>
              <a:gd name="T7" fmla="*/ 1851 h 1851"/>
              <a:gd name="T8" fmla="*/ 0 w 6578"/>
              <a:gd name="T9" fmla="*/ 1851 h 1851"/>
              <a:gd name="T10" fmla="*/ 0 w 6578"/>
              <a:gd name="T11" fmla="*/ 489 h 1851"/>
              <a:gd name="T12" fmla="*/ 0 w 6578"/>
              <a:gd name="T13" fmla="*/ 207 h 1851"/>
            </a:gdLst>
            <a:ahLst/>
            <a:cxnLst/>
            <a:rect l="0" t="0" r="r" b="b"/>
            <a:pathLst>
              <a:path w="6578" h="1851">
                <a:moveTo>
                  <a:pt x="0" y="207"/>
                </a:moveTo>
                <a:lnTo>
                  <a:pt x="6371" y="207"/>
                </a:lnTo>
                <a:lnTo>
                  <a:pt x="6578" y="0"/>
                </a:lnTo>
                <a:lnTo>
                  <a:pt x="6578" y="1851"/>
                </a:lnTo>
                <a:lnTo>
                  <a:pt x="0" y="1851"/>
                </a:lnTo>
                <a:lnTo>
                  <a:pt x="0" y="489"/>
                </a:lnTo>
                <a:lnTo>
                  <a:pt x="0" y="207"/>
                </a:lnTo>
                <a:close/>
              </a:path>
            </a:pathLst>
          </a:custGeom>
          <a:noFill/>
          <a:ln w="0">
            <a:noFill/>
            <a:prstDash val="solid"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" name="Freeform 6"/>
          <p:cNvSpPr>
            <a:spLocks noGrp="1"/>
          </p:cNvSpPr>
          <p:nvPr/>
        </p:nvSpPr>
        <p:spPr>
          <a:xfrm>
            <a:off x="1146175" y="2559088"/>
            <a:ext cx="9450925" cy="3252774"/>
          </a:xfrm>
          <a:custGeom>
            <a:avLst/>
            <a:gdLst>
              <a:gd name="T0" fmla="*/ 288 w 6532"/>
              <a:gd name="T1" fmla="*/ 0 h 1643"/>
              <a:gd name="T2" fmla="*/ 0 w 6532"/>
              <a:gd name="T3" fmla="*/ 0 h 1643"/>
              <a:gd name="T4" fmla="*/ 0 w 6532"/>
              <a:gd name="T5" fmla="*/ 1643 h 1643"/>
              <a:gd name="T6" fmla="*/ 6532 w 6532"/>
              <a:gd name="T7" fmla="*/ 1643 h 1643"/>
              <a:gd name="T8" fmla="*/ 6532 w 6532"/>
              <a:gd name="T9" fmla="*/ 1355 h 1643"/>
            </a:gdLst>
            <a:ahLst/>
            <a:cxnLst/>
            <a:rect l="0" t="0" r="r" b="b"/>
            <a:pathLst>
              <a:path w="6532" h="1643">
                <a:moveTo>
                  <a:pt x="288" y="0"/>
                </a:moveTo>
                <a:lnTo>
                  <a:pt x="0" y="0"/>
                </a:lnTo>
                <a:lnTo>
                  <a:pt x="0" y="1643"/>
                </a:lnTo>
                <a:lnTo>
                  <a:pt x="6532" y="1643"/>
                </a:lnTo>
                <a:lnTo>
                  <a:pt x="6532" y="1355"/>
                </a:lnTo>
              </a:path>
            </a:pathLst>
          </a:custGeom>
          <a:noFill/>
          <a:ln w="0">
            <a:noFill/>
            <a:prstDash val="solid"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3262630" y="196215"/>
            <a:ext cx="8763000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校园安全舆情分析业务流程</a:t>
            </a:r>
            <a:endParaRPr sz="28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98500" y="1905000"/>
            <a:ext cx="1371600" cy="863600"/>
          </a:xfrm>
          <a:prstGeom prst="roundRect">
            <a:avLst/>
          </a:prstGeom>
          <a:solidFill>
            <a:srgbClr val="F3E8F2"/>
          </a:solidFill>
          <a:ln w="19050">
            <a:solidFill>
              <a:srgbClr val="7E0C6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6200" tIns="50800" rIns="76200" bIns="50800" anchor="ctr"/>
          <a:lstStyle/>
          <a:p>
            <a:pPr algn="ctr">
              <a:buNone/>
            </a:pPr>
            <a:r>
              <a:rPr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13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数据接入</a:t>
            </a:r>
            <a:endParaRPr sz="13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2070100" y="2235200"/>
            <a:ext cx="177800" cy="203200"/>
          </a:xfrm>
          <a:prstGeom prst="rightArrow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2247900" y="1905000"/>
            <a:ext cx="1371600" cy="863600"/>
          </a:xfrm>
          <a:prstGeom prst="roundRect">
            <a:avLst/>
          </a:prstGeom>
          <a:solidFill>
            <a:srgbClr val="F3E8F2"/>
          </a:solidFill>
          <a:ln w="19050">
            <a:solidFill>
              <a:srgbClr val="7E0C6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6200" tIns="50800" rIns="76200" bIns="50800" anchor="ctr"/>
          <a:lstStyle/>
          <a:p>
            <a:pPr algn="ctr">
              <a:buNone/>
            </a:pPr>
            <a:r>
              <a:rPr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13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数据清洗</a:t>
            </a:r>
            <a:endParaRPr sz="13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3619500" y="2235200"/>
            <a:ext cx="177800" cy="203200"/>
          </a:xfrm>
          <a:prstGeom prst="rightArrow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3797300" y="1905000"/>
            <a:ext cx="1371600" cy="863600"/>
          </a:xfrm>
          <a:prstGeom prst="roundRect">
            <a:avLst/>
          </a:prstGeom>
          <a:solidFill>
            <a:srgbClr val="F3E8F2"/>
          </a:solidFill>
          <a:ln w="19050">
            <a:solidFill>
              <a:srgbClr val="7E0C6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6200" tIns="50800" rIns="76200" bIns="50800" anchor="ctr"/>
          <a:lstStyle/>
          <a:p>
            <a:pPr algn="ctr">
              <a:buNone/>
            </a:pPr>
            <a:r>
              <a:rPr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13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主题识别</a:t>
            </a:r>
            <a:endParaRPr sz="13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右箭头 22"/>
          <p:cNvSpPr>
            <a:spLocks noGrp="1"/>
          </p:cNvSpPr>
          <p:nvPr/>
        </p:nvSpPr>
        <p:spPr>
          <a:xfrm>
            <a:off x="5168900" y="2235200"/>
            <a:ext cx="177800" cy="203200"/>
          </a:xfrm>
          <a:prstGeom prst="rightArrow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5346700" y="1905000"/>
            <a:ext cx="1371600" cy="863600"/>
          </a:xfrm>
          <a:prstGeom prst="roundRect">
            <a:avLst/>
          </a:prstGeom>
          <a:solidFill>
            <a:srgbClr val="F3E8F2"/>
          </a:solidFill>
          <a:ln w="19050">
            <a:solidFill>
              <a:srgbClr val="7E0C6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6200" tIns="50800" rIns="76200" bIns="50800" anchor="ctr"/>
          <a:lstStyle/>
          <a:p>
            <a:pPr algn="ctr">
              <a:buNone/>
            </a:pPr>
            <a:r>
              <a:rPr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13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事件聚合</a:t>
            </a:r>
            <a:endParaRPr sz="13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右箭头 24"/>
          <p:cNvSpPr>
            <a:spLocks noGrp="1"/>
          </p:cNvSpPr>
          <p:nvPr/>
        </p:nvSpPr>
        <p:spPr>
          <a:xfrm>
            <a:off x="6718300" y="2235200"/>
            <a:ext cx="177800" cy="203200"/>
          </a:xfrm>
          <a:prstGeom prst="rightArrow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896100" y="1905000"/>
            <a:ext cx="1371600" cy="863600"/>
          </a:xfrm>
          <a:prstGeom prst="roundRect">
            <a:avLst/>
          </a:prstGeom>
          <a:solidFill>
            <a:srgbClr val="F3E8F2"/>
          </a:solidFill>
          <a:ln w="19050">
            <a:solidFill>
              <a:srgbClr val="7E0C6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6200" tIns="50800" rIns="76200" bIns="50800" anchor="ctr"/>
          <a:lstStyle/>
          <a:p>
            <a:pPr algn="ctr">
              <a:buNone/>
            </a:pPr>
            <a:r>
              <a:rPr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13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风险分析</a:t>
            </a:r>
            <a:endParaRPr sz="13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右箭头 26"/>
          <p:cNvSpPr>
            <a:spLocks noGrp="1"/>
          </p:cNvSpPr>
          <p:nvPr/>
        </p:nvSpPr>
        <p:spPr>
          <a:xfrm>
            <a:off x="8267700" y="2235200"/>
            <a:ext cx="177800" cy="203200"/>
          </a:xfrm>
          <a:prstGeom prst="rightArrow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8445500" y="1905000"/>
            <a:ext cx="1371600" cy="863600"/>
          </a:xfrm>
          <a:prstGeom prst="roundRect">
            <a:avLst/>
          </a:prstGeom>
          <a:solidFill>
            <a:srgbClr val="F3E8F2"/>
          </a:solidFill>
          <a:ln w="19050">
            <a:solidFill>
              <a:srgbClr val="7E0C6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6200" tIns="50800" rIns="76200" bIns="50800" anchor="ctr"/>
          <a:lstStyle/>
          <a:p>
            <a:pPr algn="ctr">
              <a:buNone/>
            </a:pPr>
            <a:r>
              <a:rPr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13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人工研判</a:t>
            </a:r>
            <a:endParaRPr sz="13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右箭头 28"/>
          <p:cNvSpPr>
            <a:spLocks noGrp="1"/>
          </p:cNvSpPr>
          <p:nvPr/>
        </p:nvSpPr>
        <p:spPr>
          <a:xfrm>
            <a:off x="9817100" y="2235200"/>
            <a:ext cx="177800" cy="203200"/>
          </a:xfrm>
          <a:prstGeom prst="rightArrow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9994900" y="1905000"/>
            <a:ext cx="1371600" cy="863600"/>
          </a:xfrm>
          <a:prstGeom prst="roundRect">
            <a:avLst/>
          </a:prstGeom>
          <a:solidFill>
            <a:srgbClr val="F3E8F2"/>
          </a:solidFill>
          <a:ln w="19050">
            <a:solidFill>
              <a:srgbClr val="7E0C6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6200" tIns="50800" rIns="76200" bIns="50800" anchor="ctr"/>
          <a:lstStyle/>
          <a:p>
            <a:pPr algn="ctr">
              <a:buNone/>
            </a:pPr>
            <a:r>
              <a:rPr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13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报告生成</a:t>
            </a:r>
            <a:endParaRPr sz="13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>
            <a:spLocks noGrp="1"/>
          </p:cNvSpPr>
          <p:nvPr/>
        </p:nvSpPr>
        <p:spPr>
          <a:xfrm>
            <a:off x="698500" y="3651250"/>
            <a:ext cx="10801985" cy="3454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noAutofit/>
          </a:bodyPr>
          <a:lstStyle/>
          <a:p>
            <a:pPr algn="l">
              <a:buNone/>
            </a:pPr>
            <a:r>
              <a: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把算法结果转化为管理动作：每个环节都保留结构化状态、可追踪依据和人工确认入口。</a:t>
            </a:r>
            <a:endParaRPr sz="20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>
            <a:spLocks noGrp="1"/>
          </p:cNvSpPr>
          <p:nvPr/>
        </p:nvSpPr>
        <p:spPr>
          <a:xfrm>
            <a:off x="706120" y="4669790"/>
            <a:ext cx="10795000" cy="3327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buNone/>
            </a:pPr>
            <a:r>
              <a: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形成“发现—判断—处置—复盘”闭环，避免大模型直接替代管理决策。</a:t>
            </a:r>
            <a:endParaRPr sz="20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0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" y="81280"/>
            <a:ext cx="2002790" cy="577215"/>
          </a:xfrm>
          <a:prstGeom prst="rect">
            <a:avLst/>
          </a:prstGeom>
        </p:spPr>
      </p:pic>
      <p:sp>
        <p:nvSpPr>
          <p:cNvPr id="3" name="文本框 2"/>
          <p:cNvSpPr>
            <a:spLocks noGrp="1"/>
          </p:cNvSpPr>
          <p:nvPr/>
        </p:nvSpPr>
        <p:spPr>
          <a:xfrm>
            <a:off x="7154545" y="25844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0" y="-979906"/>
            <a:ext cx="6904036" cy="685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 flipH="1">
            <a:off x="0" y="-979906"/>
            <a:ext cx="52388" cy="685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221028" y="-788062"/>
            <a:ext cx="236342" cy="236342"/>
          </a:xfrm>
          <a:prstGeom prst="ellipse">
            <a:avLst/>
          </a:prstGeom>
          <a:solidFill>
            <a:srgbClr val="FED1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" name="Oval 7"/>
          <p:cNvSpPr>
            <a:spLocks noGrp="1"/>
          </p:cNvSpPr>
          <p:nvPr/>
        </p:nvSpPr>
        <p:spPr>
          <a:xfrm>
            <a:off x="156880" y="-851773"/>
            <a:ext cx="364639" cy="429532"/>
          </a:xfrm>
          <a:custGeom>
            <a:avLst/>
            <a:gdLst>
              <a:gd name="connsiteX0" fmla="*/ 204373 w 514281"/>
              <a:gd name="connsiteY0" fmla="*/ 530626 h 605804"/>
              <a:gd name="connsiteX1" fmla="*/ 204373 w 514281"/>
              <a:gd name="connsiteY1" fmla="*/ 556952 h 605804"/>
              <a:gd name="connsiteX2" fmla="*/ 311229 w 514281"/>
              <a:gd name="connsiteY2" fmla="*/ 556952 h 605804"/>
              <a:gd name="connsiteX3" fmla="*/ 311229 w 514281"/>
              <a:gd name="connsiteY3" fmla="*/ 530626 h 605804"/>
              <a:gd name="connsiteX4" fmla="*/ 204373 w 514281"/>
              <a:gd name="connsiteY4" fmla="*/ 479178 h 605804"/>
              <a:gd name="connsiteX5" fmla="*/ 204373 w 514281"/>
              <a:gd name="connsiteY5" fmla="*/ 504299 h 605804"/>
              <a:gd name="connsiteX6" fmla="*/ 311229 w 514281"/>
              <a:gd name="connsiteY6" fmla="*/ 504299 h 605804"/>
              <a:gd name="connsiteX7" fmla="*/ 311229 w 514281"/>
              <a:gd name="connsiteY7" fmla="*/ 479178 h 605804"/>
              <a:gd name="connsiteX8" fmla="*/ 458958 w 514281"/>
              <a:gd name="connsiteY8" fmla="*/ 243592 h 605804"/>
              <a:gd name="connsiteX9" fmla="*/ 514281 w 514281"/>
              <a:gd name="connsiteY9" fmla="*/ 243592 h 605804"/>
              <a:gd name="connsiteX10" fmla="*/ 514281 w 514281"/>
              <a:gd name="connsiteY10" fmla="*/ 269913 h 605804"/>
              <a:gd name="connsiteX11" fmla="*/ 458958 w 514281"/>
              <a:gd name="connsiteY11" fmla="*/ 269913 h 605804"/>
              <a:gd name="connsiteX12" fmla="*/ 0 w 514281"/>
              <a:gd name="connsiteY12" fmla="*/ 243592 h 605804"/>
              <a:gd name="connsiteX13" fmla="*/ 55323 w 514281"/>
              <a:gd name="connsiteY13" fmla="*/ 243592 h 605804"/>
              <a:gd name="connsiteX14" fmla="*/ 55323 w 514281"/>
              <a:gd name="connsiteY14" fmla="*/ 269913 h 605804"/>
              <a:gd name="connsiteX15" fmla="*/ 0 w 514281"/>
              <a:gd name="connsiteY15" fmla="*/ 269913 h 605804"/>
              <a:gd name="connsiteX16" fmla="*/ 263695 w 514281"/>
              <a:gd name="connsiteY16" fmla="*/ 202846 h 605804"/>
              <a:gd name="connsiteX17" fmla="*/ 192467 w 514281"/>
              <a:gd name="connsiteY17" fmla="*/ 273946 h 605804"/>
              <a:gd name="connsiteX18" fmla="*/ 237321 w 514281"/>
              <a:gd name="connsiteY18" fmla="*/ 273946 h 605804"/>
              <a:gd name="connsiteX19" fmla="*/ 250601 w 514281"/>
              <a:gd name="connsiteY19" fmla="*/ 288407 h 605804"/>
              <a:gd name="connsiteX20" fmla="*/ 246608 w 514281"/>
              <a:gd name="connsiteY20" fmla="*/ 326599 h 605804"/>
              <a:gd name="connsiteX21" fmla="*/ 320436 w 514281"/>
              <a:gd name="connsiteY21" fmla="*/ 252904 h 605804"/>
              <a:gd name="connsiteX22" fmla="*/ 275582 w 514281"/>
              <a:gd name="connsiteY22" fmla="*/ 252904 h 605804"/>
              <a:gd name="connsiteX23" fmla="*/ 262302 w 514281"/>
              <a:gd name="connsiteY23" fmla="*/ 239648 h 605804"/>
              <a:gd name="connsiteX24" fmla="*/ 283673 w 514281"/>
              <a:gd name="connsiteY24" fmla="*/ 156984 h 605804"/>
              <a:gd name="connsiteX25" fmla="*/ 291462 w 514281"/>
              <a:gd name="connsiteY25" fmla="*/ 168641 h 605804"/>
              <a:gd name="connsiteX26" fmla="*/ 290071 w 514281"/>
              <a:gd name="connsiteY26" fmla="*/ 225094 h 605804"/>
              <a:gd name="connsiteX27" fmla="*/ 290069 w 514281"/>
              <a:gd name="connsiteY27" fmla="*/ 225094 h 605804"/>
              <a:gd name="connsiteX28" fmla="*/ 290069 w 514281"/>
              <a:gd name="connsiteY28" fmla="*/ 225187 h 605804"/>
              <a:gd name="connsiteX29" fmla="*/ 290071 w 514281"/>
              <a:gd name="connsiteY29" fmla="*/ 225094 h 605804"/>
              <a:gd name="connsiteX30" fmla="*/ 353496 w 514281"/>
              <a:gd name="connsiteY30" fmla="*/ 225094 h 605804"/>
              <a:gd name="connsiteX31" fmla="*/ 362783 w 514281"/>
              <a:gd name="connsiteY31" fmla="*/ 247435 h 605804"/>
              <a:gd name="connsiteX32" fmla="*/ 240014 w 514281"/>
              <a:gd name="connsiteY32" fmla="*/ 369982 h 605804"/>
              <a:gd name="connsiteX33" fmla="*/ 217634 w 514281"/>
              <a:gd name="connsiteY33" fmla="*/ 359414 h 605804"/>
              <a:gd name="connsiteX34" fmla="*/ 222927 w 514281"/>
              <a:gd name="connsiteY34" fmla="*/ 298882 h 605804"/>
              <a:gd name="connsiteX35" fmla="*/ 160893 w 514281"/>
              <a:gd name="connsiteY35" fmla="*/ 298882 h 605804"/>
              <a:gd name="connsiteX36" fmla="*/ 151606 w 514281"/>
              <a:gd name="connsiteY36" fmla="*/ 276542 h 605804"/>
              <a:gd name="connsiteX37" fmla="*/ 268988 w 514281"/>
              <a:gd name="connsiteY37" fmla="*/ 159371 h 605804"/>
              <a:gd name="connsiteX38" fmla="*/ 283673 w 514281"/>
              <a:gd name="connsiteY38" fmla="*/ 156984 h 605804"/>
              <a:gd name="connsiteX39" fmla="*/ 250606 w 514281"/>
              <a:gd name="connsiteY39" fmla="*/ 114503 h 605804"/>
              <a:gd name="connsiteX40" fmla="*/ 114784 w 514281"/>
              <a:gd name="connsiteY40" fmla="*/ 244837 h 605804"/>
              <a:gd name="connsiteX41" fmla="*/ 159624 w 514281"/>
              <a:gd name="connsiteY41" fmla="*/ 362007 h 605804"/>
              <a:gd name="connsiteX42" fmla="*/ 204001 w 514281"/>
              <a:gd name="connsiteY42" fmla="*/ 452852 h 605804"/>
              <a:gd name="connsiteX43" fmla="*/ 311322 w 514281"/>
              <a:gd name="connsiteY43" fmla="*/ 452852 h 605804"/>
              <a:gd name="connsiteX44" fmla="*/ 354678 w 514281"/>
              <a:gd name="connsiteY44" fmla="*/ 362007 h 605804"/>
              <a:gd name="connsiteX45" fmla="*/ 400819 w 514281"/>
              <a:gd name="connsiteY45" fmla="*/ 258000 h 605804"/>
              <a:gd name="connsiteX46" fmla="*/ 250606 w 514281"/>
              <a:gd name="connsiteY46" fmla="*/ 114503 h 605804"/>
              <a:gd name="connsiteX47" fmla="*/ 249213 w 514281"/>
              <a:gd name="connsiteY47" fmla="*/ 88269 h 605804"/>
              <a:gd name="connsiteX48" fmla="*/ 427556 w 514281"/>
              <a:gd name="connsiteY48" fmla="*/ 258092 h 605804"/>
              <a:gd name="connsiteX49" fmla="*/ 373524 w 514281"/>
              <a:gd name="connsiteY49" fmla="*/ 381845 h 605804"/>
              <a:gd name="connsiteX50" fmla="*/ 337874 w 514281"/>
              <a:gd name="connsiteY50" fmla="*/ 460824 h 605804"/>
              <a:gd name="connsiteX51" fmla="*/ 337874 w 514281"/>
              <a:gd name="connsiteY51" fmla="*/ 571413 h 605804"/>
              <a:gd name="connsiteX52" fmla="*/ 324598 w 514281"/>
              <a:gd name="connsiteY52" fmla="*/ 583278 h 605804"/>
              <a:gd name="connsiteX53" fmla="*/ 270473 w 514281"/>
              <a:gd name="connsiteY53" fmla="*/ 583278 h 605804"/>
              <a:gd name="connsiteX54" fmla="*/ 270473 w 514281"/>
              <a:gd name="connsiteY54" fmla="*/ 592548 h 605804"/>
              <a:gd name="connsiteX55" fmla="*/ 257290 w 514281"/>
              <a:gd name="connsiteY55" fmla="*/ 605804 h 605804"/>
              <a:gd name="connsiteX56" fmla="*/ 244014 w 514281"/>
              <a:gd name="connsiteY56" fmla="*/ 592548 h 605804"/>
              <a:gd name="connsiteX57" fmla="*/ 244014 w 514281"/>
              <a:gd name="connsiteY57" fmla="*/ 583278 h 605804"/>
              <a:gd name="connsiteX58" fmla="*/ 189890 w 514281"/>
              <a:gd name="connsiteY58" fmla="*/ 583278 h 605804"/>
              <a:gd name="connsiteX59" fmla="*/ 176707 w 514281"/>
              <a:gd name="connsiteY59" fmla="*/ 570023 h 605804"/>
              <a:gd name="connsiteX60" fmla="*/ 176707 w 514281"/>
              <a:gd name="connsiteY60" fmla="*/ 460824 h 605804"/>
              <a:gd name="connsiteX61" fmla="*/ 139757 w 514281"/>
              <a:gd name="connsiteY61" fmla="*/ 380454 h 605804"/>
              <a:gd name="connsiteX62" fmla="*/ 87025 w 514281"/>
              <a:gd name="connsiteY62" fmla="*/ 242241 h 605804"/>
              <a:gd name="connsiteX63" fmla="*/ 249213 w 514281"/>
              <a:gd name="connsiteY63" fmla="*/ 88269 h 605804"/>
              <a:gd name="connsiteX64" fmla="*/ 429815 w 514281"/>
              <a:gd name="connsiteY64" fmla="*/ 66120 h 605804"/>
              <a:gd name="connsiteX65" fmla="*/ 448444 w 514281"/>
              <a:gd name="connsiteY65" fmla="*/ 84608 h 605804"/>
              <a:gd name="connsiteX66" fmla="*/ 409280 w 514281"/>
              <a:gd name="connsiteY66" fmla="*/ 123772 h 605804"/>
              <a:gd name="connsiteX67" fmla="*/ 390721 w 514281"/>
              <a:gd name="connsiteY67" fmla="*/ 105143 h 605804"/>
              <a:gd name="connsiteX68" fmla="*/ 84820 w 514281"/>
              <a:gd name="connsiteY68" fmla="*/ 66120 h 605804"/>
              <a:gd name="connsiteX69" fmla="*/ 123843 w 514281"/>
              <a:gd name="connsiteY69" fmla="*/ 105143 h 605804"/>
              <a:gd name="connsiteX70" fmla="*/ 105284 w 514281"/>
              <a:gd name="connsiteY70" fmla="*/ 123772 h 605804"/>
              <a:gd name="connsiteX71" fmla="*/ 66120 w 514281"/>
              <a:gd name="connsiteY71" fmla="*/ 84749 h 605804"/>
              <a:gd name="connsiteX72" fmla="*/ 243945 w 514281"/>
              <a:gd name="connsiteY72" fmla="*/ 0 h 605804"/>
              <a:gd name="connsiteX73" fmla="*/ 270266 w 514281"/>
              <a:gd name="connsiteY73" fmla="*/ 0 h 605804"/>
              <a:gd name="connsiteX74" fmla="*/ 270266 w 514281"/>
              <a:gd name="connsiteY74" fmla="*/ 55253 h 605804"/>
              <a:gd name="connsiteX75" fmla="*/ 243945 w 514281"/>
              <a:gd name="connsiteY75" fmla="*/ 55253 h 605804"/>
            </a:gdLst>
            <a:ahLst/>
            <a:cxnLst/>
            <a:rect l="l" t="t" r="r" b="b"/>
            <a:pathLst>
              <a:path w="514281" h="605804">
                <a:moveTo>
                  <a:pt x="204373" y="530626"/>
                </a:moveTo>
                <a:lnTo>
                  <a:pt x="204373" y="556952"/>
                </a:lnTo>
                <a:lnTo>
                  <a:pt x="311229" y="556952"/>
                </a:lnTo>
                <a:lnTo>
                  <a:pt x="311229" y="530626"/>
                </a:lnTo>
                <a:close/>
                <a:moveTo>
                  <a:pt x="204373" y="479178"/>
                </a:moveTo>
                <a:lnTo>
                  <a:pt x="204373" y="504299"/>
                </a:lnTo>
                <a:lnTo>
                  <a:pt x="311229" y="504299"/>
                </a:lnTo>
                <a:lnTo>
                  <a:pt x="311229" y="479178"/>
                </a:lnTo>
                <a:close/>
                <a:moveTo>
                  <a:pt x="458958" y="243592"/>
                </a:moveTo>
                <a:lnTo>
                  <a:pt x="514281" y="243592"/>
                </a:lnTo>
                <a:lnTo>
                  <a:pt x="514281" y="269913"/>
                </a:lnTo>
                <a:lnTo>
                  <a:pt x="458958" y="269913"/>
                </a:lnTo>
                <a:close/>
                <a:moveTo>
                  <a:pt x="0" y="243592"/>
                </a:moveTo>
                <a:lnTo>
                  <a:pt x="55323" y="243592"/>
                </a:lnTo>
                <a:lnTo>
                  <a:pt x="55323" y="269913"/>
                </a:lnTo>
                <a:lnTo>
                  <a:pt x="0" y="269913"/>
                </a:lnTo>
                <a:close/>
                <a:moveTo>
                  <a:pt x="263695" y="202846"/>
                </a:moveTo>
                <a:lnTo>
                  <a:pt x="192467" y="273946"/>
                </a:lnTo>
                <a:lnTo>
                  <a:pt x="237321" y="273946"/>
                </a:lnTo>
                <a:cubicBezTo>
                  <a:pt x="248001" y="273946"/>
                  <a:pt x="251530" y="280991"/>
                  <a:pt x="250601" y="288407"/>
                </a:cubicBezTo>
                <a:lnTo>
                  <a:pt x="246608" y="326599"/>
                </a:lnTo>
                <a:lnTo>
                  <a:pt x="320436" y="252904"/>
                </a:lnTo>
                <a:lnTo>
                  <a:pt x="275582" y="252904"/>
                </a:lnTo>
                <a:cubicBezTo>
                  <a:pt x="270010" y="252904"/>
                  <a:pt x="262302" y="250586"/>
                  <a:pt x="262302" y="239648"/>
                </a:cubicBezTo>
                <a:close/>
                <a:moveTo>
                  <a:pt x="283673" y="156984"/>
                </a:moveTo>
                <a:cubicBezTo>
                  <a:pt x="288142" y="159139"/>
                  <a:pt x="291462" y="163635"/>
                  <a:pt x="291462" y="168641"/>
                </a:cubicBezTo>
                <a:lnTo>
                  <a:pt x="290071" y="225094"/>
                </a:lnTo>
                <a:lnTo>
                  <a:pt x="290069" y="225094"/>
                </a:lnTo>
                <a:lnTo>
                  <a:pt x="290069" y="225187"/>
                </a:lnTo>
                <a:lnTo>
                  <a:pt x="290071" y="225094"/>
                </a:lnTo>
                <a:lnTo>
                  <a:pt x="353496" y="225094"/>
                </a:lnTo>
                <a:cubicBezTo>
                  <a:pt x="367798" y="225094"/>
                  <a:pt x="370398" y="240946"/>
                  <a:pt x="362783" y="247435"/>
                </a:cubicBezTo>
                <a:lnTo>
                  <a:pt x="240014" y="369982"/>
                </a:lnTo>
                <a:cubicBezTo>
                  <a:pt x="231378" y="376749"/>
                  <a:pt x="217634" y="373041"/>
                  <a:pt x="217634" y="359414"/>
                </a:cubicBezTo>
                <a:lnTo>
                  <a:pt x="222927" y="298882"/>
                </a:lnTo>
                <a:lnTo>
                  <a:pt x="160893" y="298882"/>
                </a:lnTo>
                <a:cubicBezTo>
                  <a:pt x="148077" y="298882"/>
                  <a:pt x="141484" y="286646"/>
                  <a:pt x="151606" y="276542"/>
                </a:cubicBezTo>
                <a:lnTo>
                  <a:pt x="268988" y="159371"/>
                </a:lnTo>
                <a:cubicBezTo>
                  <a:pt x="273585" y="155014"/>
                  <a:pt x="279204" y="154829"/>
                  <a:pt x="283673" y="156984"/>
                </a:cubicBezTo>
                <a:close/>
                <a:moveTo>
                  <a:pt x="250606" y="114503"/>
                </a:moveTo>
                <a:cubicBezTo>
                  <a:pt x="179399" y="118396"/>
                  <a:pt x="121375" y="173830"/>
                  <a:pt x="114784" y="244837"/>
                </a:cubicBezTo>
                <a:cubicBezTo>
                  <a:pt x="110792" y="289610"/>
                  <a:pt x="126667" y="331788"/>
                  <a:pt x="159624" y="362007"/>
                </a:cubicBezTo>
                <a:cubicBezTo>
                  <a:pt x="186083" y="387407"/>
                  <a:pt x="201680" y="419388"/>
                  <a:pt x="204001" y="452852"/>
                </a:cubicBezTo>
                <a:lnTo>
                  <a:pt x="311322" y="452852"/>
                </a:lnTo>
                <a:cubicBezTo>
                  <a:pt x="313086" y="418553"/>
                  <a:pt x="328683" y="386758"/>
                  <a:pt x="354678" y="362007"/>
                </a:cubicBezTo>
                <a:cubicBezTo>
                  <a:pt x="383736" y="334476"/>
                  <a:pt x="400819" y="297489"/>
                  <a:pt x="400819" y="258000"/>
                </a:cubicBezTo>
                <a:cubicBezTo>
                  <a:pt x="400819" y="176425"/>
                  <a:pt x="332304" y="110517"/>
                  <a:pt x="250606" y="114503"/>
                </a:cubicBezTo>
                <a:close/>
                <a:moveTo>
                  <a:pt x="249213" y="88269"/>
                </a:moveTo>
                <a:cubicBezTo>
                  <a:pt x="346786" y="82985"/>
                  <a:pt x="427185" y="161964"/>
                  <a:pt x="427556" y="258092"/>
                </a:cubicBezTo>
                <a:cubicBezTo>
                  <a:pt x="427556" y="304164"/>
                  <a:pt x="407782" y="350142"/>
                  <a:pt x="373524" y="381845"/>
                </a:cubicBezTo>
                <a:cubicBezTo>
                  <a:pt x="351057" y="402795"/>
                  <a:pt x="337874" y="430511"/>
                  <a:pt x="337874" y="460824"/>
                </a:cubicBezTo>
                <a:lnTo>
                  <a:pt x="337874" y="571413"/>
                </a:lnTo>
                <a:cubicBezTo>
                  <a:pt x="337874" y="577995"/>
                  <a:pt x="331190" y="583278"/>
                  <a:pt x="324598" y="583278"/>
                </a:cubicBezTo>
                <a:lnTo>
                  <a:pt x="270473" y="583278"/>
                </a:lnTo>
                <a:lnTo>
                  <a:pt x="270473" y="592548"/>
                </a:lnTo>
                <a:cubicBezTo>
                  <a:pt x="270473" y="600428"/>
                  <a:pt x="265182" y="605804"/>
                  <a:pt x="257290" y="605804"/>
                </a:cubicBezTo>
                <a:cubicBezTo>
                  <a:pt x="249306" y="605804"/>
                  <a:pt x="244014" y="600428"/>
                  <a:pt x="244014" y="592548"/>
                </a:cubicBezTo>
                <a:lnTo>
                  <a:pt x="244014" y="583278"/>
                </a:lnTo>
                <a:lnTo>
                  <a:pt x="189890" y="583278"/>
                </a:lnTo>
                <a:cubicBezTo>
                  <a:pt x="181999" y="583278"/>
                  <a:pt x="176707" y="577995"/>
                  <a:pt x="176707" y="570023"/>
                </a:cubicBezTo>
                <a:lnTo>
                  <a:pt x="176707" y="460824"/>
                </a:lnTo>
                <a:cubicBezTo>
                  <a:pt x="176707" y="430511"/>
                  <a:pt x="163524" y="402795"/>
                  <a:pt x="139757" y="380454"/>
                </a:cubicBezTo>
                <a:cubicBezTo>
                  <a:pt x="101508" y="344951"/>
                  <a:pt x="83126" y="293596"/>
                  <a:pt x="87025" y="242241"/>
                </a:cubicBezTo>
                <a:cubicBezTo>
                  <a:pt x="95009" y="158071"/>
                  <a:pt x="164823" y="92255"/>
                  <a:pt x="249213" y="88269"/>
                </a:cubicBezTo>
                <a:close/>
                <a:moveTo>
                  <a:pt x="429815" y="66120"/>
                </a:moveTo>
                <a:lnTo>
                  <a:pt x="448444" y="84608"/>
                </a:lnTo>
                <a:lnTo>
                  <a:pt x="409280" y="123772"/>
                </a:lnTo>
                <a:lnTo>
                  <a:pt x="390721" y="105143"/>
                </a:lnTo>
                <a:close/>
                <a:moveTo>
                  <a:pt x="84820" y="66120"/>
                </a:moveTo>
                <a:lnTo>
                  <a:pt x="123843" y="105143"/>
                </a:lnTo>
                <a:lnTo>
                  <a:pt x="105284" y="123772"/>
                </a:lnTo>
                <a:lnTo>
                  <a:pt x="66120" y="84749"/>
                </a:lnTo>
                <a:close/>
                <a:moveTo>
                  <a:pt x="243945" y="0"/>
                </a:moveTo>
                <a:lnTo>
                  <a:pt x="270266" y="0"/>
                </a:lnTo>
                <a:lnTo>
                  <a:pt x="270266" y="55253"/>
                </a:lnTo>
                <a:lnTo>
                  <a:pt x="243945" y="552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60400" y="-851773"/>
            <a:ext cx="0" cy="42953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等腰三角形 8"/>
          <p:cNvSpPr>
            <a:spLocks noGrp="1"/>
          </p:cNvSpPr>
          <p:nvPr/>
        </p:nvSpPr>
        <p:spPr>
          <a:xfrm rot="5400000">
            <a:off x="656742" y="-659867"/>
            <a:ext cx="53036" cy="4572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06120" y="-821673"/>
            <a:ext cx="5803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设置导航栏请前往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【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视图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】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→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【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幻灯片母版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】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一键更改</a:t>
            </a:r>
            <a:endParaRPr sz="1800" b="0" i="0" u="none" cap="none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6582625" y="-851773"/>
            <a:ext cx="188305" cy="425834"/>
          </a:xfrm>
          <a:custGeom>
            <a:avLst/>
            <a:gdLst/>
            <a:ahLst/>
            <a:cxnLst/>
            <a:rect l="l" t="t" r="r" b="b"/>
            <a:pathLst>
              <a:path w="188305" h="425834">
                <a:moveTo>
                  <a:pt x="137517" y="318455"/>
                </a:moveTo>
                <a:cubicBezTo>
                  <a:pt x="151358" y="318455"/>
                  <a:pt x="161479" y="320222"/>
                  <a:pt x="167878" y="323757"/>
                </a:cubicBezTo>
                <a:cubicBezTo>
                  <a:pt x="174278" y="327291"/>
                  <a:pt x="179282" y="333003"/>
                  <a:pt x="182891" y="340890"/>
                </a:cubicBezTo>
                <a:cubicBezTo>
                  <a:pt x="186500" y="348778"/>
                  <a:pt x="188305" y="358303"/>
                  <a:pt x="188305" y="369465"/>
                </a:cubicBezTo>
                <a:cubicBezTo>
                  <a:pt x="188305" y="381669"/>
                  <a:pt x="186333" y="392069"/>
                  <a:pt x="182389" y="400664"/>
                </a:cubicBezTo>
                <a:cubicBezTo>
                  <a:pt x="178445" y="409258"/>
                  <a:pt x="173478" y="414951"/>
                  <a:pt x="167488" y="417742"/>
                </a:cubicBezTo>
                <a:cubicBezTo>
                  <a:pt x="161497" y="420532"/>
                  <a:pt x="151321" y="421927"/>
                  <a:pt x="136959" y="421927"/>
                </a:cubicBezTo>
                <a:lnTo>
                  <a:pt x="129815" y="421927"/>
                </a:lnTo>
                <a:lnTo>
                  <a:pt x="129815" y="378283"/>
                </a:lnTo>
                <a:lnTo>
                  <a:pt x="143210" y="378283"/>
                </a:lnTo>
                <a:cubicBezTo>
                  <a:pt x="149461" y="378283"/>
                  <a:pt x="153442" y="377725"/>
                  <a:pt x="155153" y="376609"/>
                </a:cubicBezTo>
                <a:cubicBezTo>
                  <a:pt x="156865" y="375493"/>
                  <a:pt x="157721" y="373633"/>
                  <a:pt x="157721" y="371028"/>
                </a:cubicBezTo>
                <a:cubicBezTo>
                  <a:pt x="157721" y="368200"/>
                  <a:pt x="156566" y="366061"/>
                  <a:pt x="154258" y="364610"/>
                </a:cubicBezTo>
                <a:cubicBezTo>
                  <a:pt x="151949" y="363159"/>
                  <a:pt x="148449" y="362433"/>
                  <a:pt x="143758" y="362433"/>
                </a:cubicBezTo>
                <a:cubicBezTo>
                  <a:pt x="137727" y="362433"/>
                  <a:pt x="133184" y="363249"/>
                  <a:pt x="130131" y="364880"/>
                </a:cubicBezTo>
                <a:cubicBezTo>
                  <a:pt x="127078" y="366438"/>
                  <a:pt x="123395" y="370865"/>
                  <a:pt x="119082" y="378160"/>
                </a:cubicBezTo>
                <a:cubicBezTo>
                  <a:pt x="106667" y="399078"/>
                  <a:pt x="96478" y="412254"/>
                  <a:pt x="88516" y="417686"/>
                </a:cubicBezTo>
                <a:cubicBezTo>
                  <a:pt x="80553" y="423118"/>
                  <a:pt x="67717" y="425834"/>
                  <a:pt x="50006" y="425834"/>
                </a:cubicBezTo>
                <a:cubicBezTo>
                  <a:pt x="37133" y="425834"/>
                  <a:pt x="27645" y="424327"/>
                  <a:pt x="21543" y="421313"/>
                </a:cubicBezTo>
                <a:cubicBezTo>
                  <a:pt x="15441" y="418300"/>
                  <a:pt x="10325" y="412477"/>
                  <a:pt x="6195" y="403845"/>
                </a:cubicBezTo>
                <a:cubicBezTo>
                  <a:pt x="2065" y="395213"/>
                  <a:pt x="0" y="385167"/>
                  <a:pt x="0" y="373707"/>
                </a:cubicBezTo>
                <a:cubicBezTo>
                  <a:pt x="0" y="361131"/>
                  <a:pt x="2381" y="350397"/>
                  <a:pt x="7144" y="341504"/>
                </a:cubicBezTo>
                <a:cubicBezTo>
                  <a:pt x="11906" y="332612"/>
                  <a:pt x="17971" y="326789"/>
                  <a:pt x="25338" y="324036"/>
                </a:cubicBezTo>
                <a:cubicBezTo>
                  <a:pt x="32705" y="321282"/>
                  <a:pt x="43160" y="319906"/>
                  <a:pt x="56704" y="319906"/>
                </a:cubicBezTo>
                <a:lnTo>
                  <a:pt x="68535" y="319906"/>
                </a:lnTo>
                <a:lnTo>
                  <a:pt x="68535" y="363549"/>
                </a:lnTo>
                <a:lnTo>
                  <a:pt x="46546" y="363549"/>
                </a:lnTo>
                <a:cubicBezTo>
                  <a:pt x="39774" y="363549"/>
                  <a:pt x="35421" y="364163"/>
                  <a:pt x="33486" y="365391"/>
                </a:cubicBezTo>
                <a:cubicBezTo>
                  <a:pt x="31552" y="366619"/>
                  <a:pt x="30584" y="368796"/>
                  <a:pt x="30584" y="371921"/>
                </a:cubicBezTo>
                <a:cubicBezTo>
                  <a:pt x="30584" y="375046"/>
                  <a:pt x="31812" y="377372"/>
                  <a:pt x="34268" y="378897"/>
                </a:cubicBezTo>
                <a:cubicBezTo>
                  <a:pt x="36723" y="380423"/>
                  <a:pt x="40370" y="381186"/>
                  <a:pt x="45207" y="381186"/>
                </a:cubicBezTo>
                <a:cubicBezTo>
                  <a:pt x="55848" y="381186"/>
                  <a:pt x="62806" y="379735"/>
                  <a:pt x="66080" y="376832"/>
                </a:cubicBezTo>
                <a:cubicBezTo>
                  <a:pt x="69354" y="373856"/>
                  <a:pt x="74823" y="366526"/>
                  <a:pt x="82488" y="354843"/>
                </a:cubicBezTo>
                <a:cubicBezTo>
                  <a:pt x="90227" y="343160"/>
                  <a:pt x="95845" y="335421"/>
                  <a:pt x="99343" y="331626"/>
                </a:cubicBezTo>
                <a:cubicBezTo>
                  <a:pt x="102840" y="327831"/>
                  <a:pt x="107677" y="324687"/>
                  <a:pt x="113854" y="322194"/>
                </a:cubicBezTo>
                <a:cubicBezTo>
                  <a:pt x="120030" y="319701"/>
                  <a:pt x="127918" y="318455"/>
                  <a:pt x="137517" y="318455"/>
                </a:cubicBezTo>
                <a:close/>
                <a:moveTo>
                  <a:pt x="107603" y="245529"/>
                </a:moveTo>
                <a:cubicBezTo>
                  <a:pt x="107528" y="246868"/>
                  <a:pt x="107491" y="248022"/>
                  <a:pt x="107491" y="248989"/>
                </a:cubicBezTo>
                <a:cubicBezTo>
                  <a:pt x="107491" y="253305"/>
                  <a:pt x="108552" y="256300"/>
                  <a:pt x="110672" y="257975"/>
                </a:cubicBezTo>
                <a:cubicBezTo>
                  <a:pt x="112793" y="259649"/>
                  <a:pt x="117202" y="260486"/>
                  <a:pt x="123900" y="260486"/>
                </a:cubicBezTo>
                <a:lnTo>
                  <a:pt x="138745" y="260486"/>
                </a:lnTo>
                <a:cubicBezTo>
                  <a:pt x="144922" y="260486"/>
                  <a:pt x="148940" y="259519"/>
                  <a:pt x="150800" y="257584"/>
                </a:cubicBezTo>
                <a:cubicBezTo>
                  <a:pt x="152661" y="255649"/>
                  <a:pt x="153591" y="251631"/>
                  <a:pt x="153591" y="245529"/>
                </a:cubicBezTo>
                <a:close/>
                <a:moveTo>
                  <a:pt x="3795" y="198536"/>
                </a:moveTo>
                <a:lnTo>
                  <a:pt x="184510" y="198536"/>
                </a:lnTo>
                <a:lnTo>
                  <a:pt x="184510" y="245864"/>
                </a:lnTo>
                <a:cubicBezTo>
                  <a:pt x="184510" y="258663"/>
                  <a:pt x="183505" y="268504"/>
                  <a:pt x="181496" y="275387"/>
                </a:cubicBezTo>
                <a:cubicBezTo>
                  <a:pt x="179487" y="282271"/>
                  <a:pt x="176585" y="287443"/>
                  <a:pt x="172790" y="290903"/>
                </a:cubicBezTo>
                <a:cubicBezTo>
                  <a:pt x="168994" y="294363"/>
                  <a:pt x="164399" y="296707"/>
                  <a:pt x="159004" y="297935"/>
                </a:cubicBezTo>
                <a:cubicBezTo>
                  <a:pt x="153609" y="299163"/>
                  <a:pt x="145256" y="299777"/>
                  <a:pt x="133945" y="299777"/>
                </a:cubicBezTo>
                <a:lnTo>
                  <a:pt x="118207" y="299777"/>
                </a:lnTo>
                <a:cubicBezTo>
                  <a:pt x="106673" y="299777"/>
                  <a:pt x="98264" y="298586"/>
                  <a:pt x="92981" y="296205"/>
                </a:cubicBezTo>
                <a:cubicBezTo>
                  <a:pt x="87697" y="293824"/>
                  <a:pt x="83642" y="289452"/>
                  <a:pt x="80814" y="283089"/>
                </a:cubicBezTo>
                <a:cubicBezTo>
                  <a:pt x="77986" y="276727"/>
                  <a:pt x="76572" y="268411"/>
                  <a:pt x="76572" y="258142"/>
                </a:cubicBezTo>
                <a:lnTo>
                  <a:pt x="76572" y="245529"/>
                </a:lnTo>
                <a:lnTo>
                  <a:pt x="3795" y="245529"/>
                </a:lnTo>
                <a:close/>
                <a:moveTo>
                  <a:pt x="3795" y="122336"/>
                </a:moveTo>
                <a:lnTo>
                  <a:pt x="184510" y="122336"/>
                </a:lnTo>
                <a:lnTo>
                  <a:pt x="184510" y="169329"/>
                </a:lnTo>
                <a:lnTo>
                  <a:pt x="3795" y="169329"/>
                </a:lnTo>
                <a:close/>
                <a:moveTo>
                  <a:pt x="148345" y="0"/>
                </a:moveTo>
                <a:lnTo>
                  <a:pt x="184510" y="0"/>
                </a:lnTo>
                <a:lnTo>
                  <a:pt x="184510" y="102691"/>
                </a:lnTo>
                <a:lnTo>
                  <a:pt x="148345" y="102691"/>
                </a:lnTo>
                <a:lnTo>
                  <a:pt x="148345" y="74786"/>
                </a:lnTo>
                <a:lnTo>
                  <a:pt x="3795" y="74786"/>
                </a:lnTo>
                <a:lnTo>
                  <a:pt x="3795" y="27793"/>
                </a:lnTo>
                <a:lnTo>
                  <a:pt x="148345" y="277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" name="Freeform 5"/>
          <p:cNvSpPr>
            <a:spLocks noGrp="1"/>
          </p:cNvSpPr>
          <p:nvPr/>
        </p:nvSpPr>
        <p:spPr>
          <a:xfrm>
            <a:off x="1528342" y="1626230"/>
            <a:ext cx="9517481" cy="3664567"/>
          </a:xfrm>
          <a:custGeom>
            <a:avLst/>
            <a:gdLst>
              <a:gd name="T0" fmla="*/ 0 w 6578"/>
              <a:gd name="T1" fmla="*/ 207 h 1851"/>
              <a:gd name="T2" fmla="*/ 6371 w 6578"/>
              <a:gd name="T3" fmla="*/ 207 h 1851"/>
              <a:gd name="T4" fmla="*/ 6578 w 6578"/>
              <a:gd name="T5" fmla="*/ 0 h 1851"/>
              <a:gd name="T6" fmla="*/ 6578 w 6578"/>
              <a:gd name="T7" fmla="*/ 1851 h 1851"/>
              <a:gd name="T8" fmla="*/ 0 w 6578"/>
              <a:gd name="T9" fmla="*/ 1851 h 1851"/>
              <a:gd name="T10" fmla="*/ 0 w 6578"/>
              <a:gd name="T11" fmla="*/ 489 h 1851"/>
              <a:gd name="T12" fmla="*/ 0 w 6578"/>
              <a:gd name="T13" fmla="*/ 207 h 1851"/>
            </a:gdLst>
            <a:ahLst/>
            <a:cxnLst/>
            <a:rect l="0" t="0" r="r" b="b"/>
            <a:pathLst>
              <a:path w="6578" h="1851">
                <a:moveTo>
                  <a:pt x="0" y="207"/>
                </a:moveTo>
                <a:lnTo>
                  <a:pt x="6371" y="207"/>
                </a:lnTo>
                <a:lnTo>
                  <a:pt x="6578" y="0"/>
                </a:lnTo>
                <a:lnTo>
                  <a:pt x="6578" y="1851"/>
                </a:lnTo>
                <a:lnTo>
                  <a:pt x="0" y="1851"/>
                </a:lnTo>
                <a:lnTo>
                  <a:pt x="0" y="489"/>
                </a:lnTo>
                <a:lnTo>
                  <a:pt x="0" y="207"/>
                </a:lnTo>
                <a:close/>
              </a:path>
            </a:pathLst>
          </a:custGeom>
          <a:noFill/>
          <a:ln w="0">
            <a:noFill/>
            <a:prstDash val="solid"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" name="Freeform 6"/>
          <p:cNvSpPr>
            <a:spLocks noGrp="1"/>
          </p:cNvSpPr>
          <p:nvPr/>
        </p:nvSpPr>
        <p:spPr>
          <a:xfrm>
            <a:off x="1146175" y="2559088"/>
            <a:ext cx="9450925" cy="3252774"/>
          </a:xfrm>
          <a:custGeom>
            <a:avLst/>
            <a:gdLst>
              <a:gd name="T0" fmla="*/ 288 w 6532"/>
              <a:gd name="T1" fmla="*/ 0 h 1643"/>
              <a:gd name="T2" fmla="*/ 0 w 6532"/>
              <a:gd name="T3" fmla="*/ 0 h 1643"/>
              <a:gd name="T4" fmla="*/ 0 w 6532"/>
              <a:gd name="T5" fmla="*/ 1643 h 1643"/>
              <a:gd name="T6" fmla="*/ 6532 w 6532"/>
              <a:gd name="T7" fmla="*/ 1643 h 1643"/>
              <a:gd name="T8" fmla="*/ 6532 w 6532"/>
              <a:gd name="T9" fmla="*/ 1355 h 1643"/>
            </a:gdLst>
            <a:ahLst/>
            <a:cxnLst/>
            <a:rect l="0" t="0" r="r" b="b"/>
            <a:pathLst>
              <a:path w="6532" h="1643">
                <a:moveTo>
                  <a:pt x="288" y="0"/>
                </a:moveTo>
                <a:lnTo>
                  <a:pt x="0" y="0"/>
                </a:lnTo>
                <a:lnTo>
                  <a:pt x="0" y="1643"/>
                </a:lnTo>
                <a:lnTo>
                  <a:pt x="6532" y="1643"/>
                </a:lnTo>
                <a:lnTo>
                  <a:pt x="6532" y="1355"/>
                </a:lnTo>
              </a:path>
            </a:pathLst>
          </a:custGeom>
          <a:noFill/>
          <a:ln w="0">
            <a:noFill/>
            <a:prstDash val="solid"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3048000" y="177800"/>
            <a:ext cx="876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论文方法总结：从研究思路到平台设计</a:t>
            </a:r>
            <a:endParaRPr sz="26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difficulty-heading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527810" y="1572260"/>
            <a:ext cx="3825240" cy="770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论文中的关键方法</a:t>
            </a:r>
            <a:endParaRPr sz="2400" b="1">
              <a:solidFill>
                <a:srgbClr val="7E0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olution-heading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233160" y="1572260"/>
            <a:ext cx="3825240" cy="770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在本平台中的设计转化</a:t>
            </a:r>
            <a:endParaRPr sz="2400" b="1">
              <a:solidFill>
                <a:srgbClr val="7E0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difficulty-lis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019300" y="2514600"/>
            <a:ext cx="3619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校园舆情演化与情感分析</a:t>
            </a:r>
            <a:endParaRPr sz="18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800"/>
          </a:p>
          <a:p>
            <a:pPr algn="l">
              <a:buNone/>
              <a:defRPr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[3] 社交媒体事件识别</a:t>
            </a:r>
            <a:endParaRPr sz="18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800"/>
          </a:p>
          <a:p>
            <a:pPr algn="l">
              <a:buNone/>
              <a:defRPr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[4] 应急舆情预警闭环</a:t>
            </a:r>
            <a:endParaRPr sz="18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800"/>
          </a:p>
          <a:p>
            <a:pPr algn="l">
              <a:buNone/>
              <a:defRPr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[6][7] 人类在环与 AI 风险治理</a:t>
            </a:r>
            <a:endParaRPr sz="18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olution-list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553200" y="2514600"/>
            <a:ext cx="3810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分类、情绪、趋势与风险总览</a:t>
            </a:r>
            <a:endParaRPr sz="18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800"/>
          </a:p>
          <a:p>
            <a:pPr algn="l">
              <a:buNone/>
              <a:defRPr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安全帖子聚合为可管理事件</a:t>
            </a:r>
            <a:endParaRPr sz="18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800"/>
          </a:p>
          <a:p>
            <a:pPr algn="l">
              <a:buNone/>
              <a:defRPr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监测 → 研判 → 处置 → 报告</a:t>
            </a:r>
            <a:endParaRPr sz="18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800"/>
          </a:p>
          <a:p>
            <a:pPr algn="l">
              <a:buNone/>
              <a:defRPr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人工复核、审计留痕、结构化优先</a:t>
            </a:r>
            <a:endParaRPr sz="18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comparison-divider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38850" y="2000250"/>
            <a:ext cx="28575" cy="3143250"/>
          </a:xfrm>
          <a:prstGeom prst="rect">
            <a:avLst/>
          </a:prstGeom>
          <a:solidFill>
            <a:srgbClr val="B26DA8"/>
          </a:solidFill>
          <a:ln w="0">
            <a:noFill/>
            <a:prstDash val="solid"/>
          </a:ln>
        </p:spPr>
      </p:sp>
      <p:pic>
        <p:nvPicPr>
          <p:cNvPr id="40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05" y="81280"/>
            <a:ext cx="2002790" cy="5772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" name="图片占位符 4"/>
          <p:cNvPicPr>
            <a:picLocks noChangeAspect="1"/>
          </p:cNvPicPr>
          <p:nvPr>
            <p:ph type="pic" idx="13"/>
          </p:nvPr>
        </p:nvPicPr>
        <p:blipFill>
          <a:blip r:embed="rId1"/>
          <a:srcRect l="10404" r="10404"/>
          <a:stretch>
            <a:fillRect/>
          </a:stretch>
        </p:blipFill>
        <p:spPr>
          <a:xfrm>
            <a:off x="0" y="0"/>
            <a:ext cx="914400" cy="914400"/>
          </a:xfr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3098801" y="3693453"/>
            <a:ext cx="59943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400" b="1" i="0" u="none" cap="none">
                <a:ln>
                  <a:noFill/>
                </a:ln>
                <a:solidFill>
                  <a:prstClr val="white"/>
                </a:solidFill>
              </a:rPr>
              <a:t>研究成果与应用</a:t>
            </a:r>
            <a:endParaRPr sz="5400" b="1" i="0" u="none" cap="none">
              <a:ln>
                <a:noFill/>
              </a:ln>
              <a:solidFill>
                <a:prstClr val="white"/>
              </a:solidFill>
            </a:endParaRPr>
          </a:p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5223446" y="1419440"/>
            <a:ext cx="1745108" cy="174510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400" b="1" i="0" u="none" cap="none">
                <a:ln>
                  <a:noFill/>
                </a:ln>
                <a:solidFill>
                  <a:srgbClr val="7E0C6E"/>
                </a:solidFill>
              </a:rPr>
              <a:t>04</a:t>
            </a:r>
            <a:endParaRPr sz="5400" b="1" i="0" u="none" cap="none">
              <a:ln>
                <a:noFill/>
              </a:ln>
              <a:solidFill>
                <a:srgbClr val="7E0C6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0" y="-800444"/>
            <a:ext cx="6904036" cy="685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 flipH="1">
            <a:off x="0" y="-800444"/>
            <a:ext cx="52388" cy="685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221028" y="-608600"/>
            <a:ext cx="236342" cy="236342"/>
          </a:xfrm>
          <a:prstGeom prst="ellipse">
            <a:avLst/>
          </a:prstGeom>
          <a:solidFill>
            <a:srgbClr val="FED1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" name="Oval 7"/>
          <p:cNvSpPr>
            <a:spLocks noGrp="1"/>
          </p:cNvSpPr>
          <p:nvPr/>
        </p:nvSpPr>
        <p:spPr>
          <a:xfrm>
            <a:off x="156880" y="-672311"/>
            <a:ext cx="364639" cy="429532"/>
          </a:xfrm>
          <a:custGeom>
            <a:avLst/>
            <a:gdLst>
              <a:gd name="connsiteX0" fmla="*/ 204373 w 514281"/>
              <a:gd name="connsiteY0" fmla="*/ 530626 h 605804"/>
              <a:gd name="connsiteX1" fmla="*/ 204373 w 514281"/>
              <a:gd name="connsiteY1" fmla="*/ 556952 h 605804"/>
              <a:gd name="connsiteX2" fmla="*/ 311229 w 514281"/>
              <a:gd name="connsiteY2" fmla="*/ 556952 h 605804"/>
              <a:gd name="connsiteX3" fmla="*/ 311229 w 514281"/>
              <a:gd name="connsiteY3" fmla="*/ 530626 h 605804"/>
              <a:gd name="connsiteX4" fmla="*/ 204373 w 514281"/>
              <a:gd name="connsiteY4" fmla="*/ 479178 h 605804"/>
              <a:gd name="connsiteX5" fmla="*/ 204373 w 514281"/>
              <a:gd name="connsiteY5" fmla="*/ 504299 h 605804"/>
              <a:gd name="connsiteX6" fmla="*/ 311229 w 514281"/>
              <a:gd name="connsiteY6" fmla="*/ 504299 h 605804"/>
              <a:gd name="connsiteX7" fmla="*/ 311229 w 514281"/>
              <a:gd name="connsiteY7" fmla="*/ 479178 h 605804"/>
              <a:gd name="connsiteX8" fmla="*/ 458958 w 514281"/>
              <a:gd name="connsiteY8" fmla="*/ 243592 h 605804"/>
              <a:gd name="connsiteX9" fmla="*/ 514281 w 514281"/>
              <a:gd name="connsiteY9" fmla="*/ 243592 h 605804"/>
              <a:gd name="connsiteX10" fmla="*/ 514281 w 514281"/>
              <a:gd name="connsiteY10" fmla="*/ 269913 h 605804"/>
              <a:gd name="connsiteX11" fmla="*/ 458958 w 514281"/>
              <a:gd name="connsiteY11" fmla="*/ 269913 h 605804"/>
              <a:gd name="connsiteX12" fmla="*/ 0 w 514281"/>
              <a:gd name="connsiteY12" fmla="*/ 243592 h 605804"/>
              <a:gd name="connsiteX13" fmla="*/ 55323 w 514281"/>
              <a:gd name="connsiteY13" fmla="*/ 243592 h 605804"/>
              <a:gd name="connsiteX14" fmla="*/ 55323 w 514281"/>
              <a:gd name="connsiteY14" fmla="*/ 269913 h 605804"/>
              <a:gd name="connsiteX15" fmla="*/ 0 w 514281"/>
              <a:gd name="connsiteY15" fmla="*/ 269913 h 605804"/>
              <a:gd name="connsiteX16" fmla="*/ 263695 w 514281"/>
              <a:gd name="connsiteY16" fmla="*/ 202846 h 605804"/>
              <a:gd name="connsiteX17" fmla="*/ 192467 w 514281"/>
              <a:gd name="connsiteY17" fmla="*/ 273946 h 605804"/>
              <a:gd name="connsiteX18" fmla="*/ 237321 w 514281"/>
              <a:gd name="connsiteY18" fmla="*/ 273946 h 605804"/>
              <a:gd name="connsiteX19" fmla="*/ 250601 w 514281"/>
              <a:gd name="connsiteY19" fmla="*/ 288407 h 605804"/>
              <a:gd name="connsiteX20" fmla="*/ 246608 w 514281"/>
              <a:gd name="connsiteY20" fmla="*/ 326599 h 605804"/>
              <a:gd name="connsiteX21" fmla="*/ 320436 w 514281"/>
              <a:gd name="connsiteY21" fmla="*/ 252904 h 605804"/>
              <a:gd name="connsiteX22" fmla="*/ 275582 w 514281"/>
              <a:gd name="connsiteY22" fmla="*/ 252904 h 605804"/>
              <a:gd name="connsiteX23" fmla="*/ 262302 w 514281"/>
              <a:gd name="connsiteY23" fmla="*/ 239648 h 605804"/>
              <a:gd name="connsiteX24" fmla="*/ 283673 w 514281"/>
              <a:gd name="connsiteY24" fmla="*/ 156984 h 605804"/>
              <a:gd name="connsiteX25" fmla="*/ 291462 w 514281"/>
              <a:gd name="connsiteY25" fmla="*/ 168641 h 605804"/>
              <a:gd name="connsiteX26" fmla="*/ 290071 w 514281"/>
              <a:gd name="connsiteY26" fmla="*/ 225094 h 605804"/>
              <a:gd name="connsiteX27" fmla="*/ 290069 w 514281"/>
              <a:gd name="connsiteY27" fmla="*/ 225094 h 605804"/>
              <a:gd name="connsiteX28" fmla="*/ 290069 w 514281"/>
              <a:gd name="connsiteY28" fmla="*/ 225187 h 605804"/>
              <a:gd name="connsiteX29" fmla="*/ 290071 w 514281"/>
              <a:gd name="connsiteY29" fmla="*/ 225094 h 605804"/>
              <a:gd name="connsiteX30" fmla="*/ 353496 w 514281"/>
              <a:gd name="connsiteY30" fmla="*/ 225094 h 605804"/>
              <a:gd name="connsiteX31" fmla="*/ 362783 w 514281"/>
              <a:gd name="connsiteY31" fmla="*/ 247435 h 605804"/>
              <a:gd name="connsiteX32" fmla="*/ 240014 w 514281"/>
              <a:gd name="connsiteY32" fmla="*/ 369982 h 605804"/>
              <a:gd name="connsiteX33" fmla="*/ 217634 w 514281"/>
              <a:gd name="connsiteY33" fmla="*/ 359414 h 605804"/>
              <a:gd name="connsiteX34" fmla="*/ 222927 w 514281"/>
              <a:gd name="connsiteY34" fmla="*/ 298882 h 605804"/>
              <a:gd name="connsiteX35" fmla="*/ 160893 w 514281"/>
              <a:gd name="connsiteY35" fmla="*/ 298882 h 605804"/>
              <a:gd name="connsiteX36" fmla="*/ 151606 w 514281"/>
              <a:gd name="connsiteY36" fmla="*/ 276542 h 605804"/>
              <a:gd name="connsiteX37" fmla="*/ 268988 w 514281"/>
              <a:gd name="connsiteY37" fmla="*/ 159371 h 605804"/>
              <a:gd name="connsiteX38" fmla="*/ 283673 w 514281"/>
              <a:gd name="connsiteY38" fmla="*/ 156984 h 605804"/>
              <a:gd name="connsiteX39" fmla="*/ 250606 w 514281"/>
              <a:gd name="connsiteY39" fmla="*/ 114503 h 605804"/>
              <a:gd name="connsiteX40" fmla="*/ 114784 w 514281"/>
              <a:gd name="connsiteY40" fmla="*/ 244837 h 605804"/>
              <a:gd name="connsiteX41" fmla="*/ 159624 w 514281"/>
              <a:gd name="connsiteY41" fmla="*/ 362007 h 605804"/>
              <a:gd name="connsiteX42" fmla="*/ 204001 w 514281"/>
              <a:gd name="connsiteY42" fmla="*/ 452852 h 605804"/>
              <a:gd name="connsiteX43" fmla="*/ 311322 w 514281"/>
              <a:gd name="connsiteY43" fmla="*/ 452852 h 605804"/>
              <a:gd name="connsiteX44" fmla="*/ 354678 w 514281"/>
              <a:gd name="connsiteY44" fmla="*/ 362007 h 605804"/>
              <a:gd name="connsiteX45" fmla="*/ 400819 w 514281"/>
              <a:gd name="connsiteY45" fmla="*/ 258000 h 605804"/>
              <a:gd name="connsiteX46" fmla="*/ 250606 w 514281"/>
              <a:gd name="connsiteY46" fmla="*/ 114503 h 605804"/>
              <a:gd name="connsiteX47" fmla="*/ 249213 w 514281"/>
              <a:gd name="connsiteY47" fmla="*/ 88269 h 605804"/>
              <a:gd name="connsiteX48" fmla="*/ 427556 w 514281"/>
              <a:gd name="connsiteY48" fmla="*/ 258092 h 605804"/>
              <a:gd name="connsiteX49" fmla="*/ 373524 w 514281"/>
              <a:gd name="connsiteY49" fmla="*/ 381845 h 605804"/>
              <a:gd name="connsiteX50" fmla="*/ 337874 w 514281"/>
              <a:gd name="connsiteY50" fmla="*/ 460824 h 605804"/>
              <a:gd name="connsiteX51" fmla="*/ 337874 w 514281"/>
              <a:gd name="connsiteY51" fmla="*/ 571413 h 605804"/>
              <a:gd name="connsiteX52" fmla="*/ 324598 w 514281"/>
              <a:gd name="connsiteY52" fmla="*/ 583278 h 605804"/>
              <a:gd name="connsiteX53" fmla="*/ 270473 w 514281"/>
              <a:gd name="connsiteY53" fmla="*/ 583278 h 605804"/>
              <a:gd name="connsiteX54" fmla="*/ 270473 w 514281"/>
              <a:gd name="connsiteY54" fmla="*/ 592548 h 605804"/>
              <a:gd name="connsiteX55" fmla="*/ 257290 w 514281"/>
              <a:gd name="connsiteY55" fmla="*/ 605804 h 605804"/>
              <a:gd name="connsiteX56" fmla="*/ 244014 w 514281"/>
              <a:gd name="connsiteY56" fmla="*/ 592548 h 605804"/>
              <a:gd name="connsiteX57" fmla="*/ 244014 w 514281"/>
              <a:gd name="connsiteY57" fmla="*/ 583278 h 605804"/>
              <a:gd name="connsiteX58" fmla="*/ 189890 w 514281"/>
              <a:gd name="connsiteY58" fmla="*/ 583278 h 605804"/>
              <a:gd name="connsiteX59" fmla="*/ 176707 w 514281"/>
              <a:gd name="connsiteY59" fmla="*/ 570023 h 605804"/>
              <a:gd name="connsiteX60" fmla="*/ 176707 w 514281"/>
              <a:gd name="connsiteY60" fmla="*/ 460824 h 605804"/>
              <a:gd name="connsiteX61" fmla="*/ 139757 w 514281"/>
              <a:gd name="connsiteY61" fmla="*/ 380454 h 605804"/>
              <a:gd name="connsiteX62" fmla="*/ 87025 w 514281"/>
              <a:gd name="connsiteY62" fmla="*/ 242241 h 605804"/>
              <a:gd name="connsiteX63" fmla="*/ 249213 w 514281"/>
              <a:gd name="connsiteY63" fmla="*/ 88269 h 605804"/>
              <a:gd name="connsiteX64" fmla="*/ 429815 w 514281"/>
              <a:gd name="connsiteY64" fmla="*/ 66120 h 605804"/>
              <a:gd name="connsiteX65" fmla="*/ 448444 w 514281"/>
              <a:gd name="connsiteY65" fmla="*/ 84608 h 605804"/>
              <a:gd name="connsiteX66" fmla="*/ 409280 w 514281"/>
              <a:gd name="connsiteY66" fmla="*/ 123772 h 605804"/>
              <a:gd name="connsiteX67" fmla="*/ 390721 w 514281"/>
              <a:gd name="connsiteY67" fmla="*/ 105143 h 605804"/>
              <a:gd name="connsiteX68" fmla="*/ 84820 w 514281"/>
              <a:gd name="connsiteY68" fmla="*/ 66120 h 605804"/>
              <a:gd name="connsiteX69" fmla="*/ 123843 w 514281"/>
              <a:gd name="connsiteY69" fmla="*/ 105143 h 605804"/>
              <a:gd name="connsiteX70" fmla="*/ 105284 w 514281"/>
              <a:gd name="connsiteY70" fmla="*/ 123772 h 605804"/>
              <a:gd name="connsiteX71" fmla="*/ 66120 w 514281"/>
              <a:gd name="connsiteY71" fmla="*/ 84749 h 605804"/>
              <a:gd name="connsiteX72" fmla="*/ 243945 w 514281"/>
              <a:gd name="connsiteY72" fmla="*/ 0 h 605804"/>
              <a:gd name="connsiteX73" fmla="*/ 270266 w 514281"/>
              <a:gd name="connsiteY73" fmla="*/ 0 h 605804"/>
              <a:gd name="connsiteX74" fmla="*/ 270266 w 514281"/>
              <a:gd name="connsiteY74" fmla="*/ 55253 h 605804"/>
              <a:gd name="connsiteX75" fmla="*/ 243945 w 514281"/>
              <a:gd name="connsiteY75" fmla="*/ 55253 h 605804"/>
            </a:gdLst>
            <a:ahLst/>
            <a:cxnLst/>
            <a:rect l="l" t="t" r="r" b="b"/>
            <a:pathLst>
              <a:path w="514281" h="605804">
                <a:moveTo>
                  <a:pt x="204373" y="530626"/>
                </a:moveTo>
                <a:lnTo>
                  <a:pt x="204373" y="556952"/>
                </a:lnTo>
                <a:lnTo>
                  <a:pt x="311229" y="556952"/>
                </a:lnTo>
                <a:lnTo>
                  <a:pt x="311229" y="530626"/>
                </a:lnTo>
                <a:close/>
                <a:moveTo>
                  <a:pt x="204373" y="479178"/>
                </a:moveTo>
                <a:lnTo>
                  <a:pt x="204373" y="504299"/>
                </a:lnTo>
                <a:lnTo>
                  <a:pt x="311229" y="504299"/>
                </a:lnTo>
                <a:lnTo>
                  <a:pt x="311229" y="479178"/>
                </a:lnTo>
                <a:close/>
                <a:moveTo>
                  <a:pt x="458958" y="243592"/>
                </a:moveTo>
                <a:lnTo>
                  <a:pt x="514281" y="243592"/>
                </a:lnTo>
                <a:lnTo>
                  <a:pt x="514281" y="269913"/>
                </a:lnTo>
                <a:lnTo>
                  <a:pt x="458958" y="269913"/>
                </a:lnTo>
                <a:close/>
                <a:moveTo>
                  <a:pt x="0" y="243592"/>
                </a:moveTo>
                <a:lnTo>
                  <a:pt x="55323" y="243592"/>
                </a:lnTo>
                <a:lnTo>
                  <a:pt x="55323" y="269913"/>
                </a:lnTo>
                <a:lnTo>
                  <a:pt x="0" y="269913"/>
                </a:lnTo>
                <a:close/>
                <a:moveTo>
                  <a:pt x="263695" y="202846"/>
                </a:moveTo>
                <a:lnTo>
                  <a:pt x="192467" y="273946"/>
                </a:lnTo>
                <a:lnTo>
                  <a:pt x="237321" y="273946"/>
                </a:lnTo>
                <a:cubicBezTo>
                  <a:pt x="248001" y="273946"/>
                  <a:pt x="251530" y="280991"/>
                  <a:pt x="250601" y="288407"/>
                </a:cubicBezTo>
                <a:lnTo>
                  <a:pt x="246608" y="326599"/>
                </a:lnTo>
                <a:lnTo>
                  <a:pt x="320436" y="252904"/>
                </a:lnTo>
                <a:lnTo>
                  <a:pt x="275582" y="252904"/>
                </a:lnTo>
                <a:cubicBezTo>
                  <a:pt x="270010" y="252904"/>
                  <a:pt x="262302" y="250586"/>
                  <a:pt x="262302" y="239648"/>
                </a:cubicBezTo>
                <a:close/>
                <a:moveTo>
                  <a:pt x="283673" y="156984"/>
                </a:moveTo>
                <a:cubicBezTo>
                  <a:pt x="288142" y="159139"/>
                  <a:pt x="291462" y="163635"/>
                  <a:pt x="291462" y="168641"/>
                </a:cubicBezTo>
                <a:lnTo>
                  <a:pt x="290071" y="225094"/>
                </a:lnTo>
                <a:lnTo>
                  <a:pt x="290069" y="225094"/>
                </a:lnTo>
                <a:lnTo>
                  <a:pt x="290069" y="225187"/>
                </a:lnTo>
                <a:lnTo>
                  <a:pt x="290071" y="225094"/>
                </a:lnTo>
                <a:lnTo>
                  <a:pt x="353496" y="225094"/>
                </a:lnTo>
                <a:cubicBezTo>
                  <a:pt x="367798" y="225094"/>
                  <a:pt x="370398" y="240946"/>
                  <a:pt x="362783" y="247435"/>
                </a:cubicBezTo>
                <a:lnTo>
                  <a:pt x="240014" y="369982"/>
                </a:lnTo>
                <a:cubicBezTo>
                  <a:pt x="231378" y="376749"/>
                  <a:pt x="217634" y="373041"/>
                  <a:pt x="217634" y="359414"/>
                </a:cubicBezTo>
                <a:lnTo>
                  <a:pt x="222927" y="298882"/>
                </a:lnTo>
                <a:lnTo>
                  <a:pt x="160893" y="298882"/>
                </a:lnTo>
                <a:cubicBezTo>
                  <a:pt x="148077" y="298882"/>
                  <a:pt x="141484" y="286646"/>
                  <a:pt x="151606" y="276542"/>
                </a:cubicBezTo>
                <a:lnTo>
                  <a:pt x="268988" y="159371"/>
                </a:lnTo>
                <a:cubicBezTo>
                  <a:pt x="273585" y="155014"/>
                  <a:pt x="279204" y="154829"/>
                  <a:pt x="283673" y="156984"/>
                </a:cubicBezTo>
                <a:close/>
                <a:moveTo>
                  <a:pt x="250606" y="114503"/>
                </a:moveTo>
                <a:cubicBezTo>
                  <a:pt x="179399" y="118396"/>
                  <a:pt x="121375" y="173830"/>
                  <a:pt x="114784" y="244837"/>
                </a:cubicBezTo>
                <a:cubicBezTo>
                  <a:pt x="110792" y="289610"/>
                  <a:pt x="126667" y="331788"/>
                  <a:pt x="159624" y="362007"/>
                </a:cubicBezTo>
                <a:cubicBezTo>
                  <a:pt x="186083" y="387407"/>
                  <a:pt x="201680" y="419388"/>
                  <a:pt x="204001" y="452852"/>
                </a:cubicBezTo>
                <a:lnTo>
                  <a:pt x="311322" y="452852"/>
                </a:lnTo>
                <a:cubicBezTo>
                  <a:pt x="313086" y="418553"/>
                  <a:pt x="328683" y="386758"/>
                  <a:pt x="354678" y="362007"/>
                </a:cubicBezTo>
                <a:cubicBezTo>
                  <a:pt x="383736" y="334476"/>
                  <a:pt x="400819" y="297489"/>
                  <a:pt x="400819" y="258000"/>
                </a:cubicBezTo>
                <a:cubicBezTo>
                  <a:pt x="400819" y="176425"/>
                  <a:pt x="332304" y="110517"/>
                  <a:pt x="250606" y="114503"/>
                </a:cubicBezTo>
                <a:close/>
                <a:moveTo>
                  <a:pt x="249213" y="88269"/>
                </a:moveTo>
                <a:cubicBezTo>
                  <a:pt x="346786" y="82985"/>
                  <a:pt x="427185" y="161964"/>
                  <a:pt x="427556" y="258092"/>
                </a:cubicBezTo>
                <a:cubicBezTo>
                  <a:pt x="427556" y="304164"/>
                  <a:pt x="407782" y="350142"/>
                  <a:pt x="373524" y="381845"/>
                </a:cubicBezTo>
                <a:cubicBezTo>
                  <a:pt x="351057" y="402795"/>
                  <a:pt x="337874" y="430511"/>
                  <a:pt x="337874" y="460824"/>
                </a:cubicBezTo>
                <a:lnTo>
                  <a:pt x="337874" y="571413"/>
                </a:lnTo>
                <a:cubicBezTo>
                  <a:pt x="337874" y="577995"/>
                  <a:pt x="331190" y="583278"/>
                  <a:pt x="324598" y="583278"/>
                </a:cubicBezTo>
                <a:lnTo>
                  <a:pt x="270473" y="583278"/>
                </a:lnTo>
                <a:lnTo>
                  <a:pt x="270473" y="592548"/>
                </a:lnTo>
                <a:cubicBezTo>
                  <a:pt x="270473" y="600428"/>
                  <a:pt x="265182" y="605804"/>
                  <a:pt x="257290" y="605804"/>
                </a:cubicBezTo>
                <a:cubicBezTo>
                  <a:pt x="249306" y="605804"/>
                  <a:pt x="244014" y="600428"/>
                  <a:pt x="244014" y="592548"/>
                </a:cubicBezTo>
                <a:lnTo>
                  <a:pt x="244014" y="583278"/>
                </a:lnTo>
                <a:lnTo>
                  <a:pt x="189890" y="583278"/>
                </a:lnTo>
                <a:cubicBezTo>
                  <a:pt x="181999" y="583278"/>
                  <a:pt x="176707" y="577995"/>
                  <a:pt x="176707" y="570023"/>
                </a:cubicBezTo>
                <a:lnTo>
                  <a:pt x="176707" y="460824"/>
                </a:lnTo>
                <a:cubicBezTo>
                  <a:pt x="176707" y="430511"/>
                  <a:pt x="163524" y="402795"/>
                  <a:pt x="139757" y="380454"/>
                </a:cubicBezTo>
                <a:cubicBezTo>
                  <a:pt x="101508" y="344951"/>
                  <a:pt x="83126" y="293596"/>
                  <a:pt x="87025" y="242241"/>
                </a:cubicBezTo>
                <a:cubicBezTo>
                  <a:pt x="95009" y="158071"/>
                  <a:pt x="164823" y="92255"/>
                  <a:pt x="249213" y="88269"/>
                </a:cubicBezTo>
                <a:close/>
                <a:moveTo>
                  <a:pt x="429815" y="66120"/>
                </a:moveTo>
                <a:lnTo>
                  <a:pt x="448444" y="84608"/>
                </a:lnTo>
                <a:lnTo>
                  <a:pt x="409280" y="123772"/>
                </a:lnTo>
                <a:lnTo>
                  <a:pt x="390721" y="105143"/>
                </a:lnTo>
                <a:close/>
                <a:moveTo>
                  <a:pt x="84820" y="66120"/>
                </a:moveTo>
                <a:lnTo>
                  <a:pt x="123843" y="105143"/>
                </a:lnTo>
                <a:lnTo>
                  <a:pt x="105284" y="123772"/>
                </a:lnTo>
                <a:lnTo>
                  <a:pt x="66120" y="84749"/>
                </a:lnTo>
                <a:close/>
                <a:moveTo>
                  <a:pt x="243945" y="0"/>
                </a:moveTo>
                <a:lnTo>
                  <a:pt x="270266" y="0"/>
                </a:lnTo>
                <a:lnTo>
                  <a:pt x="270266" y="55253"/>
                </a:lnTo>
                <a:lnTo>
                  <a:pt x="243945" y="552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660400" y="-672311"/>
            <a:ext cx="0" cy="42953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等腰三角形 16"/>
          <p:cNvSpPr>
            <a:spLocks noGrp="1"/>
          </p:cNvSpPr>
          <p:nvPr/>
        </p:nvSpPr>
        <p:spPr>
          <a:xfrm rot="5400000">
            <a:off x="656742" y="-480405"/>
            <a:ext cx="53036" cy="4572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706120" y="-642211"/>
            <a:ext cx="5803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选中背景图片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Delete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，点击中间图标即可插入新图片</a:t>
            </a:r>
            <a:endParaRPr sz="1800" b="0" i="0" u="none" cap="none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6582625" y="-672311"/>
            <a:ext cx="188305" cy="425834"/>
          </a:xfrm>
          <a:custGeom>
            <a:avLst/>
            <a:gdLst/>
            <a:ahLst/>
            <a:cxnLst/>
            <a:rect l="l" t="t" r="r" b="b"/>
            <a:pathLst>
              <a:path w="188305" h="425834">
                <a:moveTo>
                  <a:pt x="137517" y="318455"/>
                </a:moveTo>
                <a:cubicBezTo>
                  <a:pt x="151358" y="318455"/>
                  <a:pt x="161479" y="320222"/>
                  <a:pt x="167878" y="323757"/>
                </a:cubicBezTo>
                <a:cubicBezTo>
                  <a:pt x="174278" y="327291"/>
                  <a:pt x="179282" y="333003"/>
                  <a:pt x="182891" y="340890"/>
                </a:cubicBezTo>
                <a:cubicBezTo>
                  <a:pt x="186500" y="348778"/>
                  <a:pt x="188305" y="358303"/>
                  <a:pt x="188305" y="369465"/>
                </a:cubicBezTo>
                <a:cubicBezTo>
                  <a:pt x="188305" y="381669"/>
                  <a:pt x="186333" y="392069"/>
                  <a:pt x="182389" y="400664"/>
                </a:cubicBezTo>
                <a:cubicBezTo>
                  <a:pt x="178445" y="409258"/>
                  <a:pt x="173478" y="414951"/>
                  <a:pt x="167488" y="417742"/>
                </a:cubicBezTo>
                <a:cubicBezTo>
                  <a:pt x="161497" y="420532"/>
                  <a:pt x="151321" y="421927"/>
                  <a:pt x="136959" y="421927"/>
                </a:cubicBezTo>
                <a:lnTo>
                  <a:pt x="129815" y="421927"/>
                </a:lnTo>
                <a:lnTo>
                  <a:pt x="129815" y="378283"/>
                </a:lnTo>
                <a:lnTo>
                  <a:pt x="143210" y="378283"/>
                </a:lnTo>
                <a:cubicBezTo>
                  <a:pt x="149461" y="378283"/>
                  <a:pt x="153442" y="377725"/>
                  <a:pt x="155153" y="376609"/>
                </a:cubicBezTo>
                <a:cubicBezTo>
                  <a:pt x="156865" y="375493"/>
                  <a:pt x="157721" y="373633"/>
                  <a:pt x="157721" y="371028"/>
                </a:cubicBezTo>
                <a:cubicBezTo>
                  <a:pt x="157721" y="368200"/>
                  <a:pt x="156566" y="366061"/>
                  <a:pt x="154258" y="364610"/>
                </a:cubicBezTo>
                <a:cubicBezTo>
                  <a:pt x="151949" y="363159"/>
                  <a:pt x="148449" y="362433"/>
                  <a:pt x="143758" y="362433"/>
                </a:cubicBezTo>
                <a:cubicBezTo>
                  <a:pt x="137727" y="362433"/>
                  <a:pt x="133184" y="363249"/>
                  <a:pt x="130131" y="364880"/>
                </a:cubicBezTo>
                <a:cubicBezTo>
                  <a:pt x="127078" y="366438"/>
                  <a:pt x="123395" y="370865"/>
                  <a:pt x="119082" y="378160"/>
                </a:cubicBezTo>
                <a:cubicBezTo>
                  <a:pt x="106667" y="399078"/>
                  <a:pt x="96478" y="412254"/>
                  <a:pt x="88516" y="417686"/>
                </a:cubicBezTo>
                <a:cubicBezTo>
                  <a:pt x="80553" y="423118"/>
                  <a:pt x="67717" y="425834"/>
                  <a:pt x="50006" y="425834"/>
                </a:cubicBezTo>
                <a:cubicBezTo>
                  <a:pt x="37133" y="425834"/>
                  <a:pt x="27645" y="424327"/>
                  <a:pt x="21543" y="421313"/>
                </a:cubicBezTo>
                <a:cubicBezTo>
                  <a:pt x="15441" y="418300"/>
                  <a:pt x="10325" y="412477"/>
                  <a:pt x="6195" y="403845"/>
                </a:cubicBezTo>
                <a:cubicBezTo>
                  <a:pt x="2065" y="395213"/>
                  <a:pt x="0" y="385167"/>
                  <a:pt x="0" y="373707"/>
                </a:cubicBezTo>
                <a:cubicBezTo>
                  <a:pt x="0" y="361131"/>
                  <a:pt x="2381" y="350397"/>
                  <a:pt x="7144" y="341504"/>
                </a:cubicBezTo>
                <a:cubicBezTo>
                  <a:pt x="11906" y="332612"/>
                  <a:pt x="17971" y="326789"/>
                  <a:pt x="25338" y="324036"/>
                </a:cubicBezTo>
                <a:cubicBezTo>
                  <a:pt x="32705" y="321282"/>
                  <a:pt x="43160" y="319906"/>
                  <a:pt x="56704" y="319906"/>
                </a:cubicBezTo>
                <a:lnTo>
                  <a:pt x="68535" y="319906"/>
                </a:lnTo>
                <a:lnTo>
                  <a:pt x="68535" y="363549"/>
                </a:lnTo>
                <a:lnTo>
                  <a:pt x="46546" y="363549"/>
                </a:lnTo>
                <a:cubicBezTo>
                  <a:pt x="39774" y="363549"/>
                  <a:pt x="35421" y="364163"/>
                  <a:pt x="33486" y="365391"/>
                </a:cubicBezTo>
                <a:cubicBezTo>
                  <a:pt x="31552" y="366619"/>
                  <a:pt x="30584" y="368796"/>
                  <a:pt x="30584" y="371921"/>
                </a:cubicBezTo>
                <a:cubicBezTo>
                  <a:pt x="30584" y="375046"/>
                  <a:pt x="31812" y="377372"/>
                  <a:pt x="34268" y="378897"/>
                </a:cubicBezTo>
                <a:cubicBezTo>
                  <a:pt x="36723" y="380423"/>
                  <a:pt x="40370" y="381186"/>
                  <a:pt x="45207" y="381186"/>
                </a:cubicBezTo>
                <a:cubicBezTo>
                  <a:pt x="55848" y="381186"/>
                  <a:pt x="62806" y="379735"/>
                  <a:pt x="66080" y="376832"/>
                </a:cubicBezTo>
                <a:cubicBezTo>
                  <a:pt x="69354" y="373856"/>
                  <a:pt x="74823" y="366526"/>
                  <a:pt x="82488" y="354843"/>
                </a:cubicBezTo>
                <a:cubicBezTo>
                  <a:pt x="90227" y="343160"/>
                  <a:pt x="95845" y="335421"/>
                  <a:pt x="99343" y="331626"/>
                </a:cubicBezTo>
                <a:cubicBezTo>
                  <a:pt x="102840" y="327831"/>
                  <a:pt x="107677" y="324687"/>
                  <a:pt x="113854" y="322194"/>
                </a:cubicBezTo>
                <a:cubicBezTo>
                  <a:pt x="120030" y="319701"/>
                  <a:pt x="127918" y="318455"/>
                  <a:pt x="137517" y="318455"/>
                </a:cubicBezTo>
                <a:close/>
                <a:moveTo>
                  <a:pt x="107603" y="245529"/>
                </a:moveTo>
                <a:cubicBezTo>
                  <a:pt x="107528" y="246868"/>
                  <a:pt x="107491" y="248022"/>
                  <a:pt x="107491" y="248989"/>
                </a:cubicBezTo>
                <a:cubicBezTo>
                  <a:pt x="107491" y="253305"/>
                  <a:pt x="108552" y="256300"/>
                  <a:pt x="110672" y="257975"/>
                </a:cubicBezTo>
                <a:cubicBezTo>
                  <a:pt x="112793" y="259649"/>
                  <a:pt x="117202" y="260486"/>
                  <a:pt x="123900" y="260486"/>
                </a:cubicBezTo>
                <a:lnTo>
                  <a:pt x="138745" y="260486"/>
                </a:lnTo>
                <a:cubicBezTo>
                  <a:pt x="144922" y="260486"/>
                  <a:pt x="148940" y="259519"/>
                  <a:pt x="150800" y="257584"/>
                </a:cubicBezTo>
                <a:cubicBezTo>
                  <a:pt x="152661" y="255649"/>
                  <a:pt x="153591" y="251631"/>
                  <a:pt x="153591" y="245529"/>
                </a:cubicBezTo>
                <a:close/>
                <a:moveTo>
                  <a:pt x="3795" y="198536"/>
                </a:moveTo>
                <a:lnTo>
                  <a:pt x="184510" y="198536"/>
                </a:lnTo>
                <a:lnTo>
                  <a:pt x="184510" y="245864"/>
                </a:lnTo>
                <a:cubicBezTo>
                  <a:pt x="184510" y="258663"/>
                  <a:pt x="183505" y="268504"/>
                  <a:pt x="181496" y="275387"/>
                </a:cubicBezTo>
                <a:cubicBezTo>
                  <a:pt x="179487" y="282271"/>
                  <a:pt x="176585" y="287443"/>
                  <a:pt x="172790" y="290903"/>
                </a:cubicBezTo>
                <a:cubicBezTo>
                  <a:pt x="168994" y="294363"/>
                  <a:pt x="164399" y="296707"/>
                  <a:pt x="159004" y="297935"/>
                </a:cubicBezTo>
                <a:cubicBezTo>
                  <a:pt x="153609" y="299163"/>
                  <a:pt x="145256" y="299777"/>
                  <a:pt x="133945" y="299777"/>
                </a:cubicBezTo>
                <a:lnTo>
                  <a:pt x="118207" y="299777"/>
                </a:lnTo>
                <a:cubicBezTo>
                  <a:pt x="106673" y="299777"/>
                  <a:pt x="98264" y="298586"/>
                  <a:pt x="92981" y="296205"/>
                </a:cubicBezTo>
                <a:cubicBezTo>
                  <a:pt x="87697" y="293824"/>
                  <a:pt x="83642" y="289452"/>
                  <a:pt x="80814" y="283089"/>
                </a:cubicBezTo>
                <a:cubicBezTo>
                  <a:pt x="77986" y="276727"/>
                  <a:pt x="76572" y="268411"/>
                  <a:pt x="76572" y="258142"/>
                </a:cubicBezTo>
                <a:lnTo>
                  <a:pt x="76572" y="245529"/>
                </a:lnTo>
                <a:lnTo>
                  <a:pt x="3795" y="245529"/>
                </a:lnTo>
                <a:close/>
                <a:moveTo>
                  <a:pt x="3795" y="122336"/>
                </a:moveTo>
                <a:lnTo>
                  <a:pt x="184510" y="122336"/>
                </a:lnTo>
                <a:lnTo>
                  <a:pt x="184510" y="169329"/>
                </a:lnTo>
                <a:lnTo>
                  <a:pt x="3795" y="169329"/>
                </a:lnTo>
                <a:close/>
                <a:moveTo>
                  <a:pt x="148345" y="0"/>
                </a:moveTo>
                <a:lnTo>
                  <a:pt x="184510" y="0"/>
                </a:lnTo>
                <a:lnTo>
                  <a:pt x="184510" y="102691"/>
                </a:lnTo>
                <a:lnTo>
                  <a:pt x="148345" y="102691"/>
                </a:lnTo>
                <a:lnTo>
                  <a:pt x="148345" y="74786"/>
                </a:lnTo>
                <a:lnTo>
                  <a:pt x="3795" y="74786"/>
                </a:lnTo>
                <a:lnTo>
                  <a:pt x="3795" y="27793"/>
                </a:lnTo>
                <a:lnTo>
                  <a:pt x="148345" y="277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35" name="图片 20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6F1A5B"/>
              </a:clrFrom>
              <a:clrTo>
                <a:srgbClr val="6F1A5B">
                  <a:alpha val="0"/>
                </a:srgbClr>
              </a:clrTo>
            </a:clrChange>
          </a:blip>
          <a:srcRect l="27693" t="50695" r="23620" b="23753"/>
          <a:stretch>
            <a:fillRect/>
          </a:stretch>
        </p:blipFill>
        <p:spPr>
          <a:xfrm>
            <a:off x="358313" y="0"/>
            <a:ext cx="2298038" cy="8964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0" y="-979906"/>
            <a:ext cx="6904036" cy="685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 flipH="1">
            <a:off x="0" y="-979906"/>
            <a:ext cx="52388" cy="685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221028" y="-788062"/>
            <a:ext cx="236342" cy="236342"/>
          </a:xfrm>
          <a:prstGeom prst="ellipse">
            <a:avLst/>
          </a:prstGeom>
          <a:solidFill>
            <a:srgbClr val="FED1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" name="Oval 7"/>
          <p:cNvSpPr>
            <a:spLocks noGrp="1"/>
          </p:cNvSpPr>
          <p:nvPr/>
        </p:nvSpPr>
        <p:spPr>
          <a:xfrm>
            <a:off x="156880" y="-851773"/>
            <a:ext cx="364639" cy="429532"/>
          </a:xfrm>
          <a:custGeom>
            <a:avLst/>
            <a:gdLst>
              <a:gd name="connsiteX0" fmla="*/ 204373 w 514281"/>
              <a:gd name="connsiteY0" fmla="*/ 530626 h 605804"/>
              <a:gd name="connsiteX1" fmla="*/ 204373 w 514281"/>
              <a:gd name="connsiteY1" fmla="*/ 556952 h 605804"/>
              <a:gd name="connsiteX2" fmla="*/ 311229 w 514281"/>
              <a:gd name="connsiteY2" fmla="*/ 556952 h 605804"/>
              <a:gd name="connsiteX3" fmla="*/ 311229 w 514281"/>
              <a:gd name="connsiteY3" fmla="*/ 530626 h 605804"/>
              <a:gd name="connsiteX4" fmla="*/ 204373 w 514281"/>
              <a:gd name="connsiteY4" fmla="*/ 479178 h 605804"/>
              <a:gd name="connsiteX5" fmla="*/ 204373 w 514281"/>
              <a:gd name="connsiteY5" fmla="*/ 504299 h 605804"/>
              <a:gd name="connsiteX6" fmla="*/ 311229 w 514281"/>
              <a:gd name="connsiteY6" fmla="*/ 504299 h 605804"/>
              <a:gd name="connsiteX7" fmla="*/ 311229 w 514281"/>
              <a:gd name="connsiteY7" fmla="*/ 479178 h 605804"/>
              <a:gd name="connsiteX8" fmla="*/ 458958 w 514281"/>
              <a:gd name="connsiteY8" fmla="*/ 243592 h 605804"/>
              <a:gd name="connsiteX9" fmla="*/ 514281 w 514281"/>
              <a:gd name="connsiteY9" fmla="*/ 243592 h 605804"/>
              <a:gd name="connsiteX10" fmla="*/ 514281 w 514281"/>
              <a:gd name="connsiteY10" fmla="*/ 269913 h 605804"/>
              <a:gd name="connsiteX11" fmla="*/ 458958 w 514281"/>
              <a:gd name="connsiteY11" fmla="*/ 269913 h 605804"/>
              <a:gd name="connsiteX12" fmla="*/ 0 w 514281"/>
              <a:gd name="connsiteY12" fmla="*/ 243592 h 605804"/>
              <a:gd name="connsiteX13" fmla="*/ 55323 w 514281"/>
              <a:gd name="connsiteY13" fmla="*/ 243592 h 605804"/>
              <a:gd name="connsiteX14" fmla="*/ 55323 w 514281"/>
              <a:gd name="connsiteY14" fmla="*/ 269913 h 605804"/>
              <a:gd name="connsiteX15" fmla="*/ 0 w 514281"/>
              <a:gd name="connsiteY15" fmla="*/ 269913 h 605804"/>
              <a:gd name="connsiteX16" fmla="*/ 263695 w 514281"/>
              <a:gd name="connsiteY16" fmla="*/ 202846 h 605804"/>
              <a:gd name="connsiteX17" fmla="*/ 192467 w 514281"/>
              <a:gd name="connsiteY17" fmla="*/ 273946 h 605804"/>
              <a:gd name="connsiteX18" fmla="*/ 237321 w 514281"/>
              <a:gd name="connsiteY18" fmla="*/ 273946 h 605804"/>
              <a:gd name="connsiteX19" fmla="*/ 250601 w 514281"/>
              <a:gd name="connsiteY19" fmla="*/ 288407 h 605804"/>
              <a:gd name="connsiteX20" fmla="*/ 246608 w 514281"/>
              <a:gd name="connsiteY20" fmla="*/ 326599 h 605804"/>
              <a:gd name="connsiteX21" fmla="*/ 320436 w 514281"/>
              <a:gd name="connsiteY21" fmla="*/ 252904 h 605804"/>
              <a:gd name="connsiteX22" fmla="*/ 275582 w 514281"/>
              <a:gd name="connsiteY22" fmla="*/ 252904 h 605804"/>
              <a:gd name="connsiteX23" fmla="*/ 262302 w 514281"/>
              <a:gd name="connsiteY23" fmla="*/ 239648 h 605804"/>
              <a:gd name="connsiteX24" fmla="*/ 283673 w 514281"/>
              <a:gd name="connsiteY24" fmla="*/ 156984 h 605804"/>
              <a:gd name="connsiteX25" fmla="*/ 291462 w 514281"/>
              <a:gd name="connsiteY25" fmla="*/ 168641 h 605804"/>
              <a:gd name="connsiteX26" fmla="*/ 290071 w 514281"/>
              <a:gd name="connsiteY26" fmla="*/ 225094 h 605804"/>
              <a:gd name="connsiteX27" fmla="*/ 290069 w 514281"/>
              <a:gd name="connsiteY27" fmla="*/ 225094 h 605804"/>
              <a:gd name="connsiteX28" fmla="*/ 290069 w 514281"/>
              <a:gd name="connsiteY28" fmla="*/ 225187 h 605804"/>
              <a:gd name="connsiteX29" fmla="*/ 290071 w 514281"/>
              <a:gd name="connsiteY29" fmla="*/ 225094 h 605804"/>
              <a:gd name="connsiteX30" fmla="*/ 353496 w 514281"/>
              <a:gd name="connsiteY30" fmla="*/ 225094 h 605804"/>
              <a:gd name="connsiteX31" fmla="*/ 362783 w 514281"/>
              <a:gd name="connsiteY31" fmla="*/ 247435 h 605804"/>
              <a:gd name="connsiteX32" fmla="*/ 240014 w 514281"/>
              <a:gd name="connsiteY32" fmla="*/ 369982 h 605804"/>
              <a:gd name="connsiteX33" fmla="*/ 217634 w 514281"/>
              <a:gd name="connsiteY33" fmla="*/ 359414 h 605804"/>
              <a:gd name="connsiteX34" fmla="*/ 222927 w 514281"/>
              <a:gd name="connsiteY34" fmla="*/ 298882 h 605804"/>
              <a:gd name="connsiteX35" fmla="*/ 160893 w 514281"/>
              <a:gd name="connsiteY35" fmla="*/ 298882 h 605804"/>
              <a:gd name="connsiteX36" fmla="*/ 151606 w 514281"/>
              <a:gd name="connsiteY36" fmla="*/ 276542 h 605804"/>
              <a:gd name="connsiteX37" fmla="*/ 268988 w 514281"/>
              <a:gd name="connsiteY37" fmla="*/ 159371 h 605804"/>
              <a:gd name="connsiteX38" fmla="*/ 283673 w 514281"/>
              <a:gd name="connsiteY38" fmla="*/ 156984 h 605804"/>
              <a:gd name="connsiteX39" fmla="*/ 250606 w 514281"/>
              <a:gd name="connsiteY39" fmla="*/ 114503 h 605804"/>
              <a:gd name="connsiteX40" fmla="*/ 114784 w 514281"/>
              <a:gd name="connsiteY40" fmla="*/ 244837 h 605804"/>
              <a:gd name="connsiteX41" fmla="*/ 159624 w 514281"/>
              <a:gd name="connsiteY41" fmla="*/ 362007 h 605804"/>
              <a:gd name="connsiteX42" fmla="*/ 204001 w 514281"/>
              <a:gd name="connsiteY42" fmla="*/ 452852 h 605804"/>
              <a:gd name="connsiteX43" fmla="*/ 311322 w 514281"/>
              <a:gd name="connsiteY43" fmla="*/ 452852 h 605804"/>
              <a:gd name="connsiteX44" fmla="*/ 354678 w 514281"/>
              <a:gd name="connsiteY44" fmla="*/ 362007 h 605804"/>
              <a:gd name="connsiteX45" fmla="*/ 400819 w 514281"/>
              <a:gd name="connsiteY45" fmla="*/ 258000 h 605804"/>
              <a:gd name="connsiteX46" fmla="*/ 250606 w 514281"/>
              <a:gd name="connsiteY46" fmla="*/ 114503 h 605804"/>
              <a:gd name="connsiteX47" fmla="*/ 249213 w 514281"/>
              <a:gd name="connsiteY47" fmla="*/ 88269 h 605804"/>
              <a:gd name="connsiteX48" fmla="*/ 427556 w 514281"/>
              <a:gd name="connsiteY48" fmla="*/ 258092 h 605804"/>
              <a:gd name="connsiteX49" fmla="*/ 373524 w 514281"/>
              <a:gd name="connsiteY49" fmla="*/ 381845 h 605804"/>
              <a:gd name="connsiteX50" fmla="*/ 337874 w 514281"/>
              <a:gd name="connsiteY50" fmla="*/ 460824 h 605804"/>
              <a:gd name="connsiteX51" fmla="*/ 337874 w 514281"/>
              <a:gd name="connsiteY51" fmla="*/ 571413 h 605804"/>
              <a:gd name="connsiteX52" fmla="*/ 324598 w 514281"/>
              <a:gd name="connsiteY52" fmla="*/ 583278 h 605804"/>
              <a:gd name="connsiteX53" fmla="*/ 270473 w 514281"/>
              <a:gd name="connsiteY53" fmla="*/ 583278 h 605804"/>
              <a:gd name="connsiteX54" fmla="*/ 270473 w 514281"/>
              <a:gd name="connsiteY54" fmla="*/ 592548 h 605804"/>
              <a:gd name="connsiteX55" fmla="*/ 257290 w 514281"/>
              <a:gd name="connsiteY55" fmla="*/ 605804 h 605804"/>
              <a:gd name="connsiteX56" fmla="*/ 244014 w 514281"/>
              <a:gd name="connsiteY56" fmla="*/ 592548 h 605804"/>
              <a:gd name="connsiteX57" fmla="*/ 244014 w 514281"/>
              <a:gd name="connsiteY57" fmla="*/ 583278 h 605804"/>
              <a:gd name="connsiteX58" fmla="*/ 189890 w 514281"/>
              <a:gd name="connsiteY58" fmla="*/ 583278 h 605804"/>
              <a:gd name="connsiteX59" fmla="*/ 176707 w 514281"/>
              <a:gd name="connsiteY59" fmla="*/ 570023 h 605804"/>
              <a:gd name="connsiteX60" fmla="*/ 176707 w 514281"/>
              <a:gd name="connsiteY60" fmla="*/ 460824 h 605804"/>
              <a:gd name="connsiteX61" fmla="*/ 139757 w 514281"/>
              <a:gd name="connsiteY61" fmla="*/ 380454 h 605804"/>
              <a:gd name="connsiteX62" fmla="*/ 87025 w 514281"/>
              <a:gd name="connsiteY62" fmla="*/ 242241 h 605804"/>
              <a:gd name="connsiteX63" fmla="*/ 249213 w 514281"/>
              <a:gd name="connsiteY63" fmla="*/ 88269 h 605804"/>
              <a:gd name="connsiteX64" fmla="*/ 429815 w 514281"/>
              <a:gd name="connsiteY64" fmla="*/ 66120 h 605804"/>
              <a:gd name="connsiteX65" fmla="*/ 448444 w 514281"/>
              <a:gd name="connsiteY65" fmla="*/ 84608 h 605804"/>
              <a:gd name="connsiteX66" fmla="*/ 409280 w 514281"/>
              <a:gd name="connsiteY66" fmla="*/ 123772 h 605804"/>
              <a:gd name="connsiteX67" fmla="*/ 390721 w 514281"/>
              <a:gd name="connsiteY67" fmla="*/ 105143 h 605804"/>
              <a:gd name="connsiteX68" fmla="*/ 84820 w 514281"/>
              <a:gd name="connsiteY68" fmla="*/ 66120 h 605804"/>
              <a:gd name="connsiteX69" fmla="*/ 123843 w 514281"/>
              <a:gd name="connsiteY69" fmla="*/ 105143 h 605804"/>
              <a:gd name="connsiteX70" fmla="*/ 105284 w 514281"/>
              <a:gd name="connsiteY70" fmla="*/ 123772 h 605804"/>
              <a:gd name="connsiteX71" fmla="*/ 66120 w 514281"/>
              <a:gd name="connsiteY71" fmla="*/ 84749 h 605804"/>
              <a:gd name="connsiteX72" fmla="*/ 243945 w 514281"/>
              <a:gd name="connsiteY72" fmla="*/ 0 h 605804"/>
              <a:gd name="connsiteX73" fmla="*/ 270266 w 514281"/>
              <a:gd name="connsiteY73" fmla="*/ 0 h 605804"/>
              <a:gd name="connsiteX74" fmla="*/ 270266 w 514281"/>
              <a:gd name="connsiteY74" fmla="*/ 55253 h 605804"/>
              <a:gd name="connsiteX75" fmla="*/ 243945 w 514281"/>
              <a:gd name="connsiteY75" fmla="*/ 55253 h 605804"/>
            </a:gdLst>
            <a:ahLst/>
            <a:cxnLst/>
            <a:rect l="l" t="t" r="r" b="b"/>
            <a:pathLst>
              <a:path w="514281" h="605804">
                <a:moveTo>
                  <a:pt x="204373" y="530626"/>
                </a:moveTo>
                <a:lnTo>
                  <a:pt x="204373" y="556952"/>
                </a:lnTo>
                <a:lnTo>
                  <a:pt x="311229" y="556952"/>
                </a:lnTo>
                <a:lnTo>
                  <a:pt x="311229" y="530626"/>
                </a:lnTo>
                <a:close/>
                <a:moveTo>
                  <a:pt x="204373" y="479178"/>
                </a:moveTo>
                <a:lnTo>
                  <a:pt x="204373" y="504299"/>
                </a:lnTo>
                <a:lnTo>
                  <a:pt x="311229" y="504299"/>
                </a:lnTo>
                <a:lnTo>
                  <a:pt x="311229" y="479178"/>
                </a:lnTo>
                <a:close/>
                <a:moveTo>
                  <a:pt x="458958" y="243592"/>
                </a:moveTo>
                <a:lnTo>
                  <a:pt x="514281" y="243592"/>
                </a:lnTo>
                <a:lnTo>
                  <a:pt x="514281" y="269913"/>
                </a:lnTo>
                <a:lnTo>
                  <a:pt x="458958" y="269913"/>
                </a:lnTo>
                <a:close/>
                <a:moveTo>
                  <a:pt x="0" y="243592"/>
                </a:moveTo>
                <a:lnTo>
                  <a:pt x="55323" y="243592"/>
                </a:lnTo>
                <a:lnTo>
                  <a:pt x="55323" y="269913"/>
                </a:lnTo>
                <a:lnTo>
                  <a:pt x="0" y="269913"/>
                </a:lnTo>
                <a:close/>
                <a:moveTo>
                  <a:pt x="263695" y="202846"/>
                </a:moveTo>
                <a:lnTo>
                  <a:pt x="192467" y="273946"/>
                </a:lnTo>
                <a:lnTo>
                  <a:pt x="237321" y="273946"/>
                </a:lnTo>
                <a:cubicBezTo>
                  <a:pt x="248001" y="273946"/>
                  <a:pt x="251530" y="280991"/>
                  <a:pt x="250601" y="288407"/>
                </a:cubicBezTo>
                <a:lnTo>
                  <a:pt x="246608" y="326599"/>
                </a:lnTo>
                <a:lnTo>
                  <a:pt x="320436" y="252904"/>
                </a:lnTo>
                <a:lnTo>
                  <a:pt x="275582" y="252904"/>
                </a:lnTo>
                <a:cubicBezTo>
                  <a:pt x="270010" y="252904"/>
                  <a:pt x="262302" y="250586"/>
                  <a:pt x="262302" y="239648"/>
                </a:cubicBezTo>
                <a:close/>
                <a:moveTo>
                  <a:pt x="283673" y="156984"/>
                </a:moveTo>
                <a:cubicBezTo>
                  <a:pt x="288142" y="159139"/>
                  <a:pt x="291462" y="163635"/>
                  <a:pt x="291462" y="168641"/>
                </a:cubicBezTo>
                <a:lnTo>
                  <a:pt x="290071" y="225094"/>
                </a:lnTo>
                <a:lnTo>
                  <a:pt x="290069" y="225094"/>
                </a:lnTo>
                <a:lnTo>
                  <a:pt x="290069" y="225187"/>
                </a:lnTo>
                <a:lnTo>
                  <a:pt x="290071" y="225094"/>
                </a:lnTo>
                <a:lnTo>
                  <a:pt x="353496" y="225094"/>
                </a:lnTo>
                <a:cubicBezTo>
                  <a:pt x="367798" y="225094"/>
                  <a:pt x="370398" y="240946"/>
                  <a:pt x="362783" y="247435"/>
                </a:cubicBezTo>
                <a:lnTo>
                  <a:pt x="240014" y="369982"/>
                </a:lnTo>
                <a:cubicBezTo>
                  <a:pt x="231378" y="376749"/>
                  <a:pt x="217634" y="373041"/>
                  <a:pt x="217634" y="359414"/>
                </a:cubicBezTo>
                <a:lnTo>
                  <a:pt x="222927" y="298882"/>
                </a:lnTo>
                <a:lnTo>
                  <a:pt x="160893" y="298882"/>
                </a:lnTo>
                <a:cubicBezTo>
                  <a:pt x="148077" y="298882"/>
                  <a:pt x="141484" y="286646"/>
                  <a:pt x="151606" y="276542"/>
                </a:cubicBezTo>
                <a:lnTo>
                  <a:pt x="268988" y="159371"/>
                </a:lnTo>
                <a:cubicBezTo>
                  <a:pt x="273585" y="155014"/>
                  <a:pt x="279204" y="154829"/>
                  <a:pt x="283673" y="156984"/>
                </a:cubicBezTo>
                <a:close/>
                <a:moveTo>
                  <a:pt x="250606" y="114503"/>
                </a:moveTo>
                <a:cubicBezTo>
                  <a:pt x="179399" y="118396"/>
                  <a:pt x="121375" y="173830"/>
                  <a:pt x="114784" y="244837"/>
                </a:cubicBezTo>
                <a:cubicBezTo>
                  <a:pt x="110792" y="289610"/>
                  <a:pt x="126667" y="331788"/>
                  <a:pt x="159624" y="362007"/>
                </a:cubicBezTo>
                <a:cubicBezTo>
                  <a:pt x="186083" y="387407"/>
                  <a:pt x="201680" y="419388"/>
                  <a:pt x="204001" y="452852"/>
                </a:cubicBezTo>
                <a:lnTo>
                  <a:pt x="311322" y="452852"/>
                </a:lnTo>
                <a:cubicBezTo>
                  <a:pt x="313086" y="418553"/>
                  <a:pt x="328683" y="386758"/>
                  <a:pt x="354678" y="362007"/>
                </a:cubicBezTo>
                <a:cubicBezTo>
                  <a:pt x="383736" y="334476"/>
                  <a:pt x="400819" y="297489"/>
                  <a:pt x="400819" y="258000"/>
                </a:cubicBezTo>
                <a:cubicBezTo>
                  <a:pt x="400819" y="176425"/>
                  <a:pt x="332304" y="110517"/>
                  <a:pt x="250606" y="114503"/>
                </a:cubicBezTo>
                <a:close/>
                <a:moveTo>
                  <a:pt x="249213" y="88269"/>
                </a:moveTo>
                <a:cubicBezTo>
                  <a:pt x="346786" y="82985"/>
                  <a:pt x="427185" y="161964"/>
                  <a:pt x="427556" y="258092"/>
                </a:cubicBezTo>
                <a:cubicBezTo>
                  <a:pt x="427556" y="304164"/>
                  <a:pt x="407782" y="350142"/>
                  <a:pt x="373524" y="381845"/>
                </a:cubicBezTo>
                <a:cubicBezTo>
                  <a:pt x="351057" y="402795"/>
                  <a:pt x="337874" y="430511"/>
                  <a:pt x="337874" y="460824"/>
                </a:cubicBezTo>
                <a:lnTo>
                  <a:pt x="337874" y="571413"/>
                </a:lnTo>
                <a:cubicBezTo>
                  <a:pt x="337874" y="577995"/>
                  <a:pt x="331190" y="583278"/>
                  <a:pt x="324598" y="583278"/>
                </a:cubicBezTo>
                <a:lnTo>
                  <a:pt x="270473" y="583278"/>
                </a:lnTo>
                <a:lnTo>
                  <a:pt x="270473" y="592548"/>
                </a:lnTo>
                <a:cubicBezTo>
                  <a:pt x="270473" y="600428"/>
                  <a:pt x="265182" y="605804"/>
                  <a:pt x="257290" y="605804"/>
                </a:cubicBezTo>
                <a:cubicBezTo>
                  <a:pt x="249306" y="605804"/>
                  <a:pt x="244014" y="600428"/>
                  <a:pt x="244014" y="592548"/>
                </a:cubicBezTo>
                <a:lnTo>
                  <a:pt x="244014" y="583278"/>
                </a:lnTo>
                <a:lnTo>
                  <a:pt x="189890" y="583278"/>
                </a:lnTo>
                <a:cubicBezTo>
                  <a:pt x="181999" y="583278"/>
                  <a:pt x="176707" y="577995"/>
                  <a:pt x="176707" y="570023"/>
                </a:cubicBezTo>
                <a:lnTo>
                  <a:pt x="176707" y="460824"/>
                </a:lnTo>
                <a:cubicBezTo>
                  <a:pt x="176707" y="430511"/>
                  <a:pt x="163524" y="402795"/>
                  <a:pt x="139757" y="380454"/>
                </a:cubicBezTo>
                <a:cubicBezTo>
                  <a:pt x="101508" y="344951"/>
                  <a:pt x="83126" y="293596"/>
                  <a:pt x="87025" y="242241"/>
                </a:cubicBezTo>
                <a:cubicBezTo>
                  <a:pt x="95009" y="158071"/>
                  <a:pt x="164823" y="92255"/>
                  <a:pt x="249213" y="88269"/>
                </a:cubicBezTo>
                <a:close/>
                <a:moveTo>
                  <a:pt x="429815" y="66120"/>
                </a:moveTo>
                <a:lnTo>
                  <a:pt x="448444" y="84608"/>
                </a:lnTo>
                <a:lnTo>
                  <a:pt x="409280" y="123772"/>
                </a:lnTo>
                <a:lnTo>
                  <a:pt x="390721" y="105143"/>
                </a:lnTo>
                <a:close/>
                <a:moveTo>
                  <a:pt x="84820" y="66120"/>
                </a:moveTo>
                <a:lnTo>
                  <a:pt x="123843" y="105143"/>
                </a:lnTo>
                <a:lnTo>
                  <a:pt x="105284" y="123772"/>
                </a:lnTo>
                <a:lnTo>
                  <a:pt x="66120" y="84749"/>
                </a:lnTo>
                <a:close/>
                <a:moveTo>
                  <a:pt x="243945" y="0"/>
                </a:moveTo>
                <a:lnTo>
                  <a:pt x="270266" y="0"/>
                </a:lnTo>
                <a:lnTo>
                  <a:pt x="270266" y="55253"/>
                </a:lnTo>
                <a:lnTo>
                  <a:pt x="243945" y="552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60400" y="-851773"/>
            <a:ext cx="0" cy="42953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等腰三角形 8"/>
          <p:cNvSpPr>
            <a:spLocks noGrp="1"/>
          </p:cNvSpPr>
          <p:nvPr/>
        </p:nvSpPr>
        <p:spPr>
          <a:xfrm rot="5400000">
            <a:off x="656742" y="-659867"/>
            <a:ext cx="53036" cy="4572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06120" y="-821673"/>
            <a:ext cx="5803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设置导航栏请前往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【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视图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】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→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【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幻灯片母版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】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一键更改</a:t>
            </a:r>
            <a:endParaRPr sz="1800" b="0" i="0" u="none" cap="none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6582625" y="-851773"/>
            <a:ext cx="188305" cy="425834"/>
          </a:xfrm>
          <a:custGeom>
            <a:avLst/>
            <a:gdLst/>
            <a:ahLst/>
            <a:cxnLst/>
            <a:rect l="l" t="t" r="r" b="b"/>
            <a:pathLst>
              <a:path w="188305" h="425834">
                <a:moveTo>
                  <a:pt x="137517" y="318455"/>
                </a:moveTo>
                <a:cubicBezTo>
                  <a:pt x="151358" y="318455"/>
                  <a:pt x="161479" y="320222"/>
                  <a:pt x="167878" y="323757"/>
                </a:cubicBezTo>
                <a:cubicBezTo>
                  <a:pt x="174278" y="327291"/>
                  <a:pt x="179282" y="333003"/>
                  <a:pt x="182891" y="340890"/>
                </a:cubicBezTo>
                <a:cubicBezTo>
                  <a:pt x="186500" y="348778"/>
                  <a:pt x="188305" y="358303"/>
                  <a:pt x="188305" y="369465"/>
                </a:cubicBezTo>
                <a:cubicBezTo>
                  <a:pt x="188305" y="381669"/>
                  <a:pt x="186333" y="392069"/>
                  <a:pt x="182389" y="400664"/>
                </a:cubicBezTo>
                <a:cubicBezTo>
                  <a:pt x="178445" y="409258"/>
                  <a:pt x="173478" y="414951"/>
                  <a:pt x="167488" y="417742"/>
                </a:cubicBezTo>
                <a:cubicBezTo>
                  <a:pt x="161497" y="420532"/>
                  <a:pt x="151321" y="421927"/>
                  <a:pt x="136959" y="421927"/>
                </a:cubicBezTo>
                <a:lnTo>
                  <a:pt x="129815" y="421927"/>
                </a:lnTo>
                <a:lnTo>
                  <a:pt x="129815" y="378283"/>
                </a:lnTo>
                <a:lnTo>
                  <a:pt x="143210" y="378283"/>
                </a:lnTo>
                <a:cubicBezTo>
                  <a:pt x="149461" y="378283"/>
                  <a:pt x="153442" y="377725"/>
                  <a:pt x="155153" y="376609"/>
                </a:cubicBezTo>
                <a:cubicBezTo>
                  <a:pt x="156865" y="375493"/>
                  <a:pt x="157721" y="373633"/>
                  <a:pt x="157721" y="371028"/>
                </a:cubicBezTo>
                <a:cubicBezTo>
                  <a:pt x="157721" y="368200"/>
                  <a:pt x="156566" y="366061"/>
                  <a:pt x="154258" y="364610"/>
                </a:cubicBezTo>
                <a:cubicBezTo>
                  <a:pt x="151949" y="363159"/>
                  <a:pt x="148449" y="362433"/>
                  <a:pt x="143758" y="362433"/>
                </a:cubicBezTo>
                <a:cubicBezTo>
                  <a:pt x="137727" y="362433"/>
                  <a:pt x="133184" y="363249"/>
                  <a:pt x="130131" y="364880"/>
                </a:cubicBezTo>
                <a:cubicBezTo>
                  <a:pt x="127078" y="366438"/>
                  <a:pt x="123395" y="370865"/>
                  <a:pt x="119082" y="378160"/>
                </a:cubicBezTo>
                <a:cubicBezTo>
                  <a:pt x="106667" y="399078"/>
                  <a:pt x="96478" y="412254"/>
                  <a:pt x="88516" y="417686"/>
                </a:cubicBezTo>
                <a:cubicBezTo>
                  <a:pt x="80553" y="423118"/>
                  <a:pt x="67717" y="425834"/>
                  <a:pt x="50006" y="425834"/>
                </a:cubicBezTo>
                <a:cubicBezTo>
                  <a:pt x="37133" y="425834"/>
                  <a:pt x="27645" y="424327"/>
                  <a:pt x="21543" y="421313"/>
                </a:cubicBezTo>
                <a:cubicBezTo>
                  <a:pt x="15441" y="418300"/>
                  <a:pt x="10325" y="412477"/>
                  <a:pt x="6195" y="403845"/>
                </a:cubicBezTo>
                <a:cubicBezTo>
                  <a:pt x="2065" y="395213"/>
                  <a:pt x="0" y="385167"/>
                  <a:pt x="0" y="373707"/>
                </a:cubicBezTo>
                <a:cubicBezTo>
                  <a:pt x="0" y="361131"/>
                  <a:pt x="2381" y="350397"/>
                  <a:pt x="7144" y="341504"/>
                </a:cubicBezTo>
                <a:cubicBezTo>
                  <a:pt x="11906" y="332612"/>
                  <a:pt x="17971" y="326789"/>
                  <a:pt x="25338" y="324036"/>
                </a:cubicBezTo>
                <a:cubicBezTo>
                  <a:pt x="32705" y="321282"/>
                  <a:pt x="43160" y="319906"/>
                  <a:pt x="56704" y="319906"/>
                </a:cubicBezTo>
                <a:lnTo>
                  <a:pt x="68535" y="319906"/>
                </a:lnTo>
                <a:lnTo>
                  <a:pt x="68535" y="363549"/>
                </a:lnTo>
                <a:lnTo>
                  <a:pt x="46546" y="363549"/>
                </a:lnTo>
                <a:cubicBezTo>
                  <a:pt x="39774" y="363549"/>
                  <a:pt x="35421" y="364163"/>
                  <a:pt x="33486" y="365391"/>
                </a:cubicBezTo>
                <a:cubicBezTo>
                  <a:pt x="31552" y="366619"/>
                  <a:pt x="30584" y="368796"/>
                  <a:pt x="30584" y="371921"/>
                </a:cubicBezTo>
                <a:cubicBezTo>
                  <a:pt x="30584" y="375046"/>
                  <a:pt x="31812" y="377372"/>
                  <a:pt x="34268" y="378897"/>
                </a:cubicBezTo>
                <a:cubicBezTo>
                  <a:pt x="36723" y="380423"/>
                  <a:pt x="40370" y="381186"/>
                  <a:pt x="45207" y="381186"/>
                </a:cubicBezTo>
                <a:cubicBezTo>
                  <a:pt x="55848" y="381186"/>
                  <a:pt x="62806" y="379735"/>
                  <a:pt x="66080" y="376832"/>
                </a:cubicBezTo>
                <a:cubicBezTo>
                  <a:pt x="69354" y="373856"/>
                  <a:pt x="74823" y="366526"/>
                  <a:pt x="82488" y="354843"/>
                </a:cubicBezTo>
                <a:cubicBezTo>
                  <a:pt x="90227" y="343160"/>
                  <a:pt x="95845" y="335421"/>
                  <a:pt x="99343" y="331626"/>
                </a:cubicBezTo>
                <a:cubicBezTo>
                  <a:pt x="102840" y="327831"/>
                  <a:pt x="107677" y="324687"/>
                  <a:pt x="113854" y="322194"/>
                </a:cubicBezTo>
                <a:cubicBezTo>
                  <a:pt x="120030" y="319701"/>
                  <a:pt x="127918" y="318455"/>
                  <a:pt x="137517" y="318455"/>
                </a:cubicBezTo>
                <a:close/>
                <a:moveTo>
                  <a:pt x="107603" y="245529"/>
                </a:moveTo>
                <a:cubicBezTo>
                  <a:pt x="107528" y="246868"/>
                  <a:pt x="107491" y="248022"/>
                  <a:pt x="107491" y="248989"/>
                </a:cubicBezTo>
                <a:cubicBezTo>
                  <a:pt x="107491" y="253305"/>
                  <a:pt x="108552" y="256300"/>
                  <a:pt x="110672" y="257975"/>
                </a:cubicBezTo>
                <a:cubicBezTo>
                  <a:pt x="112793" y="259649"/>
                  <a:pt x="117202" y="260486"/>
                  <a:pt x="123900" y="260486"/>
                </a:cubicBezTo>
                <a:lnTo>
                  <a:pt x="138745" y="260486"/>
                </a:lnTo>
                <a:cubicBezTo>
                  <a:pt x="144922" y="260486"/>
                  <a:pt x="148940" y="259519"/>
                  <a:pt x="150800" y="257584"/>
                </a:cubicBezTo>
                <a:cubicBezTo>
                  <a:pt x="152661" y="255649"/>
                  <a:pt x="153591" y="251631"/>
                  <a:pt x="153591" y="245529"/>
                </a:cubicBezTo>
                <a:close/>
                <a:moveTo>
                  <a:pt x="3795" y="198536"/>
                </a:moveTo>
                <a:lnTo>
                  <a:pt x="184510" y="198536"/>
                </a:lnTo>
                <a:lnTo>
                  <a:pt x="184510" y="245864"/>
                </a:lnTo>
                <a:cubicBezTo>
                  <a:pt x="184510" y="258663"/>
                  <a:pt x="183505" y="268504"/>
                  <a:pt x="181496" y="275387"/>
                </a:cubicBezTo>
                <a:cubicBezTo>
                  <a:pt x="179487" y="282271"/>
                  <a:pt x="176585" y="287443"/>
                  <a:pt x="172790" y="290903"/>
                </a:cubicBezTo>
                <a:cubicBezTo>
                  <a:pt x="168994" y="294363"/>
                  <a:pt x="164399" y="296707"/>
                  <a:pt x="159004" y="297935"/>
                </a:cubicBezTo>
                <a:cubicBezTo>
                  <a:pt x="153609" y="299163"/>
                  <a:pt x="145256" y="299777"/>
                  <a:pt x="133945" y="299777"/>
                </a:cubicBezTo>
                <a:lnTo>
                  <a:pt x="118207" y="299777"/>
                </a:lnTo>
                <a:cubicBezTo>
                  <a:pt x="106673" y="299777"/>
                  <a:pt x="98264" y="298586"/>
                  <a:pt x="92981" y="296205"/>
                </a:cubicBezTo>
                <a:cubicBezTo>
                  <a:pt x="87697" y="293824"/>
                  <a:pt x="83642" y="289452"/>
                  <a:pt x="80814" y="283089"/>
                </a:cubicBezTo>
                <a:cubicBezTo>
                  <a:pt x="77986" y="276727"/>
                  <a:pt x="76572" y="268411"/>
                  <a:pt x="76572" y="258142"/>
                </a:cubicBezTo>
                <a:lnTo>
                  <a:pt x="76572" y="245529"/>
                </a:lnTo>
                <a:lnTo>
                  <a:pt x="3795" y="245529"/>
                </a:lnTo>
                <a:close/>
                <a:moveTo>
                  <a:pt x="3795" y="122336"/>
                </a:moveTo>
                <a:lnTo>
                  <a:pt x="184510" y="122336"/>
                </a:lnTo>
                <a:lnTo>
                  <a:pt x="184510" y="169329"/>
                </a:lnTo>
                <a:lnTo>
                  <a:pt x="3795" y="169329"/>
                </a:lnTo>
                <a:close/>
                <a:moveTo>
                  <a:pt x="148345" y="0"/>
                </a:moveTo>
                <a:lnTo>
                  <a:pt x="184510" y="0"/>
                </a:lnTo>
                <a:lnTo>
                  <a:pt x="184510" y="102691"/>
                </a:lnTo>
                <a:lnTo>
                  <a:pt x="148345" y="102691"/>
                </a:lnTo>
                <a:lnTo>
                  <a:pt x="148345" y="74786"/>
                </a:lnTo>
                <a:lnTo>
                  <a:pt x="3795" y="74786"/>
                </a:lnTo>
                <a:lnTo>
                  <a:pt x="3795" y="27793"/>
                </a:lnTo>
                <a:lnTo>
                  <a:pt x="148345" y="277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" name="îšľïḍè"/>
          <p:cNvSpPr>
            <a:spLocks noGrp="1"/>
          </p:cNvSpPr>
          <p:nvPr/>
        </p:nvSpPr>
        <p:spPr>
          <a:xfrm>
            <a:off x="8401050" y="2618105"/>
            <a:ext cx="3242310" cy="3456305"/>
          </a:xfrm>
          <a:custGeom>
            <a:avLst/>
            <a:gdLst>
              <a:gd name="T0" fmla="*/ 764 w 804"/>
              <a:gd name="T1" fmla="*/ 744 h 964"/>
              <a:gd name="T2" fmla="*/ 584 w 804"/>
              <a:gd name="T3" fmla="*/ 924 h 964"/>
              <a:gd name="T4" fmla="*/ 0 w 804"/>
              <a:gd name="T5" fmla="*/ 924 h 964"/>
              <a:gd name="T6" fmla="*/ 0 w 804"/>
              <a:gd name="T7" fmla="*/ 964 h 964"/>
              <a:gd name="T8" fmla="*/ 584 w 804"/>
              <a:gd name="T9" fmla="*/ 964 h 964"/>
              <a:gd name="T10" fmla="*/ 804 w 804"/>
              <a:gd name="T11" fmla="*/ 744 h 964"/>
              <a:gd name="T12" fmla="*/ 804 w 804"/>
              <a:gd name="T13" fmla="*/ 0 h 964"/>
              <a:gd name="T14" fmla="*/ 764 w 804"/>
              <a:gd name="T15" fmla="*/ 0 h 964"/>
              <a:gd name="T16" fmla="*/ 764 w 804"/>
              <a:gd name="T17" fmla="*/ 744 h 964"/>
            </a:gdLst>
            <a:ahLst/>
            <a:cxnLst/>
            <a:rect l="0" t="0" r="r" b="b"/>
            <a:pathLst>
              <a:path w="804" h="964">
                <a:moveTo>
                  <a:pt x="764" y="744"/>
                </a:moveTo>
                <a:cubicBezTo>
                  <a:pt x="764" y="843"/>
                  <a:pt x="683" y="924"/>
                  <a:pt x="584" y="924"/>
                </a:cubicBezTo>
                <a:cubicBezTo>
                  <a:pt x="0" y="924"/>
                  <a:pt x="0" y="924"/>
                  <a:pt x="0" y="924"/>
                </a:cubicBezTo>
                <a:cubicBezTo>
                  <a:pt x="0" y="964"/>
                  <a:pt x="0" y="964"/>
                  <a:pt x="0" y="964"/>
                </a:cubicBezTo>
                <a:cubicBezTo>
                  <a:pt x="584" y="964"/>
                  <a:pt x="584" y="964"/>
                  <a:pt x="584" y="964"/>
                </a:cubicBezTo>
                <a:cubicBezTo>
                  <a:pt x="705" y="964"/>
                  <a:pt x="804" y="865"/>
                  <a:pt x="804" y="744"/>
                </a:cubicBezTo>
                <a:cubicBezTo>
                  <a:pt x="804" y="0"/>
                  <a:pt x="804" y="0"/>
                  <a:pt x="804" y="0"/>
                </a:cubicBezTo>
                <a:cubicBezTo>
                  <a:pt x="764" y="0"/>
                  <a:pt x="764" y="0"/>
                  <a:pt x="764" y="0"/>
                </a:cubicBezTo>
                <a:lnTo>
                  <a:pt x="764" y="74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" name="íşḻidé"/>
          <p:cNvSpPr>
            <a:spLocks noGrp="1"/>
          </p:cNvSpPr>
          <p:nvPr/>
        </p:nvSpPr>
        <p:spPr>
          <a:xfrm>
            <a:off x="521335" y="1525270"/>
            <a:ext cx="2997835" cy="3493135"/>
          </a:xfrm>
          <a:custGeom>
            <a:avLst/>
            <a:gdLst>
              <a:gd name="T0" fmla="*/ 40 w 804"/>
              <a:gd name="T1" fmla="*/ 220 h 980"/>
              <a:gd name="T2" fmla="*/ 220 w 804"/>
              <a:gd name="T3" fmla="*/ 40 h 980"/>
              <a:gd name="T4" fmla="*/ 804 w 804"/>
              <a:gd name="T5" fmla="*/ 40 h 980"/>
              <a:gd name="T6" fmla="*/ 804 w 804"/>
              <a:gd name="T7" fmla="*/ 0 h 980"/>
              <a:gd name="T8" fmla="*/ 220 w 804"/>
              <a:gd name="T9" fmla="*/ 0 h 980"/>
              <a:gd name="T10" fmla="*/ 0 w 804"/>
              <a:gd name="T11" fmla="*/ 220 h 980"/>
              <a:gd name="T12" fmla="*/ 0 w 804"/>
              <a:gd name="T13" fmla="*/ 980 h 980"/>
              <a:gd name="T14" fmla="*/ 40 w 804"/>
              <a:gd name="T15" fmla="*/ 980 h 980"/>
              <a:gd name="T16" fmla="*/ 40 w 804"/>
              <a:gd name="T17" fmla="*/ 220 h 980"/>
            </a:gdLst>
            <a:ahLst/>
            <a:cxnLst/>
            <a:rect l="0" t="0" r="r" b="b"/>
            <a:pathLst>
              <a:path w="804" h="980">
                <a:moveTo>
                  <a:pt x="40" y="220"/>
                </a:moveTo>
                <a:cubicBezTo>
                  <a:pt x="40" y="121"/>
                  <a:pt x="121" y="40"/>
                  <a:pt x="220" y="40"/>
                </a:cubicBezTo>
                <a:cubicBezTo>
                  <a:pt x="804" y="40"/>
                  <a:pt x="804" y="40"/>
                  <a:pt x="804" y="40"/>
                </a:cubicBezTo>
                <a:cubicBezTo>
                  <a:pt x="804" y="0"/>
                  <a:pt x="804" y="0"/>
                  <a:pt x="804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99" y="0"/>
                  <a:pt x="0" y="99"/>
                  <a:pt x="0" y="220"/>
                </a:cubicBezTo>
                <a:cubicBezTo>
                  <a:pt x="0" y="980"/>
                  <a:pt x="0" y="980"/>
                  <a:pt x="0" y="980"/>
                </a:cubicBezTo>
                <a:cubicBezTo>
                  <a:pt x="40" y="980"/>
                  <a:pt x="40" y="980"/>
                  <a:pt x="40" y="980"/>
                </a:cubicBezTo>
                <a:lnTo>
                  <a:pt x="40" y="2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5334000" y="228600"/>
            <a:ext cx="61912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项目成果：完整业务闭环与工程化落地</a:t>
            </a:r>
            <a:endParaRPr sz="21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62000" y="1968500"/>
            <a:ext cx="2413000" cy="1219200"/>
          </a:xfrm>
          <a:prstGeom prst="roundRect">
            <a:avLst/>
          </a:prstGeom>
          <a:solidFill>
            <a:srgbClr val="F3E8F2"/>
          </a:solidFill>
          <a:ln w="19050">
            <a:solidFill>
              <a:srgbClr val="7E0C6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6200" tIns="50800" rIns="76200" bIns="50800" anchor="ctr"/>
          <a:lstStyle/>
          <a:p>
            <a:pPr algn="ctr">
              <a:buNone/>
            </a:pPr>
            <a:r>
              <a:rPr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完整闭环</a:t>
            </a:r>
            <a:endParaRPr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13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监测 → 研判 → 处置 → 报告</a:t>
            </a:r>
            <a:endParaRPr sz="13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3175000" y="2451100"/>
            <a:ext cx="431800" cy="254000"/>
          </a:xfrm>
          <a:prstGeom prst="rightArrow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3606800" y="1968500"/>
            <a:ext cx="2286000" cy="121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0C6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6200" tIns="50800" rIns="76200" bIns="50800" anchor="ctr"/>
          <a:lstStyle/>
          <a:p>
            <a:pPr algn="ctr">
              <a:buNone/>
            </a:pPr>
            <a:r>
              <a:rPr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工程一体</a:t>
            </a:r>
            <a:endParaRPr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13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 3 ↔ REST ↔ Spring Boot</a:t>
            </a:r>
            <a:endParaRPr sz="13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5892800" y="2451100"/>
            <a:ext cx="431800" cy="254000"/>
          </a:xfrm>
          <a:prstGeom prst="rightArrow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324600" y="1968500"/>
            <a:ext cx="2667000" cy="1219200"/>
          </a:xfrm>
          <a:prstGeom prst="roundRect">
            <a:avLst/>
          </a:prstGeom>
          <a:solidFill>
            <a:srgbClr val="F3E8F2"/>
          </a:solidFill>
          <a:ln w="19050">
            <a:solidFill>
              <a:srgbClr val="7E0C6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6200" tIns="50800" rIns="76200" bIns="50800" anchor="ctr"/>
          <a:lstStyle/>
          <a:p>
            <a:pPr algn="ctr">
              <a:buNone/>
            </a:pPr>
            <a:r>
              <a:rPr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智能辅助</a:t>
            </a:r>
            <a:endParaRPr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13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结构化优先 · AI 辅助 · 风险可解释</a:t>
            </a:r>
            <a:endParaRPr sz="13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右箭头 22"/>
          <p:cNvSpPr>
            <a:spLocks noGrp="1"/>
          </p:cNvSpPr>
          <p:nvPr/>
        </p:nvSpPr>
        <p:spPr>
          <a:xfrm>
            <a:off x="8991600" y="2451100"/>
            <a:ext cx="431800" cy="254000"/>
          </a:xfrm>
          <a:prstGeom prst="rightArrow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9423400" y="1968500"/>
            <a:ext cx="2006600" cy="121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0C6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6200" tIns="50800" rIns="76200" bIns="50800" anchor="ctr"/>
          <a:lstStyle/>
          <a:p>
            <a:pPr algn="ctr">
              <a:buNone/>
            </a:pPr>
            <a:r>
              <a:rPr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可靠验证</a:t>
            </a:r>
            <a:endParaRPr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13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 项后端测试通过</a:t>
            </a:r>
            <a:endParaRPr sz="13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>
            <a:spLocks noGrp="1"/>
          </p:cNvSpPr>
          <p:nvPr/>
        </p:nvSpPr>
        <p:spPr>
          <a:xfrm>
            <a:off x="762000" y="3619500"/>
            <a:ext cx="2413000" cy="240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闭环可落地</a:t>
            </a:r>
            <a:endParaRPr sz="14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>
            <a:spLocks noGrp="1"/>
          </p:cNvSpPr>
          <p:nvPr/>
        </p:nvSpPr>
        <p:spPr>
          <a:xfrm>
            <a:off x="762000" y="3949700"/>
            <a:ext cx="2413000" cy="39433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人工复核与事件处置贯通</a:t>
            </a:r>
            <a:endParaRPr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>
            <a:spLocks noGrp="1"/>
          </p:cNvSpPr>
          <p:nvPr/>
        </p:nvSpPr>
        <p:spPr>
          <a:xfrm>
            <a:off x="3606800" y="3619500"/>
            <a:ext cx="2286000" cy="240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前后端协同</a:t>
            </a:r>
            <a:endParaRPr sz="14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>
            <a:spLocks noGrp="1"/>
          </p:cNvSpPr>
          <p:nvPr/>
        </p:nvSpPr>
        <p:spPr>
          <a:xfrm>
            <a:off x="3606800" y="3949700"/>
            <a:ext cx="2286000" cy="39433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真实接口、权限与审计统一</a:t>
            </a:r>
            <a:endParaRPr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6324600" y="3619500"/>
            <a:ext cx="2667000" cy="240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风险有依据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6324600" y="3949700"/>
            <a:ext cx="2667000" cy="20955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buNone/>
              <a:defRPr sz="1200">
                <a:solidFill>
                  <a:srgbClr val="F3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F3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触发规则、聚合证据与人工确认</a:t>
            </a:r>
            <a:endParaRPr sz="1200">
              <a:solidFill>
                <a:srgbClr val="F3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>
            <a:spLocks noGrp="1"/>
          </p:cNvSpPr>
          <p:nvPr/>
        </p:nvSpPr>
        <p:spPr>
          <a:xfrm>
            <a:off x="9423400" y="3619500"/>
            <a:ext cx="2006600" cy="240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构建可复现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>
            <a:spLocks noGrp="1"/>
          </p:cNvSpPr>
          <p:nvPr/>
        </p:nvSpPr>
        <p:spPr>
          <a:xfrm>
            <a:off x="9423400" y="3949700"/>
            <a:ext cx="2006600" cy="39433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buNone/>
              <a:defRPr sz="1200">
                <a:solidFill>
                  <a:srgbClr val="F3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F3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前端生产构建通过，测试全通过</a:t>
            </a:r>
            <a:endParaRPr sz="1200">
              <a:solidFill>
                <a:srgbClr val="F3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>
            <a:spLocks noGrp="1"/>
          </p:cNvSpPr>
          <p:nvPr/>
        </p:nvSpPr>
        <p:spPr>
          <a:xfrm>
            <a:off x="838200" y="4762500"/>
            <a:ext cx="10287000" cy="552450"/>
          </a:xfrm>
          <a:prstGeom prst="rect">
            <a:avLst/>
          </a:prstGeom>
          <a:solidFill>
            <a:srgbClr val="F3E8F7"/>
          </a:solidFill>
          <a:ln w="9525">
            <a:solidFill>
              <a:srgbClr val="B26DA8"/>
            </a:solidFill>
            <a:prstDash val="solid"/>
          </a:ln>
        </p:spPr>
        <p:txBody>
          <a:bodyPr wrap="square" lIns="25400" tIns="12700" rIns="25400" bIns="12700" anchor="ctr">
            <a:spAutoFit/>
          </a:bodyPr>
          <a:lstStyle/>
          <a:p>
            <a:pPr algn="ctr">
              <a:buNone/>
              <a:defRPr sz="127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负责设计与实现：平台架构、Vue 前端、接口联调、可视化、事件管理、人工复核、报告生成、助手优化与系统测试。</a:t>
            </a:r>
            <a:endParaRPr sz="1275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" y="81280"/>
            <a:ext cx="2002790" cy="5772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0" y="-979906"/>
            <a:ext cx="6904036" cy="685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 flipH="1">
            <a:off x="0" y="-979906"/>
            <a:ext cx="52388" cy="685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221028" y="-788062"/>
            <a:ext cx="236342" cy="236342"/>
          </a:xfrm>
          <a:prstGeom prst="ellipse">
            <a:avLst/>
          </a:prstGeom>
          <a:solidFill>
            <a:srgbClr val="FED1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" name="Oval 7"/>
          <p:cNvSpPr>
            <a:spLocks noGrp="1"/>
          </p:cNvSpPr>
          <p:nvPr/>
        </p:nvSpPr>
        <p:spPr>
          <a:xfrm>
            <a:off x="156880" y="-851773"/>
            <a:ext cx="364639" cy="429532"/>
          </a:xfrm>
          <a:custGeom>
            <a:avLst/>
            <a:gdLst>
              <a:gd name="connsiteX0" fmla="*/ 204373 w 514281"/>
              <a:gd name="connsiteY0" fmla="*/ 530626 h 605804"/>
              <a:gd name="connsiteX1" fmla="*/ 204373 w 514281"/>
              <a:gd name="connsiteY1" fmla="*/ 556952 h 605804"/>
              <a:gd name="connsiteX2" fmla="*/ 311229 w 514281"/>
              <a:gd name="connsiteY2" fmla="*/ 556952 h 605804"/>
              <a:gd name="connsiteX3" fmla="*/ 311229 w 514281"/>
              <a:gd name="connsiteY3" fmla="*/ 530626 h 605804"/>
              <a:gd name="connsiteX4" fmla="*/ 204373 w 514281"/>
              <a:gd name="connsiteY4" fmla="*/ 479178 h 605804"/>
              <a:gd name="connsiteX5" fmla="*/ 204373 w 514281"/>
              <a:gd name="connsiteY5" fmla="*/ 504299 h 605804"/>
              <a:gd name="connsiteX6" fmla="*/ 311229 w 514281"/>
              <a:gd name="connsiteY6" fmla="*/ 504299 h 605804"/>
              <a:gd name="connsiteX7" fmla="*/ 311229 w 514281"/>
              <a:gd name="connsiteY7" fmla="*/ 479178 h 605804"/>
              <a:gd name="connsiteX8" fmla="*/ 458958 w 514281"/>
              <a:gd name="connsiteY8" fmla="*/ 243592 h 605804"/>
              <a:gd name="connsiteX9" fmla="*/ 514281 w 514281"/>
              <a:gd name="connsiteY9" fmla="*/ 243592 h 605804"/>
              <a:gd name="connsiteX10" fmla="*/ 514281 w 514281"/>
              <a:gd name="connsiteY10" fmla="*/ 269913 h 605804"/>
              <a:gd name="connsiteX11" fmla="*/ 458958 w 514281"/>
              <a:gd name="connsiteY11" fmla="*/ 269913 h 605804"/>
              <a:gd name="connsiteX12" fmla="*/ 0 w 514281"/>
              <a:gd name="connsiteY12" fmla="*/ 243592 h 605804"/>
              <a:gd name="connsiteX13" fmla="*/ 55323 w 514281"/>
              <a:gd name="connsiteY13" fmla="*/ 243592 h 605804"/>
              <a:gd name="connsiteX14" fmla="*/ 55323 w 514281"/>
              <a:gd name="connsiteY14" fmla="*/ 269913 h 605804"/>
              <a:gd name="connsiteX15" fmla="*/ 0 w 514281"/>
              <a:gd name="connsiteY15" fmla="*/ 269913 h 605804"/>
              <a:gd name="connsiteX16" fmla="*/ 263695 w 514281"/>
              <a:gd name="connsiteY16" fmla="*/ 202846 h 605804"/>
              <a:gd name="connsiteX17" fmla="*/ 192467 w 514281"/>
              <a:gd name="connsiteY17" fmla="*/ 273946 h 605804"/>
              <a:gd name="connsiteX18" fmla="*/ 237321 w 514281"/>
              <a:gd name="connsiteY18" fmla="*/ 273946 h 605804"/>
              <a:gd name="connsiteX19" fmla="*/ 250601 w 514281"/>
              <a:gd name="connsiteY19" fmla="*/ 288407 h 605804"/>
              <a:gd name="connsiteX20" fmla="*/ 246608 w 514281"/>
              <a:gd name="connsiteY20" fmla="*/ 326599 h 605804"/>
              <a:gd name="connsiteX21" fmla="*/ 320436 w 514281"/>
              <a:gd name="connsiteY21" fmla="*/ 252904 h 605804"/>
              <a:gd name="connsiteX22" fmla="*/ 275582 w 514281"/>
              <a:gd name="connsiteY22" fmla="*/ 252904 h 605804"/>
              <a:gd name="connsiteX23" fmla="*/ 262302 w 514281"/>
              <a:gd name="connsiteY23" fmla="*/ 239648 h 605804"/>
              <a:gd name="connsiteX24" fmla="*/ 283673 w 514281"/>
              <a:gd name="connsiteY24" fmla="*/ 156984 h 605804"/>
              <a:gd name="connsiteX25" fmla="*/ 291462 w 514281"/>
              <a:gd name="connsiteY25" fmla="*/ 168641 h 605804"/>
              <a:gd name="connsiteX26" fmla="*/ 290071 w 514281"/>
              <a:gd name="connsiteY26" fmla="*/ 225094 h 605804"/>
              <a:gd name="connsiteX27" fmla="*/ 290069 w 514281"/>
              <a:gd name="connsiteY27" fmla="*/ 225094 h 605804"/>
              <a:gd name="connsiteX28" fmla="*/ 290069 w 514281"/>
              <a:gd name="connsiteY28" fmla="*/ 225187 h 605804"/>
              <a:gd name="connsiteX29" fmla="*/ 290071 w 514281"/>
              <a:gd name="connsiteY29" fmla="*/ 225094 h 605804"/>
              <a:gd name="connsiteX30" fmla="*/ 353496 w 514281"/>
              <a:gd name="connsiteY30" fmla="*/ 225094 h 605804"/>
              <a:gd name="connsiteX31" fmla="*/ 362783 w 514281"/>
              <a:gd name="connsiteY31" fmla="*/ 247435 h 605804"/>
              <a:gd name="connsiteX32" fmla="*/ 240014 w 514281"/>
              <a:gd name="connsiteY32" fmla="*/ 369982 h 605804"/>
              <a:gd name="connsiteX33" fmla="*/ 217634 w 514281"/>
              <a:gd name="connsiteY33" fmla="*/ 359414 h 605804"/>
              <a:gd name="connsiteX34" fmla="*/ 222927 w 514281"/>
              <a:gd name="connsiteY34" fmla="*/ 298882 h 605804"/>
              <a:gd name="connsiteX35" fmla="*/ 160893 w 514281"/>
              <a:gd name="connsiteY35" fmla="*/ 298882 h 605804"/>
              <a:gd name="connsiteX36" fmla="*/ 151606 w 514281"/>
              <a:gd name="connsiteY36" fmla="*/ 276542 h 605804"/>
              <a:gd name="connsiteX37" fmla="*/ 268988 w 514281"/>
              <a:gd name="connsiteY37" fmla="*/ 159371 h 605804"/>
              <a:gd name="connsiteX38" fmla="*/ 283673 w 514281"/>
              <a:gd name="connsiteY38" fmla="*/ 156984 h 605804"/>
              <a:gd name="connsiteX39" fmla="*/ 250606 w 514281"/>
              <a:gd name="connsiteY39" fmla="*/ 114503 h 605804"/>
              <a:gd name="connsiteX40" fmla="*/ 114784 w 514281"/>
              <a:gd name="connsiteY40" fmla="*/ 244837 h 605804"/>
              <a:gd name="connsiteX41" fmla="*/ 159624 w 514281"/>
              <a:gd name="connsiteY41" fmla="*/ 362007 h 605804"/>
              <a:gd name="connsiteX42" fmla="*/ 204001 w 514281"/>
              <a:gd name="connsiteY42" fmla="*/ 452852 h 605804"/>
              <a:gd name="connsiteX43" fmla="*/ 311322 w 514281"/>
              <a:gd name="connsiteY43" fmla="*/ 452852 h 605804"/>
              <a:gd name="connsiteX44" fmla="*/ 354678 w 514281"/>
              <a:gd name="connsiteY44" fmla="*/ 362007 h 605804"/>
              <a:gd name="connsiteX45" fmla="*/ 400819 w 514281"/>
              <a:gd name="connsiteY45" fmla="*/ 258000 h 605804"/>
              <a:gd name="connsiteX46" fmla="*/ 250606 w 514281"/>
              <a:gd name="connsiteY46" fmla="*/ 114503 h 605804"/>
              <a:gd name="connsiteX47" fmla="*/ 249213 w 514281"/>
              <a:gd name="connsiteY47" fmla="*/ 88269 h 605804"/>
              <a:gd name="connsiteX48" fmla="*/ 427556 w 514281"/>
              <a:gd name="connsiteY48" fmla="*/ 258092 h 605804"/>
              <a:gd name="connsiteX49" fmla="*/ 373524 w 514281"/>
              <a:gd name="connsiteY49" fmla="*/ 381845 h 605804"/>
              <a:gd name="connsiteX50" fmla="*/ 337874 w 514281"/>
              <a:gd name="connsiteY50" fmla="*/ 460824 h 605804"/>
              <a:gd name="connsiteX51" fmla="*/ 337874 w 514281"/>
              <a:gd name="connsiteY51" fmla="*/ 571413 h 605804"/>
              <a:gd name="connsiteX52" fmla="*/ 324598 w 514281"/>
              <a:gd name="connsiteY52" fmla="*/ 583278 h 605804"/>
              <a:gd name="connsiteX53" fmla="*/ 270473 w 514281"/>
              <a:gd name="connsiteY53" fmla="*/ 583278 h 605804"/>
              <a:gd name="connsiteX54" fmla="*/ 270473 w 514281"/>
              <a:gd name="connsiteY54" fmla="*/ 592548 h 605804"/>
              <a:gd name="connsiteX55" fmla="*/ 257290 w 514281"/>
              <a:gd name="connsiteY55" fmla="*/ 605804 h 605804"/>
              <a:gd name="connsiteX56" fmla="*/ 244014 w 514281"/>
              <a:gd name="connsiteY56" fmla="*/ 592548 h 605804"/>
              <a:gd name="connsiteX57" fmla="*/ 244014 w 514281"/>
              <a:gd name="connsiteY57" fmla="*/ 583278 h 605804"/>
              <a:gd name="connsiteX58" fmla="*/ 189890 w 514281"/>
              <a:gd name="connsiteY58" fmla="*/ 583278 h 605804"/>
              <a:gd name="connsiteX59" fmla="*/ 176707 w 514281"/>
              <a:gd name="connsiteY59" fmla="*/ 570023 h 605804"/>
              <a:gd name="connsiteX60" fmla="*/ 176707 w 514281"/>
              <a:gd name="connsiteY60" fmla="*/ 460824 h 605804"/>
              <a:gd name="connsiteX61" fmla="*/ 139757 w 514281"/>
              <a:gd name="connsiteY61" fmla="*/ 380454 h 605804"/>
              <a:gd name="connsiteX62" fmla="*/ 87025 w 514281"/>
              <a:gd name="connsiteY62" fmla="*/ 242241 h 605804"/>
              <a:gd name="connsiteX63" fmla="*/ 249213 w 514281"/>
              <a:gd name="connsiteY63" fmla="*/ 88269 h 605804"/>
              <a:gd name="connsiteX64" fmla="*/ 429815 w 514281"/>
              <a:gd name="connsiteY64" fmla="*/ 66120 h 605804"/>
              <a:gd name="connsiteX65" fmla="*/ 448444 w 514281"/>
              <a:gd name="connsiteY65" fmla="*/ 84608 h 605804"/>
              <a:gd name="connsiteX66" fmla="*/ 409280 w 514281"/>
              <a:gd name="connsiteY66" fmla="*/ 123772 h 605804"/>
              <a:gd name="connsiteX67" fmla="*/ 390721 w 514281"/>
              <a:gd name="connsiteY67" fmla="*/ 105143 h 605804"/>
              <a:gd name="connsiteX68" fmla="*/ 84820 w 514281"/>
              <a:gd name="connsiteY68" fmla="*/ 66120 h 605804"/>
              <a:gd name="connsiteX69" fmla="*/ 123843 w 514281"/>
              <a:gd name="connsiteY69" fmla="*/ 105143 h 605804"/>
              <a:gd name="connsiteX70" fmla="*/ 105284 w 514281"/>
              <a:gd name="connsiteY70" fmla="*/ 123772 h 605804"/>
              <a:gd name="connsiteX71" fmla="*/ 66120 w 514281"/>
              <a:gd name="connsiteY71" fmla="*/ 84749 h 605804"/>
              <a:gd name="connsiteX72" fmla="*/ 243945 w 514281"/>
              <a:gd name="connsiteY72" fmla="*/ 0 h 605804"/>
              <a:gd name="connsiteX73" fmla="*/ 270266 w 514281"/>
              <a:gd name="connsiteY73" fmla="*/ 0 h 605804"/>
              <a:gd name="connsiteX74" fmla="*/ 270266 w 514281"/>
              <a:gd name="connsiteY74" fmla="*/ 55253 h 605804"/>
              <a:gd name="connsiteX75" fmla="*/ 243945 w 514281"/>
              <a:gd name="connsiteY75" fmla="*/ 55253 h 605804"/>
            </a:gdLst>
            <a:ahLst/>
            <a:cxnLst/>
            <a:rect l="l" t="t" r="r" b="b"/>
            <a:pathLst>
              <a:path w="514281" h="605804">
                <a:moveTo>
                  <a:pt x="204373" y="530626"/>
                </a:moveTo>
                <a:lnTo>
                  <a:pt x="204373" y="556952"/>
                </a:lnTo>
                <a:lnTo>
                  <a:pt x="311229" y="556952"/>
                </a:lnTo>
                <a:lnTo>
                  <a:pt x="311229" y="530626"/>
                </a:lnTo>
                <a:close/>
                <a:moveTo>
                  <a:pt x="204373" y="479178"/>
                </a:moveTo>
                <a:lnTo>
                  <a:pt x="204373" y="504299"/>
                </a:lnTo>
                <a:lnTo>
                  <a:pt x="311229" y="504299"/>
                </a:lnTo>
                <a:lnTo>
                  <a:pt x="311229" y="479178"/>
                </a:lnTo>
                <a:close/>
                <a:moveTo>
                  <a:pt x="458958" y="243592"/>
                </a:moveTo>
                <a:lnTo>
                  <a:pt x="514281" y="243592"/>
                </a:lnTo>
                <a:lnTo>
                  <a:pt x="514281" y="269913"/>
                </a:lnTo>
                <a:lnTo>
                  <a:pt x="458958" y="269913"/>
                </a:lnTo>
                <a:close/>
                <a:moveTo>
                  <a:pt x="0" y="243592"/>
                </a:moveTo>
                <a:lnTo>
                  <a:pt x="55323" y="243592"/>
                </a:lnTo>
                <a:lnTo>
                  <a:pt x="55323" y="269913"/>
                </a:lnTo>
                <a:lnTo>
                  <a:pt x="0" y="269913"/>
                </a:lnTo>
                <a:close/>
                <a:moveTo>
                  <a:pt x="263695" y="202846"/>
                </a:moveTo>
                <a:lnTo>
                  <a:pt x="192467" y="273946"/>
                </a:lnTo>
                <a:lnTo>
                  <a:pt x="237321" y="273946"/>
                </a:lnTo>
                <a:cubicBezTo>
                  <a:pt x="248001" y="273946"/>
                  <a:pt x="251530" y="280991"/>
                  <a:pt x="250601" y="288407"/>
                </a:cubicBezTo>
                <a:lnTo>
                  <a:pt x="246608" y="326599"/>
                </a:lnTo>
                <a:lnTo>
                  <a:pt x="320436" y="252904"/>
                </a:lnTo>
                <a:lnTo>
                  <a:pt x="275582" y="252904"/>
                </a:lnTo>
                <a:cubicBezTo>
                  <a:pt x="270010" y="252904"/>
                  <a:pt x="262302" y="250586"/>
                  <a:pt x="262302" y="239648"/>
                </a:cubicBezTo>
                <a:close/>
                <a:moveTo>
                  <a:pt x="283673" y="156984"/>
                </a:moveTo>
                <a:cubicBezTo>
                  <a:pt x="288142" y="159139"/>
                  <a:pt x="291462" y="163635"/>
                  <a:pt x="291462" y="168641"/>
                </a:cubicBezTo>
                <a:lnTo>
                  <a:pt x="290071" y="225094"/>
                </a:lnTo>
                <a:lnTo>
                  <a:pt x="290069" y="225094"/>
                </a:lnTo>
                <a:lnTo>
                  <a:pt x="290069" y="225187"/>
                </a:lnTo>
                <a:lnTo>
                  <a:pt x="290071" y="225094"/>
                </a:lnTo>
                <a:lnTo>
                  <a:pt x="353496" y="225094"/>
                </a:lnTo>
                <a:cubicBezTo>
                  <a:pt x="367798" y="225094"/>
                  <a:pt x="370398" y="240946"/>
                  <a:pt x="362783" y="247435"/>
                </a:cubicBezTo>
                <a:lnTo>
                  <a:pt x="240014" y="369982"/>
                </a:lnTo>
                <a:cubicBezTo>
                  <a:pt x="231378" y="376749"/>
                  <a:pt x="217634" y="373041"/>
                  <a:pt x="217634" y="359414"/>
                </a:cubicBezTo>
                <a:lnTo>
                  <a:pt x="222927" y="298882"/>
                </a:lnTo>
                <a:lnTo>
                  <a:pt x="160893" y="298882"/>
                </a:lnTo>
                <a:cubicBezTo>
                  <a:pt x="148077" y="298882"/>
                  <a:pt x="141484" y="286646"/>
                  <a:pt x="151606" y="276542"/>
                </a:cubicBezTo>
                <a:lnTo>
                  <a:pt x="268988" y="159371"/>
                </a:lnTo>
                <a:cubicBezTo>
                  <a:pt x="273585" y="155014"/>
                  <a:pt x="279204" y="154829"/>
                  <a:pt x="283673" y="156984"/>
                </a:cubicBezTo>
                <a:close/>
                <a:moveTo>
                  <a:pt x="250606" y="114503"/>
                </a:moveTo>
                <a:cubicBezTo>
                  <a:pt x="179399" y="118396"/>
                  <a:pt x="121375" y="173830"/>
                  <a:pt x="114784" y="244837"/>
                </a:cubicBezTo>
                <a:cubicBezTo>
                  <a:pt x="110792" y="289610"/>
                  <a:pt x="126667" y="331788"/>
                  <a:pt x="159624" y="362007"/>
                </a:cubicBezTo>
                <a:cubicBezTo>
                  <a:pt x="186083" y="387407"/>
                  <a:pt x="201680" y="419388"/>
                  <a:pt x="204001" y="452852"/>
                </a:cubicBezTo>
                <a:lnTo>
                  <a:pt x="311322" y="452852"/>
                </a:lnTo>
                <a:cubicBezTo>
                  <a:pt x="313086" y="418553"/>
                  <a:pt x="328683" y="386758"/>
                  <a:pt x="354678" y="362007"/>
                </a:cubicBezTo>
                <a:cubicBezTo>
                  <a:pt x="383736" y="334476"/>
                  <a:pt x="400819" y="297489"/>
                  <a:pt x="400819" y="258000"/>
                </a:cubicBezTo>
                <a:cubicBezTo>
                  <a:pt x="400819" y="176425"/>
                  <a:pt x="332304" y="110517"/>
                  <a:pt x="250606" y="114503"/>
                </a:cubicBezTo>
                <a:close/>
                <a:moveTo>
                  <a:pt x="249213" y="88269"/>
                </a:moveTo>
                <a:cubicBezTo>
                  <a:pt x="346786" y="82985"/>
                  <a:pt x="427185" y="161964"/>
                  <a:pt x="427556" y="258092"/>
                </a:cubicBezTo>
                <a:cubicBezTo>
                  <a:pt x="427556" y="304164"/>
                  <a:pt x="407782" y="350142"/>
                  <a:pt x="373524" y="381845"/>
                </a:cubicBezTo>
                <a:cubicBezTo>
                  <a:pt x="351057" y="402795"/>
                  <a:pt x="337874" y="430511"/>
                  <a:pt x="337874" y="460824"/>
                </a:cubicBezTo>
                <a:lnTo>
                  <a:pt x="337874" y="571413"/>
                </a:lnTo>
                <a:cubicBezTo>
                  <a:pt x="337874" y="577995"/>
                  <a:pt x="331190" y="583278"/>
                  <a:pt x="324598" y="583278"/>
                </a:cubicBezTo>
                <a:lnTo>
                  <a:pt x="270473" y="583278"/>
                </a:lnTo>
                <a:lnTo>
                  <a:pt x="270473" y="592548"/>
                </a:lnTo>
                <a:cubicBezTo>
                  <a:pt x="270473" y="600428"/>
                  <a:pt x="265182" y="605804"/>
                  <a:pt x="257290" y="605804"/>
                </a:cubicBezTo>
                <a:cubicBezTo>
                  <a:pt x="249306" y="605804"/>
                  <a:pt x="244014" y="600428"/>
                  <a:pt x="244014" y="592548"/>
                </a:cubicBezTo>
                <a:lnTo>
                  <a:pt x="244014" y="583278"/>
                </a:lnTo>
                <a:lnTo>
                  <a:pt x="189890" y="583278"/>
                </a:lnTo>
                <a:cubicBezTo>
                  <a:pt x="181999" y="583278"/>
                  <a:pt x="176707" y="577995"/>
                  <a:pt x="176707" y="570023"/>
                </a:cubicBezTo>
                <a:lnTo>
                  <a:pt x="176707" y="460824"/>
                </a:lnTo>
                <a:cubicBezTo>
                  <a:pt x="176707" y="430511"/>
                  <a:pt x="163524" y="402795"/>
                  <a:pt x="139757" y="380454"/>
                </a:cubicBezTo>
                <a:cubicBezTo>
                  <a:pt x="101508" y="344951"/>
                  <a:pt x="83126" y="293596"/>
                  <a:pt x="87025" y="242241"/>
                </a:cubicBezTo>
                <a:cubicBezTo>
                  <a:pt x="95009" y="158071"/>
                  <a:pt x="164823" y="92255"/>
                  <a:pt x="249213" y="88269"/>
                </a:cubicBezTo>
                <a:close/>
                <a:moveTo>
                  <a:pt x="429815" y="66120"/>
                </a:moveTo>
                <a:lnTo>
                  <a:pt x="448444" y="84608"/>
                </a:lnTo>
                <a:lnTo>
                  <a:pt x="409280" y="123772"/>
                </a:lnTo>
                <a:lnTo>
                  <a:pt x="390721" y="105143"/>
                </a:lnTo>
                <a:close/>
                <a:moveTo>
                  <a:pt x="84820" y="66120"/>
                </a:moveTo>
                <a:lnTo>
                  <a:pt x="123843" y="105143"/>
                </a:lnTo>
                <a:lnTo>
                  <a:pt x="105284" y="123772"/>
                </a:lnTo>
                <a:lnTo>
                  <a:pt x="66120" y="84749"/>
                </a:lnTo>
                <a:close/>
                <a:moveTo>
                  <a:pt x="243945" y="0"/>
                </a:moveTo>
                <a:lnTo>
                  <a:pt x="270266" y="0"/>
                </a:lnTo>
                <a:lnTo>
                  <a:pt x="270266" y="55253"/>
                </a:lnTo>
                <a:lnTo>
                  <a:pt x="243945" y="552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60400" y="-851773"/>
            <a:ext cx="0" cy="42953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等腰三角形 8"/>
          <p:cNvSpPr>
            <a:spLocks noGrp="1"/>
          </p:cNvSpPr>
          <p:nvPr/>
        </p:nvSpPr>
        <p:spPr>
          <a:xfrm rot="5400000">
            <a:off x="656742" y="-659867"/>
            <a:ext cx="53036" cy="4572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06120" y="-821673"/>
            <a:ext cx="5803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设置导航栏请前往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【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视图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】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→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【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幻灯片母版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】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</a:rPr>
              <a:t>一键更改</a:t>
            </a:r>
            <a:endParaRPr sz="1800" b="0" i="0" u="none" cap="none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6582625" y="-851773"/>
            <a:ext cx="188305" cy="425834"/>
          </a:xfrm>
          <a:custGeom>
            <a:avLst/>
            <a:gdLst/>
            <a:ahLst/>
            <a:cxnLst/>
            <a:rect l="l" t="t" r="r" b="b"/>
            <a:pathLst>
              <a:path w="188305" h="425834">
                <a:moveTo>
                  <a:pt x="137517" y="318455"/>
                </a:moveTo>
                <a:cubicBezTo>
                  <a:pt x="151358" y="318455"/>
                  <a:pt x="161479" y="320222"/>
                  <a:pt x="167878" y="323757"/>
                </a:cubicBezTo>
                <a:cubicBezTo>
                  <a:pt x="174278" y="327291"/>
                  <a:pt x="179282" y="333003"/>
                  <a:pt x="182891" y="340890"/>
                </a:cubicBezTo>
                <a:cubicBezTo>
                  <a:pt x="186500" y="348778"/>
                  <a:pt x="188305" y="358303"/>
                  <a:pt x="188305" y="369465"/>
                </a:cubicBezTo>
                <a:cubicBezTo>
                  <a:pt x="188305" y="381669"/>
                  <a:pt x="186333" y="392069"/>
                  <a:pt x="182389" y="400664"/>
                </a:cubicBezTo>
                <a:cubicBezTo>
                  <a:pt x="178445" y="409258"/>
                  <a:pt x="173478" y="414951"/>
                  <a:pt x="167488" y="417742"/>
                </a:cubicBezTo>
                <a:cubicBezTo>
                  <a:pt x="161497" y="420532"/>
                  <a:pt x="151321" y="421927"/>
                  <a:pt x="136959" y="421927"/>
                </a:cubicBezTo>
                <a:lnTo>
                  <a:pt x="129815" y="421927"/>
                </a:lnTo>
                <a:lnTo>
                  <a:pt x="129815" y="378283"/>
                </a:lnTo>
                <a:lnTo>
                  <a:pt x="143210" y="378283"/>
                </a:lnTo>
                <a:cubicBezTo>
                  <a:pt x="149461" y="378283"/>
                  <a:pt x="153442" y="377725"/>
                  <a:pt x="155153" y="376609"/>
                </a:cubicBezTo>
                <a:cubicBezTo>
                  <a:pt x="156865" y="375493"/>
                  <a:pt x="157721" y="373633"/>
                  <a:pt x="157721" y="371028"/>
                </a:cubicBezTo>
                <a:cubicBezTo>
                  <a:pt x="157721" y="368200"/>
                  <a:pt x="156566" y="366061"/>
                  <a:pt x="154258" y="364610"/>
                </a:cubicBezTo>
                <a:cubicBezTo>
                  <a:pt x="151949" y="363159"/>
                  <a:pt x="148449" y="362433"/>
                  <a:pt x="143758" y="362433"/>
                </a:cubicBezTo>
                <a:cubicBezTo>
                  <a:pt x="137727" y="362433"/>
                  <a:pt x="133184" y="363249"/>
                  <a:pt x="130131" y="364880"/>
                </a:cubicBezTo>
                <a:cubicBezTo>
                  <a:pt x="127078" y="366438"/>
                  <a:pt x="123395" y="370865"/>
                  <a:pt x="119082" y="378160"/>
                </a:cubicBezTo>
                <a:cubicBezTo>
                  <a:pt x="106667" y="399078"/>
                  <a:pt x="96478" y="412254"/>
                  <a:pt x="88516" y="417686"/>
                </a:cubicBezTo>
                <a:cubicBezTo>
                  <a:pt x="80553" y="423118"/>
                  <a:pt x="67717" y="425834"/>
                  <a:pt x="50006" y="425834"/>
                </a:cubicBezTo>
                <a:cubicBezTo>
                  <a:pt x="37133" y="425834"/>
                  <a:pt x="27645" y="424327"/>
                  <a:pt x="21543" y="421313"/>
                </a:cubicBezTo>
                <a:cubicBezTo>
                  <a:pt x="15441" y="418300"/>
                  <a:pt x="10325" y="412477"/>
                  <a:pt x="6195" y="403845"/>
                </a:cubicBezTo>
                <a:cubicBezTo>
                  <a:pt x="2065" y="395213"/>
                  <a:pt x="0" y="385167"/>
                  <a:pt x="0" y="373707"/>
                </a:cubicBezTo>
                <a:cubicBezTo>
                  <a:pt x="0" y="361131"/>
                  <a:pt x="2381" y="350397"/>
                  <a:pt x="7144" y="341504"/>
                </a:cubicBezTo>
                <a:cubicBezTo>
                  <a:pt x="11906" y="332612"/>
                  <a:pt x="17971" y="326789"/>
                  <a:pt x="25338" y="324036"/>
                </a:cubicBezTo>
                <a:cubicBezTo>
                  <a:pt x="32705" y="321282"/>
                  <a:pt x="43160" y="319906"/>
                  <a:pt x="56704" y="319906"/>
                </a:cubicBezTo>
                <a:lnTo>
                  <a:pt x="68535" y="319906"/>
                </a:lnTo>
                <a:lnTo>
                  <a:pt x="68535" y="363549"/>
                </a:lnTo>
                <a:lnTo>
                  <a:pt x="46546" y="363549"/>
                </a:lnTo>
                <a:cubicBezTo>
                  <a:pt x="39774" y="363549"/>
                  <a:pt x="35421" y="364163"/>
                  <a:pt x="33486" y="365391"/>
                </a:cubicBezTo>
                <a:cubicBezTo>
                  <a:pt x="31552" y="366619"/>
                  <a:pt x="30584" y="368796"/>
                  <a:pt x="30584" y="371921"/>
                </a:cubicBezTo>
                <a:cubicBezTo>
                  <a:pt x="30584" y="375046"/>
                  <a:pt x="31812" y="377372"/>
                  <a:pt x="34268" y="378897"/>
                </a:cubicBezTo>
                <a:cubicBezTo>
                  <a:pt x="36723" y="380423"/>
                  <a:pt x="40370" y="381186"/>
                  <a:pt x="45207" y="381186"/>
                </a:cubicBezTo>
                <a:cubicBezTo>
                  <a:pt x="55848" y="381186"/>
                  <a:pt x="62806" y="379735"/>
                  <a:pt x="66080" y="376832"/>
                </a:cubicBezTo>
                <a:cubicBezTo>
                  <a:pt x="69354" y="373856"/>
                  <a:pt x="74823" y="366526"/>
                  <a:pt x="82488" y="354843"/>
                </a:cubicBezTo>
                <a:cubicBezTo>
                  <a:pt x="90227" y="343160"/>
                  <a:pt x="95845" y="335421"/>
                  <a:pt x="99343" y="331626"/>
                </a:cubicBezTo>
                <a:cubicBezTo>
                  <a:pt x="102840" y="327831"/>
                  <a:pt x="107677" y="324687"/>
                  <a:pt x="113854" y="322194"/>
                </a:cubicBezTo>
                <a:cubicBezTo>
                  <a:pt x="120030" y="319701"/>
                  <a:pt x="127918" y="318455"/>
                  <a:pt x="137517" y="318455"/>
                </a:cubicBezTo>
                <a:close/>
                <a:moveTo>
                  <a:pt x="107603" y="245529"/>
                </a:moveTo>
                <a:cubicBezTo>
                  <a:pt x="107528" y="246868"/>
                  <a:pt x="107491" y="248022"/>
                  <a:pt x="107491" y="248989"/>
                </a:cubicBezTo>
                <a:cubicBezTo>
                  <a:pt x="107491" y="253305"/>
                  <a:pt x="108552" y="256300"/>
                  <a:pt x="110672" y="257975"/>
                </a:cubicBezTo>
                <a:cubicBezTo>
                  <a:pt x="112793" y="259649"/>
                  <a:pt x="117202" y="260486"/>
                  <a:pt x="123900" y="260486"/>
                </a:cubicBezTo>
                <a:lnTo>
                  <a:pt x="138745" y="260486"/>
                </a:lnTo>
                <a:cubicBezTo>
                  <a:pt x="144922" y="260486"/>
                  <a:pt x="148940" y="259519"/>
                  <a:pt x="150800" y="257584"/>
                </a:cubicBezTo>
                <a:cubicBezTo>
                  <a:pt x="152661" y="255649"/>
                  <a:pt x="153591" y="251631"/>
                  <a:pt x="153591" y="245529"/>
                </a:cubicBezTo>
                <a:close/>
                <a:moveTo>
                  <a:pt x="3795" y="198536"/>
                </a:moveTo>
                <a:lnTo>
                  <a:pt x="184510" y="198536"/>
                </a:lnTo>
                <a:lnTo>
                  <a:pt x="184510" y="245864"/>
                </a:lnTo>
                <a:cubicBezTo>
                  <a:pt x="184510" y="258663"/>
                  <a:pt x="183505" y="268504"/>
                  <a:pt x="181496" y="275387"/>
                </a:cubicBezTo>
                <a:cubicBezTo>
                  <a:pt x="179487" y="282271"/>
                  <a:pt x="176585" y="287443"/>
                  <a:pt x="172790" y="290903"/>
                </a:cubicBezTo>
                <a:cubicBezTo>
                  <a:pt x="168994" y="294363"/>
                  <a:pt x="164399" y="296707"/>
                  <a:pt x="159004" y="297935"/>
                </a:cubicBezTo>
                <a:cubicBezTo>
                  <a:pt x="153609" y="299163"/>
                  <a:pt x="145256" y="299777"/>
                  <a:pt x="133945" y="299777"/>
                </a:cubicBezTo>
                <a:lnTo>
                  <a:pt x="118207" y="299777"/>
                </a:lnTo>
                <a:cubicBezTo>
                  <a:pt x="106673" y="299777"/>
                  <a:pt x="98264" y="298586"/>
                  <a:pt x="92981" y="296205"/>
                </a:cubicBezTo>
                <a:cubicBezTo>
                  <a:pt x="87697" y="293824"/>
                  <a:pt x="83642" y="289452"/>
                  <a:pt x="80814" y="283089"/>
                </a:cubicBezTo>
                <a:cubicBezTo>
                  <a:pt x="77986" y="276727"/>
                  <a:pt x="76572" y="268411"/>
                  <a:pt x="76572" y="258142"/>
                </a:cubicBezTo>
                <a:lnTo>
                  <a:pt x="76572" y="245529"/>
                </a:lnTo>
                <a:lnTo>
                  <a:pt x="3795" y="245529"/>
                </a:lnTo>
                <a:close/>
                <a:moveTo>
                  <a:pt x="3795" y="122336"/>
                </a:moveTo>
                <a:lnTo>
                  <a:pt x="184510" y="122336"/>
                </a:lnTo>
                <a:lnTo>
                  <a:pt x="184510" y="169329"/>
                </a:lnTo>
                <a:lnTo>
                  <a:pt x="3795" y="169329"/>
                </a:lnTo>
                <a:close/>
                <a:moveTo>
                  <a:pt x="148345" y="0"/>
                </a:moveTo>
                <a:lnTo>
                  <a:pt x="184510" y="0"/>
                </a:lnTo>
                <a:lnTo>
                  <a:pt x="184510" y="102691"/>
                </a:lnTo>
                <a:lnTo>
                  <a:pt x="148345" y="102691"/>
                </a:lnTo>
                <a:lnTo>
                  <a:pt x="148345" y="74786"/>
                </a:lnTo>
                <a:lnTo>
                  <a:pt x="3795" y="74786"/>
                </a:lnTo>
                <a:lnTo>
                  <a:pt x="3795" y="27793"/>
                </a:lnTo>
                <a:lnTo>
                  <a:pt x="148345" y="277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" name="Freeform 5"/>
          <p:cNvSpPr>
            <a:spLocks noGrp="1"/>
          </p:cNvSpPr>
          <p:nvPr/>
        </p:nvSpPr>
        <p:spPr>
          <a:xfrm>
            <a:off x="1528342" y="1626230"/>
            <a:ext cx="9517481" cy="3664567"/>
          </a:xfrm>
          <a:custGeom>
            <a:avLst/>
            <a:gdLst>
              <a:gd name="T0" fmla="*/ 0 w 6578"/>
              <a:gd name="T1" fmla="*/ 207 h 1851"/>
              <a:gd name="T2" fmla="*/ 6371 w 6578"/>
              <a:gd name="T3" fmla="*/ 207 h 1851"/>
              <a:gd name="T4" fmla="*/ 6578 w 6578"/>
              <a:gd name="T5" fmla="*/ 0 h 1851"/>
              <a:gd name="T6" fmla="*/ 6578 w 6578"/>
              <a:gd name="T7" fmla="*/ 1851 h 1851"/>
              <a:gd name="T8" fmla="*/ 0 w 6578"/>
              <a:gd name="T9" fmla="*/ 1851 h 1851"/>
              <a:gd name="T10" fmla="*/ 0 w 6578"/>
              <a:gd name="T11" fmla="*/ 489 h 1851"/>
              <a:gd name="T12" fmla="*/ 0 w 6578"/>
              <a:gd name="T13" fmla="*/ 207 h 1851"/>
            </a:gdLst>
            <a:ahLst/>
            <a:cxnLst/>
            <a:rect l="0" t="0" r="r" b="b"/>
            <a:pathLst>
              <a:path w="6578" h="1851">
                <a:moveTo>
                  <a:pt x="0" y="207"/>
                </a:moveTo>
                <a:lnTo>
                  <a:pt x="6371" y="207"/>
                </a:lnTo>
                <a:lnTo>
                  <a:pt x="6578" y="0"/>
                </a:lnTo>
                <a:lnTo>
                  <a:pt x="6578" y="1851"/>
                </a:lnTo>
                <a:lnTo>
                  <a:pt x="0" y="1851"/>
                </a:lnTo>
                <a:lnTo>
                  <a:pt x="0" y="489"/>
                </a:lnTo>
                <a:lnTo>
                  <a:pt x="0" y="207"/>
                </a:lnTo>
                <a:close/>
              </a:path>
            </a:pathLst>
          </a:custGeom>
          <a:noFill/>
          <a:ln w="0">
            <a:noFill/>
            <a:prstDash val="solid"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" name="Freeform 6"/>
          <p:cNvSpPr>
            <a:spLocks noGrp="1"/>
          </p:cNvSpPr>
          <p:nvPr/>
        </p:nvSpPr>
        <p:spPr>
          <a:xfrm>
            <a:off x="1146175" y="2559088"/>
            <a:ext cx="9450925" cy="3252774"/>
          </a:xfrm>
          <a:custGeom>
            <a:avLst/>
            <a:gdLst>
              <a:gd name="T0" fmla="*/ 288 w 6532"/>
              <a:gd name="T1" fmla="*/ 0 h 1643"/>
              <a:gd name="T2" fmla="*/ 0 w 6532"/>
              <a:gd name="T3" fmla="*/ 0 h 1643"/>
              <a:gd name="T4" fmla="*/ 0 w 6532"/>
              <a:gd name="T5" fmla="*/ 1643 h 1643"/>
              <a:gd name="T6" fmla="*/ 6532 w 6532"/>
              <a:gd name="T7" fmla="*/ 1643 h 1643"/>
              <a:gd name="T8" fmla="*/ 6532 w 6532"/>
              <a:gd name="T9" fmla="*/ 1355 h 1643"/>
            </a:gdLst>
            <a:ahLst/>
            <a:cxnLst/>
            <a:rect l="0" t="0" r="r" b="b"/>
            <a:pathLst>
              <a:path w="6532" h="1643">
                <a:moveTo>
                  <a:pt x="288" y="0"/>
                </a:moveTo>
                <a:lnTo>
                  <a:pt x="0" y="0"/>
                </a:lnTo>
                <a:lnTo>
                  <a:pt x="0" y="1643"/>
                </a:lnTo>
                <a:lnTo>
                  <a:pt x="6532" y="1643"/>
                </a:lnTo>
                <a:lnTo>
                  <a:pt x="6532" y="1355"/>
                </a:lnTo>
              </a:path>
            </a:pathLst>
          </a:custGeom>
          <a:noFill/>
          <a:ln w="0">
            <a:noFill/>
            <a:prstDash val="solid"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3048000" y="177800"/>
            <a:ext cx="876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功能架构：六个目录覆盖校园安全治理闭环</a:t>
            </a:r>
            <a:endParaRPr sz="26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2794000" y="1168400"/>
            <a:ext cx="6604000" cy="240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按“感知—研判—治理”组织，而不是孤立地堆叠页面</a:t>
            </a:r>
            <a:endParaRPr sz="14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下箭头 18"/>
          <p:cNvSpPr>
            <a:spLocks noGrp="1"/>
          </p:cNvSpPr>
          <p:nvPr/>
        </p:nvSpPr>
        <p:spPr>
          <a:xfrm>
            <a:off x="5969000" y="1498600"/>
            <a:ext cx="254000" cy="279400"/>
          </a:xfrm>
          <a:prstGeom prst="downArrow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778000" y="1778000"/>
            <a:ext cx="8636000" cy="1041400"/>
          </a:xfrm>
          <a:prstGeom prst="roundRect">
            <a:avLst/>
          </a:prstGeom>
          <a:solidFill>
            <a:srgbClr val="F3E8F2"/>
          </a:solidFill>
          <a:ln w="19050">
            <a:solidFill>
              <a:srgbClr val="7E0C6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6200" tIns="50800" rIns="76200" bIns="50800" anchor="ctr"/>
          <a:lstStyle/>
          <a:p>
            <a:pPr algn="ctr">
              <a:buNone/>
            </a:pPr>
            <a:r>
              <a:rPr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感知层｜舆情总览 + 舆情监测</a:t>
            </a:r>
            <a:endParaRPr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13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集中呈现态势、风险、热点与待复核内容</a:t>
            </a:r>
            <a:endParaRPr sz="13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下箭头 20"/>
          <p:cNvSpPr>
            <a:spLocks noGrp="1"/>
          </p:cNvSpPr>
          <p:nvPr/>
        </p:nvSpPr>
        <p:spPr>
          <a:xfrm>
            <a:off x="5969000" y="2819400"/>
            <a:ext cx="254000" cy="330200"/>
          </a:xfrm>
          <a:prstGeom prst="downArrow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1778000" y="3149600"/>
            <a:ext cx="8636000" cy="1041400"/>
          </a:xfrm>
          <a:prstGeom prst="roundRect">
            <a:avLst/>
          </a:prstGeom>
          <a:solidFill>
            <a:srgbClr val="F3E8F2"/>
          </a:solidFill>
          <a:ln w="19050">
            <a:solidFill>
              <a:srgbClr val="7E0C6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6200" tIns="50800" rIns="76200" bIns="50800" anchor="ctr"/>
          <a:lstStyle/>
          <a:p>
            <a:pPr algn="ctr">
              <a:buNone/>
            </a:pPr>
            <a:r>
              <a:rPr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研判层｜事件管理 + 智能助手</a:t>
            </a:r>
            <a:endParaRPr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13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形成风险依据，并以人工复核确认处置对象</a:t>
            </a:r>
            <a:endParaRPr sz="13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下箭头 22"/>
          <p:cNvSpPr>
            <a:spLocks noGrp="1"/>
          </p:cNvSpPr>
          <p:nvPr/>
        </p:nvSpPr>
        <p:spPr>
          <a:xfrm>
            <a:off x="5969000" y="4191000"/>
            <a:ext cx="254000" cy="330200"/>
          </a:xfrm>
          <a:prstGeom prst="downArrow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778000" y="4521200"/>
            <a:ext cx="8636000" cy="104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0C6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6200" tIns="50800" rIns="76200" bIns="50800" anchor="ctr"/>
          <a:lstStyle/>
          <a:p>
            <a:pPr algn="ctr">
              <a:buNone/>
            </a:pPr>
            <a:r>
              <a:rPr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治理层｜报告中心 + 数据管理</a:t>
            </a:r>
            <a:endParaRPr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13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输出阶段性报告，保障数据质量、权限与审计</a:t>
            </a:r>
            <a:endParaRPr sz="13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>
            <a:spLocks noGrp="1"/>
          </p:cNvSpPr>
          <p:nvPr/>
        </p:nvSpPr>
        <p:spPr>
          <a:xfrm>
            <a:off x="1809750" y="5562600"/>
            <a:ext cx="8572500" cy="28575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buNone/>
              <a:defRPr sz="12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核心原则：结构化数据优先，AI 仅做辅助，管理人员保留最终确认权。</a:t>
            </a:r>
            <a:endParaRPr sz="12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" y="81280"/>
            <a:ext cx="2002790" cy="5772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function-top-bar"/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7E0C6E"/>
          </a:solidFill>
          <a:ln w="0">
            <a:noFill/>
            <a:prstDash val="solid"/>
          </a:ln>
        </p:spPr>
      </p:sp>
      <p:sp>
        <p:nvSpPr>
          <p:cNvPr id="2" name="function-title"/>
          <p:cNvSpPr>
            <a:spLocks noGrp="1"/>
          </p:cNvSpPr>
          <p:nvPr/>
        </p:nvSpPr>
        <p:spPr>
          <a:xfrm>
            <a:off x="812800" y="695325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功能设计：六个目录形成可操作的管理闭环</a:t>
            </a:r>
            <a:endParaRPr sz="24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function-subtitle"/>
          <p:cNvSpPr>
            <a:spLocks noGrp="1"/>
          </p:cNvSpPr>
          <p:nvPr/>
        </p:nvSpPr>
        <p:spPr>
          <a:xfrm>
            <a:off x="742950" y="1138555"/>
            <a:ext cx="685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左侧展示使用路径，右侧预留系统动态演示视频或 GIF</a:t>
            </a:r>
            <a:endParaRPr sz="1200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video-frame"/>
          <p:cNvSpPr>
            <a:spLocks noGrp="1"/>
          </p:cNvSpPr>
          <p:nvPr/>
        </p:nvSpPr>
        <p:spPr>
          <a:xfrm>
            <a:off x="6953250" y="1571625"/>
            <a:ext cx="4191000" cy="3429000"/>
          </a:xfrm>
          <a:prstGeom prst="rect">
            <a:avLst/>
          </a:prstGeom>
          <a:solidFill>
            <a:srgbClr val="F3E8F7"/>
          </a:solidFill>
          <a:ln w="11430">
            <a:solidFill>
              <a:srgbClr val="B26DA8"/>
            </a:solidFill>
            <a:prstDash val="solid"/>
          </a:ln>
        </p:spPr>
      </p:sp>
      <p:sp>
        <p:nvSpPr>
          <p:cNvPr id="5" name="video-placeholder"/>
          <p:cNvSpPr>
            <a:spLocks noGrp="1"/>
          </p:cNvSpPr>
          <p:nvPr/>
        </p:nvSpPr>
        <p:spPr>
          <a:xfrm>
            <a:off x="7334250" y="2476500"/>
            <a:ext cx="342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系统动态演示预留区</a:t>
            </a:r>
            <a:endParaRPr sz="1575" b="1">
              <a:solidFill>
                <a:srgbClr val="7E0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575"/>
          </a:p>
          <a:p>
            <a:pPr algn="ctr">
              <a:buNone/>
              <a:defRPr sz="1575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后续可替换为 UI 录屏、GIF</a:t>
            </a:r>
            <a:endParaRPr sz="1575" b="1">
              <a:solidFill>
                <a:srgbClr val="7E0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575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或插入可点击的视频对象</a:t>
            </a:r>
            <a:endParaRPr sz="1575" b="1">
              <a:solidFill>
                <a:srgbClr val="7E0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ath-line"/>
          <p:cNvSpPr>
            <a:spLocks noGrp="1"/>
          </p:cNvSpPr>
          <p:nvPr/>
        </p:nvSpPr>
        <p:spPr>
          <a:xfrm>
            <a:off x="1447800" y="1857375"/>
            <a:ext cx="47625" cy="3286125"/>
          </a:xfrm>
          <a:prstGeom prst="rect">
            <a:avLst/>
          </a:prstGeom>
          <a:solidFill>
            <a:srgbClr val="B26DA8"/>
          </a:solidFill>
          <a:ln w="0">
            <a:noFill/>
            <a:prstDash val="solid"/>
          </a:ln>
        </p:spPr>
      </p:sp>
      <p:sp>
        <p:nvSpPr>
          <p:cNvPr id="7" name="function-node-0"/>
          <p:cNvSpPr>
            <a:spLocks noGrp="1"/>
          </p:cNvSpPr>
          <p:nvPr/>
        </p:nvSpPr>
        <p:spPr>
          <a:xfrm>
            <a:off x="1676400" y="1524000"/>
            <a:ext cx="4762500" cy="485775"/>
          </a:xfrm>
          <a:prstGeom prst="rect">
            <a:avLst/>
          </a:prstGeom>
          <a:solidFill>
            <a:srgbClr val="FBF7FB"/>
          </a:solidFill>
          <a:ln w="7620">
            <a:solidFill>
              <a:srgbClr val="D8A7D0"/>
            </a:solidFill>
            <a:prstDash val="solid"/>
          </a:ln>
        </p:spPr>
      </p:sp>
      <p:sp>
        <p:nvSpPr>
          <p:cNvPr id="8" name="function-label-0"/>
          <p:cNvSpPr>
            <a:spLocks noGrp="1"/>
          </p:cNvSpPr>
          <p:nvPr/>
        </p:nvSpPr>
        <p:spPr>
          <a:xfrm>
            <a:off x="1866900" y="1600200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舆情总览</a:t>
            </a:r>
            <a:endParaRPr sz="1350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function-desc-0"/>
          <p:cNvSpPr>
            <a:spLocks noGrp="1"/>
          </p:cNvSpPr>
          <p:nvPr/>
        </p:nvSpPr>
        <p:spPr>
          <a:xfrm>
            <a:off x="3524250" y="1619250"/>
            <a:ext cx="2647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看态势：风险、热点与待办集中呈现</a:t>
            </a:r>
            <a:endParaRPr sz="1125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function-node-1"/>
          <p:cNvSpPr>
            <a:spLocks noGrp="1"/>
          </p:cNvSpPr>
          <p:nvPr/>
        </p:nvSpPr>
        <p:spPr>
          <a:xfrm>
            <a:off x="1676400" y="2152650"/>
            <a:ext cx="4762500" cy="485775"/>
          </a:xfrm>
          <a:prstGeom prst="rect">
            <a:avLst/>
          </a:prstGeom>
          <a:solidFill>
            <a:srgbClr val="FFFFFF"/>
          </a:solidFill>
          <a:ln w="7620">
            <a:solidFill>
              <a:srgbClr val="D8A7D0"/>
            </a:solidFill>
            <a:prstDash val="solid"/>
          </a:ln>
        </p:spPr>
      </p:sp>
      <p:sp>
        <p:nvSpPr>
          <p:cNvPr id="11" name="function-label-1"/>
          <p:cNvSpPr>
            <a:spLocks noGrp="1"/>
          </p:cNvSpPr>
          <p:nvPr/>
        </p:nvSpPr>
        <p:spPr>
          <a:xfrm>
            <a:off x="1866900" y="2228850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舆情监测</a:t>
            </a:r>
            <a:endParaRPr sz="1350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function-desc-1"/>
          <p:cNvSpPr>
            <a:spLocks noGrp="1"/>
          </p:cNvSpPr>
          <p:nvPr/>
        </p:nvSpPr>
        <p:spPr>
          <a:xfrm>
            <a:off x="3524250" y="2247900"/>
            <a:ext cx="2647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找问题：筛选、搜索、详情与人工复核</a:t>
            </a:r>
            <a:endParaRPr sz="1125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function-node-2"/>
          <p:cNvSpPr>
            <a:spLocks noGrp="1"/>
          </p:cNvSpPr>
          <p:nvPr/>
        </p:nvSpPr>
        <p:spPr>
          <a:xfrm>
            <a:off x="1676400" y="2781300"/>
            <a:ext cx="4762500" cy="485775"/>
          </a:xfrm>
          <a:prstGeom prst="rect">
            <a:avLst/>
          </a:prstGeom>
          <a:solidFill>
            <a:srgbClr val="FBF7FB"/>
          </a:solidFill>
          <a:ln w="7620">
            <a:solidFill>
              <a:srgbClr val="D8A7D0"/>
            </a:solidFill>
            <a:prstDash val="solid"/>
          </a:ln>
        </p:spPr>
      </p:sp>
      <p:sp>
        <p:nvSpPr>
          <p:cNvPr id="14" name="function-label-2"/>
          <p:cNvSpPr>
            <a:spLocks noGrp="1"/>
          </p:cNvSpPr>
          <p:nvPr/>
        </p:nvSpPr>
        <p:spPr>
          <a:xfrm>
            <a:off x="1866900" y="2857500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事件管理</a:t>
            </a:r>
            <a:endParaRPr sz="1350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function-desc-2"/>
          <p:cNvSpPr>
            <a:spLocks noGrp="1"/>
          </p:cNvSpPr>
          <p:nvPr/>
        </p:nvSpPr>
        <p:spPr>
          <a:xfrm>
            <a:off x="3524250" y="2876550"/>
            <a:ext cx="2647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做处置：风险依据、负责人、期限与备注</a:t>
            </a:r>
            <a:endParaRPr sz="1125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function-node-3"/>
          <p:cNvSpPr>
            <a:spLocks noGrp="1"/>
          </p:cNvSpPr>
          <p:nvPr/>
        </p:nvSpPr>
        <p:spPr>
          <a:xfrm>
            <a:off x="1676400" y="3409950"/>
            <a:ext cx="4762500" cy="485775"/>
          </a:xfrm>
          <a:prstGeom prst="rect">
            <a:avLst/>
          </a:prstGeom>
          <a:solidFill>
            <a:srgbClr val="FFFFFF"/>
          </a:solidFill>
          <a:ln w="7620">
            <a:solidFill>
              <a:srgbClr val="D8A7D0"/>
            </a:solidFill>
            <a:prstDash val="solid"/>
          </a:ln>
        </p:spPr>
      </p:sp>
      <p:sp>
        <p:nvSpPr>
          <p:cNvPr id="17" name="function-label-3"/>
          <p:cNvSpPr>
            <a:spLocks noGrp="1"/>
          </p:cNvSpPr>
          <p:nvPr/>
        </p:nvSpPr>
        <p:spPr>
          <a:xfrm>
            <a:off x="1866900" y="3486150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报告中心</a:t>
            </a:r>
            <a:endParaRPr sz="1350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function-desc-3"/>
          <p:cNvSpPr>
            <a:spLocks noGrp="1"/>
          </p:cNvSpPr>
          <p:nvPr/>
        </p:nvSpPr>
        <p:spPr>
          <a:xfrm>
            <a:off x="3524250" y="3505200"/>
            <a:ext cx="2647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做汇报：日报、周报、事件报告与导出</a:t>
            </a:r>
            <a:endParaRPr sz="1125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function-node-4"/>
          <p:cNvSpPr>
            <a:spLocks noGrp="1"/>
          </p:cNvSpPr>
          <p:nvPr/>
        </p:nvSpPr>
        <p:spPr>
          <a:xfrm>
            <a:off x="1676400" y="4038600"/>
            <a:ext cx="4762500" cy="485775"/>
          </a:xfrm>
          <a:prstGeom prst="rect">
            <a:avLst/>
          </a:prstGeom>
          <a:solidFill>
            <a:srgbClr val="FBF7FB"/>
          </a:solidFill>
          <a:ln w="7620">
            <a:solidFill>
              <a:srgbClr val="D8A7D0"/>
            </a:solidFill>
            <a:prstDash val="solid"/>
          </a:ln>
        </p:spPr>
      </p:sp>
      <p:sp>
        <p:nvSpPr>
          <p:cNvPr id="20" name="function-label-4"/>
          <p:cNvSpPr>
            <a:spLocks noGrp="1"/>
          </p:cNvSpPr>
          <p:nvPr/>
        </p:nvSpPr>
        <p:spPr>
          <a:xfrm>
            <a:off x="1866900" y="4114800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数据管理</a:t>
            </a:r>
            <a:endParaRPr sz="1350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function-desc-4"/>
          <p:cNvSpPr>
            <a:spLocks noGrp="1"/>
          </p:cNvSpPr>
          <p:nvPr/>
        </p:nvSpPr>
        <p:spPr>
          <a:xfrm>
            <a:off x="3524250" y="4133850"/>
            <a:ext cx="2647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保质量：同步、校验、权限与审计</a:t>
            </a:r>
            <a:endParaRPr sz="1125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function-node-5"/>
          <p:cNvSpPr>
            <a:spLocks noGrp="1"/>
          </p:cNvSpPr>
          <p:nvPr/>
        </p:nvSpPr>
        <p:spPr>
          <a:xfrm>
            <a:off x="1676400" y="4667250"/>
            <a:ext cx="4762500" cy="485775"/>
          </a:xfrm>
          <a:prstGeom prst="rect">
            <a:avLst/>
          </a:prstGeom>
          <a:solidFill>
            <a:srgbClr val="FFFFFF"/>
          </a:solidFill>
          <a:ln w="7620">
            <a:solidFill>
              <a:srgbClr val="D8A7D0"/>
            </a:solidFill>
            <a:prstDash val="solid"/>
          </a:ln>
        </p:spPr>
      </p:sp>
      <p:sp>
        <p:nvSpPr>
          <p:cNvPr id="23" name="function-label-5"/>
          <p:cNvSpPr>
            <a:spLocks noGrp="1"/>
          </p:cNvSpPr>
          <p:nvPr/>
        </p:nvSpPr>
        <p:spPr>
          <a:xfrm>
            <a:off x="1866900" y="4743450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智能助手</a:t>
            </a:r>
            <a:endParaRPr sz="1350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function-desc-5"/>
          <p:cNvSpPr>
            <a:spLocks noGrp="1"/>
          </p:cNvSpPr>
          <p:nvPr/>
        </p:nvSpPr>
        <p:spPr>
          <a:xfrm>
            <a:off x="3524250" y="4762500"/>
            <a:ext cx="2647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做辅助：结构化问答与模型降级机制</a:t>
            </a:r>
            <a:endParaRPr sz="1125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function-footer"/>
          <p:cNvSpPr>
            <a:spLocks noGrp="1"/>
          </p:cNvSpPr>
          <p:nvPr/>
        </p:nvSpPr>
        <p:spPr>
          <a:xfrm>
            <a:off x="876300" y="58864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使用路径：总览发现 → 监测核查 → 事件处置 → 报告留痕；数据管理与智能助手贯穿全过程。</a:t>
            </a:r>
            <a:endParaRPr sz="1200" b="1">
              <a:solidFill>
                <a:srgbClr val="7E0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3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" y="140970"/>
            <a:ext cx="2002790" cy="5772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engineering-top-bar"/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7E0C6E"/>
          </a:solidFill>
          <a:ln w="0">
            <a:noFill/>
            <a:prstDash val="solid"/>
          </a:ln>
        </p:spPr>
      </p:sp>
      <p:sp>
        <p:nvSpPr>
          <p:cNvPr id="2" name="engineering-title"/>
          <p:cNvSpPr>
            <a:spLocks noGrp="1"/>
          </p:cNvSpPr>
          <p:nvPr/>
        </p:nvSpPr>
        <p:spPr>
          <a:xfrm>
            <a:off x="723900" y="66675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工程化落地：四个设计保证平台可用、可控、可追溯</a:t>
            </a:r>
            <a:endParaRPr sz="24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ngineering-subtitle"/>
          <p:cNvSpPr>
            <a:spLocks noGrp="1"/>
          </p:cNvSpPr>
          <p:nvPr/>
        </p:nvSpPr>
        <p:spPr>
          <a:xfrm>
            <a:off x="742950" y="1158240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把“能分析”进一步转化为“能被管理人员稳定使用”</a:t>
            </a:r>
            <a:endParaRPr sz="1200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ngineering-left-0"/>
          <p:cNvSpPr>
            <a:spLocks noGrp="1"/>
          </p:cNvSpPr>
          <p:nvPr/>
        </p:nvSpPr>
        <p:spPr>
          <a:xfrm>
            <a:off x="1104900" y="1619250"/>
            <a:ext cx="2857500" cy="590550"/>
          </a:xfrm>
          <a:prstGeom prst="rect">
            <a:avLst/>
          </a:prstGeom>
          <a:solidFill>
            <a:srgbClr val="F3E8F7"/>
          </a:solidFill>
          <a:ln w="9525">
            <a:solidFill>
              <a:srgbClr val="B26DA8"/>
            </a:solidFill>
            <a:prstDash val="solid"/>
          </a:ln>
        </p:spPr>
      </p:sp>
      <p:sp>
        <p:nvSpPr>
          <p:cNvPr id="5" name="engineering-line-0"/>
          <p:cNvSpPr>
            <a:spLocks noGrp="1"/>
          </p:cNvSpPr>
          <p:nvPr/>
        </p:nvSpPr>
        <p:spPr>
          <a:xfrm>
            <a:off x="3962400" y="1895475"/>
            <a:ext cx="723900" cy="28575"/>
          </a:xfrm>
          <a:prstGeom prst="rect">
            <a:avLst/>
          </a:prstGeom>
          <a:solidFill>
            <a:srgbClr val="7E0C6E"/>
          </a:solidFill>
          <a:ln w="0">
            <a:noFill/>
            <a:prstDash val="solid"/>
          </a:ln>
        </p:spPr>
      </p:sp>
      <p:sp>
        <p:nvSpPr>
          <p:cNvPr id="6" name="engineering-right-0"/>
          <p:cNvSpPr>
            <a:spLocks noGrp="1"/>
          </p:cNvSpPr>
          <p:nvPr/>
        </p:nvSpPr>
        <p:spPr>
          <a:xfrm>
            <a:off x="4686300" y="1619250"/>
            <a:ext cx="6381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A7D0"/>
            </a:solidFill>
            <a:prstDash val="solid"/>
          </a:ln>
        </p:spPr>
      </p:sp>
      <p:sp>
        <p:nvSpPr>
          <p:cNvPr id="7" name="engineering-head-0"/>
          <p:cNvSpPr>
            <a:spLocks noGrp="1"/>
          </p:cNvSpPr>
          <p:nvPr/>
        </p:nvSpPr>
        <p:spPr>
          <a:xfrm>
            <a:off x="1314450" y="1781175"/>
            <a:ext cx="2457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数据与接口稳定</a:t>
            </a:r>
            <a:endParaRPr sz="1425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ngineering-body-0"/>
          <p:cNvSpPr>
            <a:spLocks noGrp="1"/>
          </p:cNvSpPr>
          <p:nvPr/>
        </p:nvSpPr>
        <p:spPr>
          <a:xfrm>
            <a:off x="4953000" y="1762125"/>
            <a:ext cx="586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统一字段、真实接口、空/错态校验，避免演示数据与系统不一致</a:t>
            </a:r>
            <a:endParaRPr sz="1275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ngineering-left-1"/>
          <p:cNvSpPr>
            <a:spLocks noGrp="1"/>
          </p:cNvSpPr>
          <p:nvPr/>
        </p:nvSpPr>
        <p:spPr>
          <a:xfrm>
            <a:off x="1104900" y="2571750"/>
            <a:ext cx="2857500" cy="590550"/>
          </a:xfrm>
          <a:prstGeom prst="rect">
            <a:avLst/>
          </a:prstGeom>
          <a:solidFill>
            <a:srgbClr val="F3E8F7"/>
          </a:solidFill>
          <a:ln w="9525">
            <a:solidFill>
              <a:srgbClr val="B26DA8"/>
            </a:solidFill>
            <a:prstDash val="solid"/>
          </a:ln>
        </p:spPr>
      </p:sp>
      <p:sp>
        <p:nvSpPr>
          <p:cNvPr id="10" name="engineering-line-1"/>
          <p:cNvSpPr>
            <a:spLocks noGrp="1"/>
          </p:cNvSpPr>
          <p:nvPr/>
        </p:nvSpPr>
        <p:spPr>
          <a:xfrm>
            <a:off x="3962400" y="2847975"/>
            <a:ext cx="723900" cy="28575"/>
          </a:xfrm>
          <a:prstGeom prst="rect">
            <a:avLst/>
          </a:prstGeom>
          <a:solidFill>
            <a:srgbClr val="7E0C6E"/>
          </a:solidFill>
          <a:ln w="0">
            <a:noFill/>
            <a:prstDash val="solid"/>
          </a:ln>
        </p:spPr>
      </p:sp>
      <p:sp>
        <p:nvSpPr>
          <p:cNvPr id="11" name="engineering-right-1"/>
          <p:cNvSpPr>
            <a:spLocks noGrp="1"/>
          </p:cNvSpPr>
          <p:nvPr/>
        </p:nvSpPr>
        <p:spPr>
          <a:xfrm>
            <a:off x="4686300" y="2571750"/>
            <a:ext cx="6381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A7D0"/>
            </a:solidFill>
            <a:prstDash val="solid"/>
          </a:ln>
        </p:spPr>
      </p:sp>
      <p:sp>
        <p:nvSpPr>
          <p:cNvPr id="12" name="engineering-head-1"/>
          <p:cNvSpPr>
            <a:spLocks noGrp="1"/>
          </p:cNvSpPr>
          <p:nvPr/>
        </p:nvSpPr>
        <p:spPr>
          <a:xfrm>
            <a:off x="1314450" y="2733675"/>
            <a:ext cx="2457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事件状态可追踪</a:t>
            </a:r>
            <a:endParaRPr sz="1425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ngineering-body-1"/>
          <p:cNvSpPr>
            <a:spLocks noGrp="1"/>
          </p:cNvSpPr>
          <p:nvPr/>
        </p:nvSpPr>
        <p:spPr>
          <a:xfrm>
            <a:off x="4953000" y="2714625"/>
            <a:ext cx="586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负责人、期限、处置备注、归档状态贯通，形成闭环记录</a:t>
            </a:r>
            <a:endParaRPr sz="1275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ngineering-left-2"/>
          <p:cNvSpPr>
            <a:spLocks noGrp="1"/>
          </p:cNvSpPr>
          <p:nvPr/>
        </p:nvSpPr>
        <p:spPr>
          <a:xfrm>
            <a:off x="1104900" y="3524250"/>
            <a:ext cx="2857500" cy="590550"/>
          </a:xfrm>
          <a:prstGeom prst="rect">
            <a:avLst/>
          </a:prstGeom>
          <a:solidFill>
            <a:srgbClr val="F3E8F7"/>
          </a:solidFill>
          <a:ln w="9525">
            <a:solidFill>
              <a:srgbClr val="B26DA8"/>
            </a:solidFill>
            <a:prstDash val="solid"/>
          </a:ln>
        </p:spPr>
      </p:sp>
      <p:sp>
        <p:nvSpPr>
          <p:cNvPr id="15" name="engineering-line-2"/>
          <p:cNvSpPr>
            <a:spLocks noGrp="1"/>
          </p:cNvSpPr>
          <p:nvPr/>
        </p:nvSpPr>
        <p:spPr>
          <a:xfrm>
            <a:off x="3962400" y="3800475"/>
            <a:ext cx="723900" cy="28575"/>
          </a:xfrm>
          <a:prstGeom prst="rect">
            <a:avLst/>
          </a:prstGeom>
          <a:solidFill>
            <a:srgbClr val="7E0C6E"/>
          </a:solidFill>
          <a:ln w="0">
            <a:noFill/>
            <a:prstDash val="solid"/>
          </a:ln>
        </p:spPr>
      </p:sp>
      <p:sp>
        <p:nvSpPr>
          <p:cNvPr id="16" name="engineering-right-2"/>
          <p:cNvSpPr>
            <a:spLocks noGrp="1"/>
          </p:cNvSpPr>
          <p:nvPr/>
        </p:nvSpPr>
        <p:spPr>
          <a:xfrm>
            <a:off x="4686300" y="3524250"/>
            <a:ext cx="6381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A7D0"/>
            </a:solidFill>
            <a:prstDash val="solid"/>
          </a:ln>
        </p:spPr>
      </p:sp>
      <p:sp>
        <p:nvSpPr>
          <p:cNvPr id="17" name="engineering-head-2"/>
          <p:cNvSpPr>
            <a:spLocks noGrp="1"/>
          </p:cNvSpPr>
          <p:nvPr/>
        </p:nvSpPr>
        <p:spPr>
          <a:xfrm>
            <a:off x="1314450" y="3686175"/>
            <a:ext cx="2457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AI 输出可控</a:t>
            </a:r>
            <a:endParaRPr sz="1425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ngineering-body-2"/>
          <p:cNvSpPr>
            <a:spLocks noGrp="1"/>
          </p:cNvSpPr>
          <p:nvPr/>
        </p:nvSpPr>
        <p:spPr>
          <a:xfrm>
            <a:off x="4953000" y="3667125"/>
            <a:ext cx="586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结构化数据优先，智能助手仅辅助；人工复核保留最终确认权</a:t>
            </a:r>
            <a:endParaRPr sz="1275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ngineering-left-3"/>
          <p:cNvSpPr>
            <a:spLocks noGrp="1"/>
          </p:cNvSpPr>
          <p:nvPr/>
        </p:nvSpPr>
        <p:spPr>
          <a:xfrm>
            <a:off x="1104900" y="4476750"/>
            <a:ext cx="2857500" cy="590550"/>
          </a:xfrm>
          <a:prstGeom prst="rect">
            <a:avLst/>
          </a:prstGeom>
          <a:solidFill>
            <a:srgbClr val="F3E8F7"/>
          </a:solidFill>
          <a:ln w="9525">
            <a:solidFill>
              <a:srgbClr val="B26DA8"/>
            </a:solidFill>
            <a:prstDash val="solid"/>
          </a:ln>
        </p:spPr>
      </p:sp>
      <p:sp>
        <p:nvSpPr>
          <p:cNvPr id="20" name="engineering-line-3"/>
          <p:cNvSpPr>
            <a:spLocks noGrp="1"/>
          </p:cNvSpPr>
          <p:nvPr/>
        </p:nvSpPr>
        <p:spPr>
          <a:xfrm>
            <a:off x="3962400" y="4752975"/>
            <a:ext cx="723900" cy="28575"/>
          </a:xfrm>
          <a:prstGeom prst="rect">
            <a:avLst/>
          </a:prstGeom>
          <a:solidFill>
            <a:srgbClr val="7E0C6E"/>
          </a:solidFill>
          <a:ln w="0">
            <a:noFill/>
            <a:prstDash val="solid"/>
          </a:ln>
        </p:spPr>
      </p:sp>
      <p:sp>
        <p:nvSpPr>
          <p:cNvPr id="21" name="engineering-right-3"/>
          <p:cNvSpPr>
            <a:spLocks noGrp="1"/>
          </p:cNvSpPr>
          <p:nvPr/>
        </p:nvSpPr>
        <p:spPr>
          <a:xfrm>
            <a:off x="4686300" y="4476750"/>
            <a:ext cx="6381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A7D0"/>
            </a:solidFill>
            <a:prstDash val="solid"/>
          </a:ln>
        </p:spPr>
      </p:sp>
      <p:sp>
        <p:nvSpPr>
          <p:cNvPr id="22" name="engineering-head-3"/>
          <p:cNvSpPr>
            <a:spLocks noGrp="1"/>
          </p:cNvSpPr>
          <p:nvPr/>
        </p:nvSpPr>
        <p:spPr>
          <a:xfrm>
            <a:off x="1314450" y="4638675"/>
            <a:ext cx="2457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展示与性能可用</a:t>
            </a:r>
            <a:endParaRPr sz="1425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ngineering-body-3"/>
          <p:cNvSpPr>
            <a:spLocks noGrp="1"/>
          </p:cNvSpPr>
          <p:nvPr/>
        </p:nvSpPr>
        <p:spPr>
          <a:xfrm>
            <a:off x="4953000" y="4619625"/>
            <a:ext cx="586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统一组件、数据库分页、后台任务与可视化，保障答辩演示稳定</a:t>
            </a:r>
            <a:endParaRPr sz="1275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ngineering-footer"/>
          <p:cNvSpPr>
            <a:spLocks noGrp="1"/>
          </p:cNvSpPr>
          <p:nvPr/>
        </p:nvSpPr>
        <p:spPr>
          <a:xfrm>
            <a:off x="952500" y="5715000"/>
            <a:ext cx="1028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设计原则：算法负责发现与辅助判断，平台负责组织证据与流程，管理人员负责最终决策。</a:t>
            </a:r>
            <a:endParaRPr sz="1350" b="1">
              <a:solidFill>
                <a:srgbClr val="7E0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1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" y="133350"/>
            <a:ext cx="2002790" cy="5772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ummary-top-bar"/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7E0C6E"/>
          </a:solidFill>
          <a:ln w="0">
            <a:noFill/>
            <a:prstDash val="solid"/>
          </a:ln>
        </p:spPr>
      </p:sp>
      <p:sp>
        <p:nvSpPr>
          <p:cNvPr id="2" name="summary-title"/>
          <p:cNvSpPr>
            <a:spLocks noGrp="1"/>
          </p:cNvSpPr>
          <p:nvPr/>
        </p:nvSpPr>
        <p:spPr>
          <a:xfrm>
            <a:off x="723900" y="62865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我的工作总结：让分析结果能够被管理与追溯</a:t>
            </a:r>
            <a:endParaRPr sz="255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ummary-subtitle"/>
          <p:cNvSpPr>
            <a:spLocks noGrp="1"/>
          </p:cNvSpPr>
          <p:nvPr/>
        </p:nvSpPr>
        <p:spPr>
          <a:xfrm>
            <a:off x="723900" y="114046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平台不是模型展示页，而是校园安全治理的管理应用层</a:t>
            </a:r>
            <a:endParaRPr sz="1275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ummary-panel-0"/>
          <p:cNvSpPr>
            <a:spLocks noGrp="1"/>
          </p:cNvSpPr>
          <p:nvPr/>
        </p:nvSpPr>
        <p:spPr>
          <a:xfrm>
            <a:off x="876300" y="1952625"/>
            <a:ext cx="3143250" cy="2000250"/>
          </a:xfrm>
          <a:prstGeom prst="rect">
            <a:avLst/>
          </a:prstGeom>
          <a:solidFill>
            <a:srgbClr val="F3E8F7"/>
          </a:solidFill>
          <a:ln w="9525">
            <a:solidFill>
              <a:srgbClr val="B26DA8"/>
            </a:solidFill>
            <a:prstDash val="solid"/>
          </a:ln>
        </p:spPr>
      </p:sp>
      <p:sp>
        <p:nvSpPr>
          <p:cNvPr id="5" name="summary-head-0"/>
          <p:cNvSpPr>
            <a:spLocks noGrp="1"/>
          </p:cNvSpPr>
          <p:nvPr/>
        </p:nvSpPr>
        <p:spPr>
          <a:xfrm>
            <a:off x="1143000" y="2343150"/>
            <a:ext cx="260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7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可看见</a:t>
            </a:r>
            <a:endParaRPr sz="2175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ummary-body-0"/>
          <p:cNvSpPr>
            <a:spLocks noGrp="1"/>
          </p:cNvSpPr>
          <p:nvPr/>
        </p:nvSpPr>
        <p:spPr>
          <a:xfrm>
            <a:off x="1162050" y="3009900"/>
            <a:ext cx="2571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总览与监测集中呈现风险、热点和待办</a:t>
            </a:r>
            <a:endParaRPr sz="135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ummary-panel-1"/>
          <p:cNvSpPr>
            <a:spLocks noGrp="1"/>
          </p:cNvSpPr>
          <p:nvPr/>
        </p:nvSpPr>
        <p:spPr>
          <a:xfrm>
            <a:off x="4400550" y="1952625"/>
            <a:ext cx="3143250" cy="2000250"/>
          </a:xfrm>
          <a:prstGeom prst="rect">
            <a:avLst/>
          </a:prstGeom>
          <a:solidFill>
            <a:srgbClr val="7E0C6E"/>
          </a:solidFill>
          <a:ln w="9525">
            <a:solidFill>
              <a:srgbClr val="B26DA8"/>
            </a:solidFill>
            <a:prstDash val="solid"/>
          </a:ln>
        </p:spPr>
      </p:sp>
      <p:sp>
        <p:nvSpPr>
          <p:cNvPr id="8" name="summary-head-1"/>
          <p:cNvSpPr>
            <a:spLocks noGrp="1"/>
          </p:cNvSpPr>
          <p:nvPr/>
        </p:nvSpPr>
        <p:spPr>
          <a:xfrm>
            <a:off x="4667250" y="2343150"/>
            <a:ext cx="260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可研判</a:t>
            </a:r>
            <a:endParaRPr sz="21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ummary-body-1"/>
          <p:cNvSpPr>
            <a:spLocks noGrp="1"/>
          </p:cNvSpPr>
          <p:nvPr/>
        </p:nvSpPr>
        <p:spPr>
          <a:xfrm>
            <a:off x="4686300" y="3009900"/>
            <a:ext cx="2571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>
                <a:solidFill>
                  <a:srgbClr val="F3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F3E8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事件、证据与人工复核共同支撑判断</a:t>
            </a:r>
            <a:endParaRPr sz="1350">
              <a:solidFill>
                <a:srgbClr val="F3E8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ummary-panel-2"/>
          <p:cNvSpPr>
            <a:spLocks noGrp="1"/>
          </p:cNvSpPr>
          <p:nvPr/>
        </p:nvSpPr>
        <p:spPr>
          <a:xfrm>
            <a:off x="7924800" y="1952625"/>
            <a:ext cx="3143250" cy="2000250"/>
          </a:xfrm>
          <a:prstGeom prst="rect">
            <a:avLst/>
          </a:prstGeom>
          <a:solidFill>
            <a:srgbClr val="F3E8F7"/>
          </a:solidFill>
          <a:ln w="9525">
            <a:solidFill>
              <a:srgbClr val="B26DA8"/>
            </a:solidFill>
            <a:prstDash val="solid"/>
          </a:ln>
        </p:spPr>
      </p:sp>
      <p:sp>
        <p:nvSpPr>
          <p:cNvPr id="11" name="summary-head-2"/>
          <p:cNvSpPr>
            <a:spLocks noGrp="1"/>
          </p:cNvSpPr>
          <p:nvPr/>
        </p:nvSpPr>
        <p:spPr>
          <a:xfrm>
            <a:off x="8191500" y="2343150"/>
            <a:ext cx="260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7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4A04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可处置</a:t>
            </a:r>
            <a:endParaRPr sz="2175" b="1">
              <a:solidFill>
                <a:srgbClr val="4A04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ummary-body-2"/>
          <p:cNvSpPr>
            <a:spLocks noGrp="1"/>
          </p:cNvSpPr>
          <p:nvPr/>
        </p:nvSpPr>
        <p:spPr>
          <a:xfrm>
            <a:off x="8210550" y="3009900"/>
            <a:ext cx="2571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负责人、期限、报告与审计形成闭环</a:t>
            </a:r>
            <a:endParaRPr sz="135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ummary-future"/>
          <p:cNvSpPr>
            <a:spLocks noGrp="1"/>
          </p:cNvSpPr>
          <p:nvPr/>
        </p:nvSpPr>
        <p:spPr>
          <a:xfrm>
            <a:off x="1066800" y="4857750"/>
            <a:ext cx="1005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7E0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后续方向：完善模型评估 · 接入更多合规数据源 · 提升实时预警与跨部门协同能力</a:t>
            </a:r>
            <a:endParaRPr sz="1500" b="1">
              <a:solidFill>
                <a:srgbClr val="7E0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ummary-close"/>
          <p:cNvSpPr>
            <a:spLocks noGrp="1"/>
          </p:cNvSpPr>
          <p:nvPr/>
        </p:nvSpPr>
        <p:spPr>
          <a:xfrm>
            <a:off x="1047750" y="569595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负责设计与实现：平台架构、Vue 前端、接口联调、可视化、事件管理、人工复核、报告生成、助手优化与系统测试。</a:t>
            </a:r>
            <a:endParaRPr sz="12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" y="133350"/>
            <a:ext cx="2002790" cy="5772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3.75,&quot;left&quot;:94.5,&quot;top&quot;:153.75,&quot;width&quot;:817.5}"/>
</p:tagLst>
</file>

<file path=ppt/tags/tag2.xml><?xml version="1.0" encoding="utf-8"?>
<p:tagLst xmlns:p="http://schemas.openxmlformats.org/presentationml/2006/main">
  <p:tag name="KSO_WM_DIAGRAM_VIRTUALLY_FRAME" val="{&quot;height&quot;:153.75,&quot;left&quot;:94.5,&quot;top&quot;:153.75,&quot;width&quot;:817.5}"/>
</p:tagLst>
</file>

<file path=ppt/tags/tag3.xml><?xml version="1.0" encoding="utf-8"?>
<p:tagLst xmlns:p="http://schemas.openxmlformats.org/presentationml/2006/main">
  <p:tag name="KSO_WM_DIAGRAM_VIRTUALLY_FRAME" val="{&quot;height&quot;:153.75,&quot;left&quot;:94.5,&quot;top&quot;:153.75,&quot;width&quot;:817.5}"/>
</p:tagLst>
</file>

<file path=ppt/tags/tag4.xml><?xml version="1.0" encoding="utf-8"?>
<p:tagLst xmlns:p="http://schemas.openxmlformats.org/presentationml/2006/main">
  <p:tag name="KSO_WM_DIAGRAM_VIRTUALLY_FRAME" val="{&quot;height&quot;:153.75,&quot;left&quot;:94.5,&quot;top&quot;:153.75,&quot;width&quot;:817.5}"/>
</p:tagLst>
</file>

<file path=ppt/tags/tag5.xml><?xml version="1.0" encoding="utf-8"?>
<p:tagLst xmlns:p="http://schemas.openxmlformats.org/presentationml/2006/main">
  <p:tag name="KSO_WM_DIAGRAM_VIRTUALLY_FRAME" val="{&quot;height&quot;:153.75,&quot;left&quot;:94.5,&quot;top&quot;:153.75,&quot;width&quot;:817.5}"/>
</p:tagLst>
</file>

<file path=ppt/tags/tag6.xml><?xml version="1.0" encoding="utf-8"?>
<p:tagLst xmlns:p="http://schemas.openxmlformats.org/presentationml/2006/main">
  <p:tag name="KSO_WM_DIAGRAM_VIRTUALLY_FRAME" val="{&quot;height&quot;:153.75,&quot;left&quot;:94.5,&quot;top&quot;:153.75,&quot;width&quot;:817.5}"/>
</p:tagLst>
</file>

<file path=ppt/tags/tag7.xml><?xml version="1.0" encoding="utf-8"?>
<p:tagLst xmlns:p="http://schemas.openxmlformats.org/presentationml/2006/main">
  <p:tag name="KSO_WM_DIAGRAM_VIRTUALLY_FRAME" val="{&quot;height&quot;:153.75,&quot;left&quot;:94.5,&quot;top&quot;:153.75,&quot;width&quot;:817.5}"/>
</p:tagLst>
</file>

<file path=ppt/tags/tag8.xml><?xml version="1.0" encoding="utf-8"?>
<p:tagLst xmlns:p="http://schemas.openxmlformats.org/presentationml/2006/main">
  <p:tag name="KSO_WM_DIAGRAM_VIRTUALLY_FRAME" val="{&quot;height&quot;:153.75,&quot;left&quot;:94.5,&quot;top&quot;:153.75,&quot;width&quot;:817.5}"/>
</p:tagLst>
</file>

<file path=ppt/tags/tag9.xml><?xml version="1.0" encoding="utf-8"?>
<p:tagLst xmlns:p="http://schemas.openxmlformats.org/presentationml/2006/main">
  <p:tag name="KSO_WM_DIAGRAM_VIRTUALLY_FRAME" val="{&quot;height&quot;:153.75,&quot;left&quot;:94.5,&quot;top&quot;:153.75,&quot;width&quot;:817.5}"/>
</p:tagLst>
</file>

<file path=ppt/tags/tag10.xml><?xml version="1.0" encoding="utf-8"?>
<p:tagLst xmlns:p="http://schemas.openxmlformats.org/presentationml/2006/main">
  <p:tag name="KSO_WM_DIAGRAM_VIRTUALLY_FRAME" val="{&quot;height&quot;:153.75,&quot;left&quot;:94.5,&quot;top&quot;:153.75,&quot;width&quot;:817.5}"/>
</p:tagLst>
</file>

<file path=ppt/tags/tag11.xml><?xml version="1.0" encoding="utf-8"?>
<p:tagLst xmlns:p="http://schemas.openxmlformats.org/presentationml/2006/main">
  <p:tag name="KSO_WM_DIAGRAM_VIRTUALLY_FRAME" val="{&quot;height&quot;:153.75,&quot;left&quot;:94.5,&quot;top&quot;:153.75,&quot;width&quot;:817.5}"/>
</p:tagLst>
</file>

<file path=ppt/tags/tag12.xml><?xml version="1.0" encoding="utf-8"?>
<p:tagLst xmlns:p="http://schemas.openxmlformats.org/presentationml/2006/main">
  <p:tag name="KSO_WM_DIAGRAM_VIRTUALLY_FRAME" val="{&quot;height&quot;:153.75,&quot;left&quot;:94.5,&quot;top&quot;:153.75,&quot;width&quot;:817.5}"/>
</p:tagLst>
</file>

<file path=ppt/tags/tag13.xml><?xml version="1.0" encoding="utf-8"?>
<p:tagLst xmlns:p="http://schemas.openxmlformats.org/presentationml/2006/main">
  <p:tag name="KSO_WM_DIAGRAM_VIRTUALLY_FRAME" val="{&quot;height&quot;:281.2,&quot;left&quot;:120.3,&quot;top&quot;:123.8,&quot;width&quot;:695.7}"/>
</p:tagLst>
</file>

<file path=ppt/tags/tag14.xml><?xml version="1.0" encoding="utf-8"?>
<p:tagLst xmlns:p="http://schemas.openxmlformats.org/presentationml/2006/main">
  <p:tag name="KSO_WM_DIAGRAM_VIRTUALLY_FRAME" val="{&quot;height&quot;:281.2,&quot;left&quot;:120.3,&quot;top&quot;:123.8,&quot;width&quot;:695.7}"/>
</p:tagLst>
</file>

<file path=ppt/tags/tag15.xml><?xml version="1.0" encoding="utf-8"?>
<p:tagLst xmlns:p="http://schemas.openxmlformats.org/presentationml/2006/main">
  <p:tag name="KSO_WM_DIAGRAM_VIRTUALLY_FRAME" val="{&quot;height&quot;:281.2,&quot;left&quot;:120.3,&quot;top&quot;:123.8,&quot;width&quot;:695.7}"/>
</p:tagLst>
</file>

<file path=ppt/tags/tag16.xml><?xml version="1.0" encoding="utf-8"?>
<p:tagLst xmlns:p="http://schemas.openxmlformats.org/presentationml/2006/main">
  <p:tag name="KSO_WM_DIAGRAM_VIRTUALLY_FRAME" val="{&quot;height&quot;:281.2,&quot;left&quot;:120.3,&quot;top&quot;:123.8,&quot;width&quot;:695.7}"/>
</p:tagLst>
</file>

<file path=ppt/tags/tag17.xml><?xml version="1.0" encoding="utf-8"?>
<p:tagLst xmlns:p="http://schemas.openxmlformats.org/presentationml/2006/main">
  <p:tag name="KSO_WM_DIAGRAM_VIRTUALLY_FRAME" val="{&quot;height&quot;:281.2,&quot;left&quot;:120.3,&quot;top&quot;:123.8,&quot;width&quot;:695.7}"/>
</p:tagLst>
</file>

<file path=ppt/theme/theme1.xml><?xml version="1.0" encoding="utf-8"?>
<a:theme xmlns:a="http://schemas.openxmlformats.org/drawingml/2006/main" name="1_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全微软雅黑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A00072"/>
      </a:accent4>
      <a:accent5>
        <a:srgbClr val="AD1798"/>
      </a:accent5>
      <a:accent6>
        <a:srgbClr val="D84D91"/>
      </a:accent6>
      <a:hlink>
        <a:srgbClr val="B26DA8"/>
      </a:hlink>
      <a:folHlink>
        <a:srgbClr val="CB9EC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全微软雅黑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3894</Words>
  <Application>WPS 演示</Application>
  <PresentationFormat>Converted Presentation</PresentationFormat>
  <Paragraphs>336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Arial Unicode MS</vt:lpstr>
      <vt:lpstr>Arial Black</vt:lpstr>
      <vt:lpstr>1_Office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张泽祯</cp:lastModifiedBy>
  <cp:revision>4</cp:revision>
  <dcterms:created xsi:type="dcterms:W3CDTF">2026-08-04T11:30:00Z</dcterms:created>
  <dcterms:modified xsi:type="dcterms:W3CDTF">2026-08-04T11:59:50Z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8B63DB63CB99476093ECCB144DEE508E_12</vt:lpwstr>
  </property>
</Properties>
</file>